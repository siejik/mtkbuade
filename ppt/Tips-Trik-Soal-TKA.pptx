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Lst>
  <p:notesMasterIdLst>
    <p:notesMasterId r:id="rId27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notesMaster" Target="notesMasters/notesMaster1.xml"/><Relationship Id="rId276" Type="http://schemas.openxmlformats.org/officeDocument/2006/relationships/presProps" Target="presProps.xml"/><Relationship Id="rId277" Type="http://schemas.openxmlformats.org/officeDocument/2006/relationships/viewProps" Target="viewProps.xml"/><Relationship Id="rId278" Type="http://schemas.openxmlformats.org/officeDocument/2006/relationships/theme" Target="theme/theme1.xml"/><Relationship Id="rId2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image-157-1.jp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jp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jp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image" Target="../media/image-233-1.jpg"/><Relationship Id="rId2" Type="http://schemas.openxmlformats.org/officeDocument/2006/relationships/slideLayout" Target="../slideLayouts/slideLayout1.xml"/><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234-1.jp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image" Target="../media/image-237-1.jpg"/><Relationship Id="rId2" Type="http://schemas.openxmlformats.org/officeDocument/2006/relationships/slideLayout" Target="../slideLayouts/slideLayout1.xml"/><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image-244-1.jpg"/><Relationship Id="rId2" Type="http://schemas.openxmlformats.org/officeDocument/2006/relationships/slideLayout" Target="../slideLayouts/slideLayout1.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image" Target="../media/image-247-1.jpg"/><Relationship Id="rId2" Type="http://schemas.openxmlformats.org/officeDocument/2006/relationships/slideLayout" Target="../slideLayouts/slideLayout1.xml"/><Relationship Id="rId3"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250-1.jpg"/><Relationship Id="rId2" Type="http://schemas.openxmlformats.org/officeDocument/2006/relationships/slideLayout" Target="../slideLayouts/slideLayout1.xml"/><Relationship Id="rId3"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jp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56-1.jp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269-1.jp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640080" y="822960"/>
            <a:ext cx="7863840" cy="548640"/>
          </a:xfrm>
          <a:prstGeom prst="rect">
            <a:avLst/>
          </a:prstGeom>
          <a:noFill/>
          <a:ln/>
        </p:spPr>
        <p:txBody>
          <a:bodyPr wrap="square" rtlCol="0" anchor="ctr"/>
          <a:lstStyle/>
          <a:p>
            <a:pPr algn="ctr" indent="0" marL="0">
              <a:buNone/>
            </a:pPr>
            <a:r>
              <a:rPr lang="en-US" sz="2200" dirty="0">
                <a:solidFill>
                  <a:srgbClr val="C7D2FE"/>
                </a:solidFill>
                <a:latin typeface="Calibri" pitchFamily="34" charset="0"/>
                <a:ea typeface="Calibri" pitchFamily="34" charset="-122"/>
                <a:cs typeface="Calibri" pitchFamily="34" charset="-120"/>
              </a:rPr>
              <a:t>Assalamu'alaikum Warahmatullahi Wabarakatuh</a:t>
            </a:r>
            <a:endParaRPr lang="en-US" sz="2200" dirty="0"/>
          </a:p>
        </p:txBody>
      </p:sp>
      <p:sp>
        <p:nvSpPr>
          <p:cNvPr id="3" name="Text 1"/>
          <p:cNvSpPr txBox="1"/>
          <p:nvPr/>
        </p:nvSpPr>
        <p:spPr>
          <a:xfrm>
            <a:off x="640080" y="1645920"/>
            <a:ext cx="7863840" cy="1463040"/>
          </a:xfrm>
          <a:prstGeom prst="rect">
            <a:avLst/>
          </a:prstGeom>
          <a:noFill/>
          <a:ln/>
        </p:spPr>
        <p:txBody>
          <a:bodyPr wrap="square"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Pemaparan, Tips dan Trik Penyelesaian Soal - Soal TKA</a:t>
            </a:r>
            <a:endParaRPr lang="en-US" sz="3400" dirty="0"/>
          </a:p>
        </p:txBody>
      </p:sp>
      <p:sp>
        <p:nvSpPr>
          <p:cNvPr id="4" name="Text 2"/>
          <p:cNvSpPr txBox="1"/>
          <p:nvPr/>
        </p:nvSpPr>
        <p:spPr>
          <a:xfrm>
            <a:off x="640080" y="3383280"/>
            <a:ext cx="7863840" cy="457200"/>
          </a:xfrm>
          <a:prstGeom prst="rect">
            <a:avLst/>
          </a:prstGeom>
          <a:noFill/>
          <a:ln/>
        </p:spPr>
        <p:txBody>
          <a:bodyPr wrap="square" rtlCol="0" anchor="ctr"/>
          <a:lstStyle/>
          <a:p>
            <a:pPr algn="ctr" indent="0" marL="0">
              <a:buNone/>
            </a:pPr>
            <a:r>
              <a:rPr lang="en-US" sz="1600" dirty="0">
                <a:solidFill>
                  <a:srgbClr val="A5B4FC"/>
                </a:solidFill>
                <a:latin typeface="Calibri" pitchFamily="34" charset="0"/>
                <a:ea typeface="Calibri" pitchFamily="34" charset="-122"/>
                <a:cs typeface="Calibri" pitchFamily="34" charset="-120"/>
              </a:rPr>
              <a:t>Level 1–5 · 118 Soal dan Pembahasan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  ·  Himpunan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A = {x | x &lt; 6, x ∈ Bilangan Asli}</a:t>
            </a: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 = {x | x bilangan genap, x ∈ Bilangan Cacah}</a:t>
            </a: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C = {x | x ≤ 10, x ∈ Bilangan Prima}</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Hasil dari (A ∩ B) ∪ C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{2, 3, 5, 7}</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{0, 2, 3, 5, 7}</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{2, 3, 4, 5, 7}</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{0, 2, 3, 4, 5, 7}</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{2, 3, 4, 5, 7, 10}</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{2, 3, 4, 5, 7}</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Irisan (∩) = cari angka yang sama; Gabungan (∪) = satukan semua.</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{1, 2, 3, 4, 5}; B = {0, 2, 4, 6, 8, …}; C = {2, 3, 5, 7}.</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B = {2, 4}.</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B) ∪ C = {2, 4} ∪ {2, 3, 5, 7} = {2, 3, 4, 5, 7}. Jawaban: c.</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  ·  Bilangan Berpangkat</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Bentuk sederhana dari</a:t>
            </a:r>
            <a:endParaRPr lang="en-US" sz="1800" dirty="0"/>
          </a:p>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(3^(2/3) × 8^(3/2)) / (2^(5/2) × 9^(5/6)) adalah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1/42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2/3</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4/3</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6</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12</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4/3</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Ubah ke basis prima: 8 = 2³ dan 9 = 3².</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Pembilang: 3^(2/3) × (2³)^(3/2) = 3^(2/3) × 2^(9/2).</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Penyebut: 2^(5/2) × (3²)^(5/6) = 2^(5/2) × 3^(5/3).</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Bagi basis sama, kurangkan pangkat: 2^(9/2 − 5/2) × 3^(2/3 − 5/3) = 2² × 3⁻¹.</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 4 × 1/3 = 4/3. Jawaban: c.</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  ·  Operasi Biner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Operasi biner ⊙ didefinisikan a ⊙ b = ((a − b)² + 2ab) / (a + b) untuk bilangan real tidak negatif a dan b.</a:t>
            </a: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Jika a ⊙ 2 = 5, tentukan Benar atau Salah!</a:t>
            </a:r>
            <a:endParaRPr lang="en-US" sz="1600" dirty="0"/>
          </a:p>
          <a:p>
            <a:pPr indent="0" marL="0">
              <a:spcAft>
                <a:spcPts val="400"/>
              </a:spcAft>
              <a:buNone/>
            </a:pPr>
            <a:r>
              <a:rPr lang="en-US" sz="1600" b="1" dirty="0">
                <a:solidFill>
                  <a:srgbClr val="1E293B"/>
                </a:solidFill>
                <a:latin typeface="Calibri" pitchFamily="34" charset="0"/>
                <a:ea typeface="Calibri" pitchFamily="34" charset="-122"/>
                <a:cs typeface="Calibri" pitchFamily="34" charset="-120"/>
              </a:rPr>
              <a:t>Tentukan Benar atau Salah:</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1. a merupakan kelipatan dari 3</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2. a merupakan bilangan prima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3. a ⊙ 0 = 6</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2 = ((a−2)² + 4a)/(a+2) = (a² + 4)/(a+2) = 5.</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5(a+2) = a² + 4 → a² − 5a − 6 = 0 → (a − 6)(a + 1) = 0.</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6 (a = −1 ditolak karena harus tidak negatif).</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6 kelipatan 3 → Benar. 6 bukan prima → Salah.</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6 ⊙ 0 = (6² + 0)/6 = 6 → Benar.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  ·  Fungsi Linear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Model kenaikan suhu akibat pemanasan global: y = 0,02x − 39,9 (x = tahun, y = kenaikan suhu dalam °C).</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Pada tahun berapakah kenaikan suhu diperkirakan mencapai 0,7 °C?</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Tahun 2000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Tahun 2003</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Tahun 2025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Tahun 2030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Tahun 2345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Tahun 2030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Substitusi y = 0,7: 0,7 = 0,02x − 39,9.</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Pindahkan: 0,02x = 0,7 + 39,9 = 40,6.</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x = 40,6 / 0,02 = 2030. Jawaban: 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5  ·  Fungsi Komposisi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Les Pintarku memberi potongan biaya untuk 50 pendaftar pertama (y = 0,9x); pendaftar lain bayar harga normal. Diskon rapor: g(y) = 0,7y jika nilai rapor di atas 90; 0,8y jika nilai 85–90.</a:t>
            </a:r>
            <a:endParaRPr lang="en-US" sz="1300" dirty="0"/>
          </a:p>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Fira (pendaftar ke-50) membayar Rp180.000.</a:t>
            </a:r>
            <a:endParaRPr lang="en-US" sz="1300" dirty="0"/>
          </a:p>
          <a:p>
            <a:pPr indent="0" marL="0">
              <a:spcAft>
                <a:spcPts val="800"/>
              </a:spcAft>
              <a:buNone/>
            </a:pPr>
            <a:endParaRPr lang="en-US" sz="1300" dirty="0"/>
          </a:p>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Andi (nilai 90, uang Rp285.000), Budi (92, Rp286.000), Cici (89, Rp280.000), Dini (95, Rp287.000) mendaftar setelah Fira.</a:t>
            </a:r>
            <a:endParaRPr lang="en-US" sz="1300" dirty="0"/>
          </a:p>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Siapa yang pasti dapat mengikuti kursus?</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a. Dini</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b. Dini dan Budi</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c. Dini, Budi dan Andi</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d. Dini, Cici, Budi dan Andi</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e. Cici dan Andi</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Dini, Cici, Budi dan Andi</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Fira: 0,9x = 180.000 → harga normal x = 200.000.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Empat siswa mendaftar setelah ke-50 → bayar harga normal 200.000 (y = 200.000).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Andi (90): 0,8 × 200.000 = 160.000 ≤ 285.000 ✓. Budi (92): 0,7 × 200.000 = 140.000 ✓.</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Cici (89): 160.000 ≤ 280.000 ✓. Dini (95): 140.000 ✓.</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Semua mampu → Dini, Cici, Budi dan Andi.</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Asumsi AI: pendaftar setelah ke-50 membayar harga normal. Cocokkan dengan kunci resmi jika ada.</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6  ·  Barisan Aritmetika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Baris kursi paling bawah memegang 400 kertas, baris kedua 550 kertas, dan seterusnya bertambah dengan pola yang sama.</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Jika pola berlaku sampai baris ketujuh, berapa penonton yang memegang kertas di baris ke-5?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700 orang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850 orang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1.000 orang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1.150 orang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1.300 orang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1.000 orang</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Selisih tiap baris: 550 − 400 = 150 (beda tetap → barisan aritmetika).</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Baris 1 = 400, baris 2 = 550, baris 3 = 700, baris 4 = 850, baris 5 = 1.000.</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Jawaban: c. 1.000 orang.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7  ·  Barisan Geometri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Kadar asam urat awal (hari ke-1) 13 mg/dL. Obat menurunkan kadar 20% setiap hari (sisa 80%).</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 Nyaman jika kadar di bawah 7 mg/dL.</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 Sembuh klinis jika kadar kurang dari 5 mg/dL.</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Pada hari keberapa pasien merasa nyaman namun belum dianggap sembuh?</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(Pilih semua jawaban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Hari ke-2</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Hari ke-3</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Hari ke-4</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Hari ke-5</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Hari ke-6</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Hari ke-4  |  d. Hari ke-5</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Kadar sisa tiap hari = 80% = 80/100 dari hari sebelumnya.</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H1 = 13; H2 = 0,8×13 = 10,4; H3 = 0,8×10,4 = 8,32.</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H4 = 0,8×8,32 = 6,656 (&lt;7 → nyaman, belum &lt;5).</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H5 = 0,8×6,656 = 5,3248 (masih nyaman, belum &lt;5).</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H6 = 0,8×5,3248 = 4,2598 (&lt;5 → sembuh).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Nyaman tapi belum sembuh: hari ke-4 dan ke-5.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8  ·  Pertidaksamaan Linear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Daerah yang diarsir (segitiga ABC dengan A(−4,0), B(0,2), C(2,0)) merupakan himpunan penyelesaian dari sistem pertidaksamaan ....</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x − 2y ≥ −4; x + y ≤ 2; x ≥ 0; y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x − 2y ≥ −4; x + y ≥ 2; y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2x − y ≤ 4; x + y ≤ 2; y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x − 2y ≥ −4; x + y ≤ 2; y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2x − y ≥ 4; x + y ≤ 2; x ≥ 0; y ≥ 0</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8  ·  Gambar</a:t>
            </a:r>
            <a:endParaRPr lang="en-US" sz="2000" dirty="0"/>
          </a:p>
        </p:txBody>
      </p:sp>
      <p:pic>
        <p:nvPicPr>
          <p:cNvPr id="3" name="Image 0" descr="../assets/soal/p8.jpg">    </p:cNvPr>
          <p:cNvPicPr>
            <a:picLocks noChangeAspect="1"/>
          </p:cNvPicPr>
          <p:nvPr/>
        </p:nvPicPr>
        <p:blipFill>
          <a:blip r:embed="rId1"/>
          <a:stretch>
            <a:fillRect/>
          </a:stretch>
        </p:blipFill>
        <p:spPr>
          <a:xfrm>
            <a:off x="2439685" y="914400"/>
            <a:ext cx="4264629" cy="38404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x − 2y ≥ −4; x + y ≤ 2; y ≥ 0</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Garis f lewat A(−4,0) dan B(0,2): x − 2y = −4. Uji O(0,0): 0 ≥ −4 → x − 2y ≥ −4.</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Garis g lewat B(0,2) dan C(2,0): x + y = 2. Uji O(0,0): 0 ≤ 2 → x + y ≤ 2.</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Batas bawah sumbu X → y ≥ 0. Daerah meluas ke x negatif (titik A), jadi TIDAK ada x ≥ 0.</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Urutan huruf opsi dari PDF agak berantakan; pilih sistem yang isinya sama dengan jawaban ini.</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9  ·  Sistem Persamaan Linear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Misal mawar = a, lili = b, anyelir = c.</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Buket A: 2a + 3b + c = Rp85.000</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Buket B: a + 2b + 2c = Rp70.000</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Buket C: 3a + b + c = Rp75.000</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(Komposisi dibaca dari gambar buket.)</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Pembeli membeli buket tipe C dan menambah 2 tangkai lili + 1 tangkai anyelir (harga satuan). Total yang dibayar?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Rp75.000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Rp102.000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Rp110.000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Rp115.000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Rp116.000</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9  ·  Gambar</a:t>
            </a:r>
            <a:endParaRPr lang="en-US" sz="2000" dirty="0"/>
          </a:p>
        </p:txBody>
      </p:sp>
      <p:pic>
        <p:nvPicPr>
          <p:cNvPr id="3" name="Image 0" descr="../assets/soal/p9.jpg">    </p:cNvPr>
          <p:cNvPicPr>
            <a:picLocks noChangeAspect="1"/>
          </p:cNvPicPr>
          <p:nvPr/>
        </p:nvPicPr>
        <p:blipFill>
          <a:blip r:embed="rId1"/>
          <a:stretch>
            <a:fillRect/>
          </a:stretch>
        </p:blipFill>
        <p:spPr>
          <a:xfrm>
            <a:off x="2943590" y="914400"/>
            <a:ext cx="3256820" cy="384048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Rp115.000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Eliminasi (1) &amp; (2): kalikan (2) dengan 2 lalu kurangkan dengan (1) → b + 3c = 55.000 …(3).</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Eliminasi (2) &amp; (3): kalikan (2) dengan 3 lalu kurangkan dengan (3) → 5b + 5c = 135.000 …(4).</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Eliminasi (3) &amp; (4): 10c = 140.000 → c = 14.000.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Substitusi ke (3): b + 42.000 = 55.000 → b = 13.000.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Total = buket C + 2b + c = 75.000 + 26.000 + 14.000 = Rp115.000. Jawaban: d.</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10  ·  Hubungan Sudut</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Pada gambar (segitiga dengan dua garis sejajar dipotong satu garis miring; sudut A, F, E, B, D, C — lihat foto kunci setelah menjawab), pasangan sudut manakah yang membentuk 180°?</a:t>
            </a: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(Pilih semua jawaban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∠A dan ∠B</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∠A dan ∠E</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∠B dan ∠C</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∠B dan ∠D</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∠E dan ∠C</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10  ·  Gambar</a:t>
            </a:r>
            <a:endParaRPr lang="en-US" sz="2000" dirty="0"/>
          </a:p>
        </p:txBody>
      </p:sp>
      <p:pic>
        <p:nvPicPr>
          <p:cNvPr id="3" name="Image 0" descr="../assets/soal/p10.jpg">    </p:cNvPr>
          <p:cNvPicPr>
            <a:picLocks noChangeAspect="1"/>
          </p:cNvPicPr>
          <p:nvPr/>
        </p:nvPicPr>
        <p:blipFill>
          <a:blip r:embed="rId1"/>
          <a:stretch>
            <a:fillRect/>
          </a:stretch>
        </p:blipFill>
        <p:spPr>
          <a:xfrm>
            <a:off x="2025495" y="914400"/>
            <a:ext cx="5093011"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∠B dan ∠C  |  d. ∠B dan ∠D  |  e. ∠E dan ∠C</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∠F dan ∠C sehadap → ∠F = ∠C. ∠F dan ∠E berpelurus → ∠F + ∠E = 180°, sehingga ∠E + ∠C = 180° ✓.</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 dan ∠D berpelurus → ∠B + ∠D = 180° ✓.</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∠C dan ∠D berseberangan → ∠C = ∠D, sehingga ∠B + ∠C = 180° ✓.</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Jawaban: ∠B &amp; ∠C, ∠B &amp; ∠D, ∠E &amp; ∠C.</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11  ·  Hubungan Bidang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Rak buku gantung berada pada dinding CDHG. Papan jadwal tidak boleh diletakkan pada dinding yang sejajar dengan dinding rak buku. Pada dinding manakah papan jadwal boleh diletakkan? (Pilih semua yang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CDHG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BCGF</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ABFE</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BCFA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ADHE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11  ·  Gambar</a:t>
            </a:r>
            <a:endParaRPr lang="en-US" sz="2000" dirty="0"/>
          </a:p>
        </p:txBody>
      </p:sp>
      <p:pic>
        <p:nvPicPr>
          <p:cNvPr id="3" name="Image 0" descr="../assets/soal/p11.jpg">    </p:cNvPr>
          <p:cNvPicPr>
            <a:picLocks noChangeAspect="1"/>
          </p:cNvPicPr>
          <p:nvPr/>
        </p:nvPicPr>
        <p:blipFill>
          <a:blip r:embed="rId1"/>
          <a:stretch>
            <a:fillRect/>
          </a:stretch>
        </p:blipFill>
        <p:spPr>
          <a:xfrm>
            <a:off x="2927795" y="914400"/>
            <a:ext cx="3288411" cy="38404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CDHG  |  b. BCGF  |  e. ADHE</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Dinding rak = CDHG (belakang-kanan). Dinding yang sejajar dengannya = dinding di seberang = ABFE → dilarang.</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BCFA bukan dinding (bukan sisi ruangan).</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Boleh: CDHG (dinding rak itu sendiri), BCGF, dan ADHE (tegak lurus dinding rak).</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Asumsi AI: rak berada di dinding CDHG sesuai gambar.</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12  ·  Kesebangunan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Trapesium KLMN dan NMPO sebangun. OP = 18 cm, KN = 16 cm, KL = 32 cm (PR tegak lurus KL, Q di perpotongan PR dan NM; lihat foto kunci).</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Berapakah panjang sisi LM?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6√5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8√5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9√5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10√5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14√5 cm</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12  ·  Gambar</a:t>
            </a:r>
            <a:endParaRPr lang="en-US" sz="2000" dirty="0"/>
          </a:p>
        </p:txBody>
      </p:sp>
      <p:pic>
        <p:nvPicPr>
          <p:cNvPr id="3" name="Image 0" descr="../assets/soal/p12.jpg">    </p:cNvPr>
          <p:cNvPicPr>
            <a:picLocks noChangeAspect="1"/>
          </p:cNvPicPr>
          <p:nvPr/>
        </p:nvPicPr>
        <p:blipFill>
          <a:blip r:embed="rId1"/>
          <a:stretch>
            <a:fillRect/>
          </a:stretch>
        </p:blipFill>
        <p:spPr>
          <a:xfrm>
            <a:off x="2914434" y="914400"/>
            <a:ext cx="3315131" cy="38404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8√5 cm</a:t>
            </a:r>
            <a:endParaRPr lang="en-US" sz="1500" dirty="0"/>
          </a:p>
        </p:txBody>
      </p:sp>
      <p:sp>
        <p:nvSpPr>
          <p:cNvPr id="5" name="Text 3"/>
          <p:cNvSpPr txBox="1"/>
          <p:nvPr/>
        </p:nvSpPr>
        <p:spPr>
          <a:xfrm>
            <a:off x="548640" y="1417320"/>
            <a:ext cx="3931920" cy="2743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Versi kunci (sesuai foto)</a:t>
            </a:r>
            <a:endParaRPr lang="en-US" sz="1300" dirty="0"/>
          </a:p>
        </p:txBody>
      </p:sp>
      <p:sp>
        <p:nvSpPr>
          <p:cNvPr id="6" name="Text 4"/>
          <p:cNvSpPr txBox="1"/>
          <p:nvPr/>
        </p:nvSpPr>
        <p:spPr>
          <a:xfrm>
            <a:off x="548640" y="1737360"/>
            <a:ext cx="39319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KL/MN = MN/OP → 32/MN = MN/18 → MN² = 32 × 18 = 576 → MN = 24 cm.</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KN/NO = KL/MN → 16/NO = 32/24 → NO = 12 cm = PQ.</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QM = MN − OP = 24 − 18 = 6 → PM = √(6² + 12²) = √180 = 6√5.</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RL = 32 − 18 = 14; PR = 12 + 16 = 28 → PL = √(14² + 28²) = √(196 + 784) = √580 = 14√5 (di foto tertulis √580).</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LM = PL − PM = 14√5 − 6√5 = 8√5 cm.</a:t>
            </a:r>
            <a:endParaRPr lang="en-US" sz="1200" dirty="0"/>
          </a:p>
        </p:txBody>
      </p:sp>
      <p:sp>
        <p:nvSpPr>
          <p:cNvPr id="7" name="Text 5"/>
          <p:cNvSpPr txBox="1"/>
          <p:nvPr/>
        </p:nvSpPr>
        <p:spPr>
          <a:xfrm>
            <a:off x="4663440" y="1417320"/>
            <a:ext cx="3931920" cy="2743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Versi Claude (dikoreksi/diperjelas)</a:t>
            </a:r>
            <a:endParaRPr lang="en-US" sz="1300" dirty="0"/>
          </a:p>
        </p:txBody>
      </p:sp>
      <p:sp>
        <p:nvSpPr>
          <p:cNvPr id="8" name="Text 6"/>
          <p:cNvSpPr txBox="1"/>
          <p:nvPr/>
        </p:nvSpPr>
        <p:spPr>
          <a:xfrm>
            <a:off x="4663440" y="1737360"/>
            <a:ext cx="39319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Sebangun: KL/MN = MN/OP → 32/MN = MN/18 → MN² = 576 → MN = 24 cm.</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KN/NO = KL/MN → 16/NO = 32/24 → NO = 12 cm, jadi PQ = 12 cm.</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QM = MN − OP = 24 − 18 = 6 → PM = √(6² + 12²) = √180 = 6√5.</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RL = KL − KR = 32 − 18 = 14; PR = 12 + 16 = 28 → PL = √(14² + 28²) = √980 = 14√5.</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LM = PL − PM = 14√5 − 6√5 = 8√5 cm. Jawaban: b.</a:t>
            </a:r>
            <a:endParaRPr lang="en-US" sz="1200" dirty="0"/>
          </a:p>
        </p:txBody>
      </p:sp>
      <p:sp>
        <p:nvSpPr>
          <p:cNvPr id="9" name="Text 7"/>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Kunci menulis √580, padahal 196 + 784 = 980, jadi PL = √980 = 14√5. Hasil akhir 8√5 tetap benar.</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13  ·  Teorema Pythagoras</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Pot tanaman diletakkan sepanjang sisi miring kebun. Sisi kebun: 500 cm (kiri), 350 cm (kanan), 360 cm (bawah). Diameter pot: jahe 15 cm, kunyit 26 cm, lengkuas 30 cm.</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Ada 25 tanaman jahe yang bisa ditanam.</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Ada 15 tanaman kunyit yang bisa ditanam.</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Ada 10 tanaman lengkuas yang bisa ditanam.</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13  ·  Gambar</a:t>
            </a:r>
            <a:endParaRPr lang="en-US" sz="2000" dirty="0"/>
          </a:p>
        </p:txBody>
      </p:sp>
      <p:pic>
        <p:nvPicPr>
          <p:cNvPr id="3" name="Image 0" descr="../assets/soal/p13.jpg">    </p:cNvPr>
          <p:cNvPicPr>
            <a:picLocks noChangeAspect="1"/>
          </p:cNvPicPr>
          <p:nvPr/>
        </p:nvPicPr>
        <p:blipFill>
          <a:blip r:embed="rId1"/>
          <a:stretch>
            <a:fillRect/>
          </a:stretch>
        </p:blipFill>
        <p:spPr>
          <a:xfrm>
            <a:off x="2982030" y="914400"/>
            <a:ext cx="3179941" cy="38404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3=Salah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Selisih tinggi sisi = 500 − 350 = 150 cm; alas 360 cm.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Sisi miring = √(150² + 360²) = √152.100 = 390 cm.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Jahe: 390 : 15 = 26 (bukan 25) → Salah. Kunyit: 390 : 26 = 15 → Benar. Lengkuas: 390 : 30 = 13 (bukan 10) → Salah.</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Transformasi Geometri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 direfleksikan oleh garis y = 1, kemudian dirotasikan 180° searah jarum jam berpusat di O(0,0). Bayangannya B′ = (−4, 1).</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Titik B yang sesuai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B(4, −1)</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B(4, 3)</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B(−6, −1)</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B(−2, −1)</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B(2, 4)</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Gambar (1/3)</a:t>
            </a:r>
            <a:endParaRPr lang="en-US" sz="2000" dirty="0"/>
          </a:p>
        </p:txBody>
      </p:sp>
      <p:pic>
        <p:nvPicPr>
          <p:cNvPr id="3" name="Image 0" descr="../assets/soal/p14.jpg">    </p:cNvPr>
          <p:cNvPicPr>
            <a:picLocks noChangeAspect="1"/>
          </p:cNvPicPr>
          <p:nvPr/>
        </p:nvPicPr>
        <p:blipFill>
          <a:blip r:embed="rId1"/>
          <a:stretch>
            <a:fillRect/>
          </a:stretch>
        </p:blipFill>
        <p:spPr>
          <a:xfrm>
            <a:off x="2130488" y="914400"/>
            <a:ext cx="4883023" cy="384048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Gambar (2/3)</a:t>
            </a:r>
            <a:endParaRPr lang="en-US" sz="2000" dirty="0"/>
          </a:p>
        </p:txBody>
      </p:sp>
      <p:pic>
        <p:nvPicPr>
          <p:cNvPr id="3" name="Image 0" descr="../assets/soal/p15.jpg">    </p:cNvPr>
          <p:cNvPicPr>
            <a:picLocks noChangeAspect="1"/>
          </p:cNvPicPr>
          <p:nvPr/>
        </p:nvPicPr>
        <p:blipFill>
          <a:blip r:embed="rId1"/>
          <a:stretch>
            <a:fillRect/>
          </a:stretch>
        </p:blipFill>
        <p:spPr>
          <a:xfrm>
            <a:off x="3744966" y="914400"/>
            <a:ext cx="1654068" cy="384048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Gambar (3/3)</a:t>
            </a:r>
            <a:endParaRPr lang="en-US" sz="2000" dirty="0"/>
          </a:p>
        </p:txBody>
      </p:sp>
      <p:pic>
        <p:nvPicPr>
          <p:cNvPr id="3" name="Image 0" descr="../assets/soal/p16.jpg">    </p:cNvPr>
          <p:cNvPicPr>
            <a:picLocks noChangeAspect="1"/>
          </p:cNvPicPr>
          <p:nvPr/>
        </p:nvPicPr>
        <p:blipFill>
          <a:blip r:embed="rId1"/>
          <a:stretch>
            <a:fillRect/>
          </a:stretch>
        </p:blipFill>
        <p:spPr>
          <a:xfrm>
            <a:off x="3291840" y="914400"/>
            <a:ext cx="2560320" cy="384048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B(4, 3)</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Refleksi y=1: (x, y) → (x, 2−y). Rotasi 180°: (x, y) → (−x, −y).</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Komposisi: (x, y) → (−x, −(2−y)) = (−x, y−2).</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Samakan dengan B′(−4, 1): −x = −4 → x = 4; y − 2 = 1 → y = 3.</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B(4, 3). Jawaban: b.</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15  ·  Jarak Dua Titik</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Tali hiasan dipasang dari pojok dinding pintu ke tengah langit-langit dinding papan tulis. Tali kedua yang sama dipasang ke pojok lain dinding pintu. Jika membeli tali 20 meter, berapa sisa tali yang tidak terpakai?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6 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10 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11 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13 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15 m</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15  ·  Gambar</a:t>
            </a:r>
            <a:endParaRPr lang="en-US" sz="2000" dirty="0"/>
          </a:p>
        </p:txBody>
      </p:sp>
      <p:pic>
        <p:nvPicPr>
          <p:cNvPr id="3" name="Image 0" descr="../assets/soal/p17.jpg">    </p:cNvPr>
          <p:cNvPicPr>
            <a:picLocks noChangeAspect="1"/>
          </p:cNvPicPr>
          <p:nvPr/>
        </p:nvPicPr>
        <p:blipFill>
          <a:blip r:embed="rId1"/>
          <a:stretch>
            <a:fillRect/>
          </a:stretch>
        </p:blipFill>
        <p:spPr>
          <a:xfrm>
            <a:off x="2855515" y="914400"/>
            <a:ext cx="3432969" cy="384048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10 m</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Dari atas: tengah dinding 3 m dari pojok, jarak ke dinding lain 4 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Panjang satu tali = √(3² + 4²) = √25 = 5 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Dua tali = 2 × 5 = 10 m. Sisa = 20 − 10 = 10 m.</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16  ·  Keliling Gabungan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Ornamen jam dinding berbentuk segitiga dan setengah lingkaran (tinggi total 70 cm, lebar 50 cm, diameter lingkaran 20 cm). Kayu tipis ditempel di sekeliling ornamen. Untuk dua ornamen, berapa panjang kayu yang dibutuhkan?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322,8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352,8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362,8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382,8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445,6 cm</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16  ·  Gambar (1/2)</a:t>
            </a:r>
            <a:endParaRPr lang="en-US" sz="2000" dirty="0"/>
          </a:p>
        </p:txBody>
      </p:sp>
      <p:pic>
        <p:nvPicPr>
          <p:cNvPr id="3" name="Image 0" descr="../assets/soal/p18.jpg">    </p:cNvPr>
          <p:cNvPicPr>
            <a:picLocks noChangeAspect="1"/>
          </p:cNvPicPr>
          <p:nvPr/>
        </p:nvPicPr>
        <p:blipFill>
          <a:blip r:embed="rId1"/>
          <a:stretch>
            <a:fillRect/>
          </a:stretch>
        </p:blipFill>
        <p:spPr>
          <a:xfrm>
            <a:off x="2410742" y="914400"/>
            <a:ext cx="4322516" cy="384048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16  ·  Gambar (2/2)</a:t>
            </a:r>
            <a:endParaRPr lang="en-US" sz="2000" dirty="0"/>
          </a:p>
        </p:txBody>
      </p:sp>
      <p:pic>
        <p:nvPicPr>
          <p:cNvPr id="3" name="Image 0" descr="../assets/soal/p19.jpg">    </p:cNvPr>
          <p:cNvPicPr>
            <a:picLocks noChangeAspect="1"/>
          </p:cNvPicPr>
          <p:nvPr/>
        </p:nvPicPr>
        <p:blipFill>
          <a:blip r:embed="rId1"/>
          <a:stretch>
            <a:fillRect/>
          </a:stretch>
        </p:blipFill>
        <p:spPr>
          <a:xfrm>
            <a:off x="548640" y="914400"/>
            <a:ext cx="8046720" cy="364018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382,8 cm</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Tinggi segitiga = 70 − 10 = 60 cm; setengah alas = 50 : 2 = 25 cm.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Sisi miring = √(60² + 25²) = √4.225 = 65 cm.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Setengah lingkaran = ½ × 3,14 × 20 = 31,4 cm.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Keliling satu = 65 + 65 + 31,4 + (50 − 20) = 191,4 cm.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Dua ornamen = 191,4 × 2 = 382,8 cm.</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17  ·  Kecukupan Data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Panjang salah satu diagonal layang-layang adalah 20 cm. Berapakah keliling layang-layang tersebut?</a:t>
            </a:r>
            <a:endParaRPr lang="en-US" sz="1300" dirty="0"/>
          </a:p>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(1) Luas layang-layang adalah 160 cm².</a:t>
            </a:r>
            <a:endParaRPr lang="en-US" sz="1300" dirty="0"/>
          </a:p>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(2) Panjang salah satu sisi layang-layang adalah 10 cm.</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a. Pernyataan (1) SAJA cukup, tetapi pernyataan (2) SAJA tidak cukup.</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b. Pernyataan (2) SAJA cukup, tetapi pernyataan (1) SAJA tidak cukup.</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c. DUA pernyataan BERSAMA-SAMA cukup, tetapi SATU pernyataan SAJA tidak cukup.</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d. Pernyataan (1) SAJA cukup dan pernyataan (2) SAJA cukup.</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e. Pernyataan (1) dan (2) tidak cukup.</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DUA pernyataan BERSAMA-SAMA cukup, tetapi SATU pernyataan SAJA tidak cukup.</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(1): L = ½ × d₁ × d₂ = 160 → ½ × 20 × d₂ = 160 → d₂ = 16 cm. Tapi keliling butuh sisi-sisi, jadi (1) saja tidak cukup.</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(2): hanya satu sisi = 10 cm, butuh diagonal lain → (2) saja tidak cukup.</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Bersama: diagonal 20 &amp; 16 plus satu sisi 10 cukup menentukan semua sisi → keliling dapat dihitung.</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18  ·  Volume Bangun Ruang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Kardus helm 20 × 20 × 30 cm. Bak truk: tinggi 120 cm, lebar 150 cm, panjang 240 cm. Kardus tidak boleh dibalik. Berapa paling banyak kardus yang dapat dimuat?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336 kardus</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360 kardus</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384 kardus</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432 kardus</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504 kardus</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18  ·  Gambar</a:t>
            </a:r>
            <a:endParaRPr lang="en-US" sz="2000" dirty="0"/>
          </a:p>
        </p:txBody>
      </p:sp>
      <p:pic>
        <p:nvPicPr>
          <p:cNvPr id="3" name="Image 0" descr="../assets/soal/p21.jpg">    </p:cNvPr>
          <p:cNvPicPr>
            <a:picLocks noChangeAspect="1"/>
          </p:cNvPicPr>
          <p:nvPr/>
        </p:nvPicPr>
        <p:blipFill>
          <a:blip r:embed="rId1"/>
          <a:stretch>
            <a:fillRect/>
          </a:stretch>
        </p:blipFill>
        <p:spPr>
          <a:xfrm>
            <a:off x="2842859" y="914400"/>
            <a:ext cx="3458281" cy="384048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360 kardus</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Susunan tinggi = 120 : 20 = 6 lapis.</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Kardus per alas = (240 : 20) × (150 : 30) = 12 × 5 = 60 kardus.</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Total = 60 × 6 = 360 kardus.</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19  ·  Luas Selimut Tabung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Hiasan lampu berbentuk tabung berongga (tanpa alas dan tutup), diameter 14 cm dan tinggi 25 cm, bagian luar dilapisi stiker. Satu lembar stiker Rp9.000 menutupi 300 cm². Untuk 8 hiasan, berapa biaya minimal?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Rp72.000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Rp108.000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Rp252.000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Rp270.000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Rp288.000</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19  ·  Gambar (1/2)</a:t>
            </a:r>
            <a:endParaRPr lang="en-US" sz="2000" dirty="0"/>
          </a:p>
        </p:txBody>
      </p:sp>
      <p:pic>
        <p:nvPicPr>
          <p:cNvPr id="3" name="Image 0" descr="../assets/soal/p22.jpg">    </p:cNvPr>
          <p:cNvPicPr>
            <a:picLocks noChangeAspect="1"/>
          </p:cNvPicPr>
          <p:nvPr/>
        </p:nvPicPr>
        <p:blipFill>
          <a:blip r:embed="rId1"/>
          <a:stretch>
            <a:fillRect/>
          </a:stretch>
        </p:blipFill>
        <p:spPr>
          <a:xfrm>
            <a:off x="2125605" y="914400"/>
            <a:ext cx="4892790" cy="384048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19  ·  Gambar (2/2)</a:t>
            </a:r>
            <a:endParaRPr lang="en-US" sz="2000" dirty="0"/>
          </a:p>
        </p:txBody>
      </p:sp>
      <p:pic>
        <p:nvPicPr>
          <p:cNvPr id="3" name="Image 0" descr="../assets/soal/p23.jpg">    </p:cNvPr>
          <p:cNvPicPr>
            <a:picLocks noChangeAspect="1"/>
          </p:cNvPicPr>
          <p:nvPr/>
        </p:nvPicPr>
        <p:blipFill>
          <a:blip r:embed="rId1"/>
          <a:stretch>
            <a:fillRect/>
          </a:stretch>
        </p:blipFill>
        <p:spPr>
          <a:xfrm>
            <a:off x="548640" y="914400"/>
            <a:ext cx="8046720" cy="3800665"/>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Rp270.000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Yang ditutup hanya selimut tabung: L = π × d × t = 22/7 × 14 × 25 = 1.100 cm².</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8 hiasan = 8 × 1.100 = 8.800 cm².</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Lembar stiker = 8.800 : 300 ≈ 29,3 → dibulatkan ke atas 30 lembar.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Biaya = 30 × 9.000 = Rp270.000.</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20  ·  Trigonometri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Diketahui cos(α) = 3/5. Tentukan Benar atau Salah!</a:t>
            </a:r>
            <a:endParaRPr lang="en-US" sz="1800" dirty="0"/>
          </a:p>
          <a:p>
            <a:pPr indent="0" marL="0">
              <a:spcAft>
                <a:spcPts val="400"/>
              </a:spcAft>
              <a:buNone/>
            </a:pPr>
            <a:r>
              <a:rPr lang="en-US" sz="1800" b="1" dirty="0">
                <a:solidFill>
                  <a:srgbClr val="1E293B"/>
                </a:solidFill>
                <a:latin typeface="Calibri" pitchFamily="34" charset="0"/>
                <a:ea typeface="Calibri" pitchFamily="34" charset="-122"/>
                <a:cs typeface="Calibri" pitchFamily="34" charset="-120"/>
              </a:rPr>
              <a:t>Tentukan Benar atau Salah:</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1. sin(β) = √7/4</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2. cos(β) = √7/5</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3. tan(β) = 3√7/7</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20  ·  Gambar</a:t>
            </a:r>
            <a:endParaRPr lang="en-US" sz="2000" dirty="0"/>
          </a:p>
        </p:txBody>
      </p:sp>
      <p:pic>
        <p:nvPicPr>
          <p:cNvPr id="3" name="Image 0" descr="../assets/soal/p24.jpg">    </p:cNvPr>
          <p:cNvPicPr>
            <a:picLocks noChangeAspect="1"/>
          </p:cNvPicPr>
          <p:nvPr/>
        </p:nvPicPr>
        <p:blipFill>
          <a:blip r:embed="rId1"/>
          <a:stretch>
            <a:fillRect/>
          </a:stretch>
        </p:blipFill>
        <p:spPr>
          <a:xfrm>
            <a:off x="2517790" y="914400"/>
            <a:ext cx="4108420" cy="384048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2=Salah, 3=Benar</a:t>
            </a:r>
            <a:endParaRPr lang="en-US" sz="1500" dirty="0"/>
          </a:p>
        </p:txBody>
      </p:sp>
      <p:sp>
        <p:nvSpPr>
          <p:cNvPr id="5" name="Text 3"/>
          <p:cNvSpPr txBox="1"/>
          <p:nvPr/>
        </p:nvSpPr>
        <p:spPr>
          <a:xfrm>
            <a:off x="548640" y="1417320"/>
            <a:ext cx="3931920" cy="2743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Versi kunci (sesuai foto)</a:t>
            </a:r>
            <a:endParaRPr lang="en-US" sz="1300" dirty="0"/>
          </a:p>
        </p:txBody>
      </p:sp>
      <p:sp>
        <p:nvSpPr>
          <p:cNvPr id="6" name="Text 4"/>
          <p:cNvSpPr txBox="1"/>
          <p:nvPr/>
        </p:nvSpPr>
        <p:spPr>
          <a:xfrm>
            <a:off x="548640" y="1737360"/>
            <a:ext cx="39319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cos α = 3/5 (samping/miring) → AD = 3, AC = 5.</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BD = √(4² − 3²) = √7 cm.</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sin β = depan/miring = 3/4 → pernyataan 1 Salah.</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cos β = samping/miring = √7/4 (bukan √7/5) → Salah.</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tan β = 3/√7 × √7/√7 = 3√7/7 → Benar.</a:t>
            </a:r>
            <a:endParaRPr lang="en-US" sz="1200" dirty="0"/>
          </a:p>
        </p:txBody>
      </p:sp>
      <p:sp>
        <p:nvSpPr>
          <p:cNvPr id="7" name="Text 5"/>
          <p:cNvSpPr txBox="1"/>
          <p:nvPr/>
        </p:nvSpPr>
        <p:spPr>
          <a:xfrm>
            <a:off x="4663440" y="1417320"/>
            <a:ext cx="3931920" cy="2743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Versi Claude (dikoreksi/diperjelas)</a:t>
            </a:r>
            <a:endParaRPr lang="en-US" sz="1300" dirty="0"/>
          </a:p>
        </p:txBody>
      </p:sp>
      <p:sp>
        <p:nvSpPr>
          <p:cNvPr id="8" name="Text 6"/>
          <p:cNvSpPr txBox="1"/>
          <p:nvPr/>
        </p:nvSpPr>
        <p:spPr>
          <a:xfrm>
            <a:off x="4663440" y="1737360"/>
            <a:ext cx="39319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Pada segitiga ADC: cos α = AD/AC = 3/5, jadi AD = 3, AC = 5, lalu DC = √(5² − 3²) = 4 (sama dengan AB = 4, sesuai tanda garis sama).</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Pada segitiga ABD siku-siku di D: AB = 4, AD = 3 → BD = √7.</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sin β = 3/4 → Salah; cos β = √7/4 → Salah; tan β = 3/√7 = 3√7/7 → Benar.</a:t>
            </a:r>
            <a:endParaRPr lang="en-US" sz="1200" dirty="0"/>
          </a:p>
        </p:txBody>
      </p:sp>
      <p:sp>
        <p:nvSpPr>
          <p:cNvPr id="9" name="Text 7"/>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Kunci tidak menjelaskan asal AD = 3 dan AC = 5; versi Claude menurunkannya dari cos α = 3/5 dan tanda AB = DC = 4.</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21  ·  Diagram Garis</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Data banyak lulusan tahun 2017–2025 tiga sekolah (lihat grafik). Pernyataan mana yang tepat? (Pilih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Banyak siswa SMA 1 Bintang yang lulus selalu bertambah mulai tahun 2020.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Pada 2017–2020, lulusan ketiga sekolah selalu bertambah.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Lulusan SMK Kejora konsisten naik selama lima tahun terakhir.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Lulusan SMA 2 Bintang tetap sama selama tiga tahun terakhir.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Lulusan ketiga sekolah di 2023 menurun dibanding tahun sebelumnya.</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21  ·  Gambar</a:t>
            </a:r>
            <a:endParaRPr lang="en-US" sz="2000" dirty="0"/>
          </a:p>
        </p:txBody>
      </p:sp>
      <p:pic>
        <p:nvPicPr>
          <p:cNvPr id="3" name="Image 0" descr="../assets/soal/p25.jpg">    </p:cNvPr>
          <p:cNvPicPr>
            <a:picLocks noChangeAspect="1"/>
          </p:cNvPicPr>
          <p:nvPr/>
        </p:nvPicPr>
        <p:blipFill>
          <a:blip r:embed="rId1"/>
          <a:stretch>
            <a:fillRect/>
          </a:stretch>
        </p:blipFill>
        <p:spPr>
          <a:xfrm>
            <a:off x="2832079" y="914400"/>
            <a:ext cx="3479842" cy="384048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200" b="1" dirty="0">
                <a:solidFill>
                  <a:srgbClr val="059669"/>
                </a:solidFill>
                <a:latin typeface="Calibri" pitchFamily="34" charset="0"/>
                <a:ea typeface="Calibri" pitchFamily="34" charset="-122"/>
                <a:cs typeface="Calibri" pitchFamily="34" charset="-120"/>
              </a:rPr>
              <a:t>Jawaban: a. Banyak siswa SMA 1 Bintang yang lulus selalu bertambah mulai tahun 2020.  |  d. Lulusan SMA 2 Bintang tetap sama selama tiga tahun terakhir.</a:t>
            </a:r>
            <a:endParaRPr lang="en-US" sz="12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SMA 1 Bintang: 301 (2020) → 308 → 310 → 315 → 350 → 360, selalu naik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2017–2020: SMA 1 Bintang turun dari 310 ke 301 (2019→2020)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SMK Kejora: 2022 = 325 turun ke 2023 = 320 → tidak konsisten naik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SMA 2 Bintang: 2023, 2024, 2025 sama-sama 300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2023: SMA 1 Bintang naik (310 → 315) → Salah.</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Nilai dibaca dari grafik (perkiraan).</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22  ·  Aturan Pencacahan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Ada 5 stan pedagang berbeda. Stan pedagang C ingin berada di antara pedagang A dan pedagang D. Banyak kemungkinan susunan stan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6 susunan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12 susunan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120 susunan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240 susunan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720 susunan</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12 susunan</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Daftar kemungkinan: ACDBE, ACDEB, BEACD, EBACD, DCABE, DCAEB, BEDCA, EBDCA, BDCAE, EDCAB, BACDE, EACDB.</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Ada 12 susunan.</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Atau: blok (A,C,D) dengan C di tengah = 2 urutan; blok + B + E = 3! → 3! × 2! = 6 × 2 = 12.</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23  ·  Ukuran Pemusatan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Pengunjung perpustakaan minggu ke-1: Senin 4, Selasa p, Rabu 5, Kamis r, Jumat 6. Rata-rata 6 orang; setiap hari minimal 2 dan tidak lebih dari 10 pengunjung; median 6.</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Banyak pengunjung hari Selasa pasti selalu lebih banyak dibandingkan hari lain.</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Banyak pengunjung hari Kamis pasti lebih dari 5 orang.</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Banyak pengunjung hari Jumat dan Kamis mungkin saja sama.</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Rata-rata: (4 + p + 5 + r + 6)/5 = 6 → 15 + p + r = 30 → p + r = 15.</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Kemungkinan (p, r): (6,9), (9,6), (7,8), (8,7). Pasangan (10,5) dan (5,10) tidak dipakai karena mediannya 5.</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Selasa tidak selalu terbanyak (mis. p = 6, r = 9)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r selalu ≥ 6, jadi lebih dari 5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r = 6 (saat p = 9) sama dengan Jumat → Benar.</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24  ·  Peluang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Kotak undian berisi 60 angpao: 15 kupon Rp25.000, 12 kupon Rp50.000, 10 set sendok-garpu, 8 pemanas air, sisanya kosong. Berapa peluang Rini mengambil angpao kosong?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1/15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1/4</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1/3</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5/11</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1/4</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Angpao kosong = 60 − 15 − 12 − 10 − 8 = 15.</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Peluang = 15/60 = 1/4.</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25  ·  Peluang Majemuk</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Kotak undian: 6 kertas Minuman Gratis, 4 kertas Makanan Gratis, 5 kertas kosong. Hanya kertas kosong yang dikembalikan. Ani orang kelima yang mengambil. Kertas apa saja yang mungkin sudah terambil sebelumnya sehingga peluang Ani dapat hadiah (minuman/makanan) = 2/3?</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1 minuman gratis, 1 makanan gratis, dan 2 kertas kosong.</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2 makanan gratis dan 2 minuman gratis.</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2 minuman gratis dan 2 kertas kosong.</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4 kertas kosong.</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4 minuman gratis.</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25  ·  Gambar</a:t>
            </a:r>
            <a:endParaRPr lang="en-US" sz="2000" dirty="0"/>
          </a:p>
        </p:txBody>
      </p:sp>
      <p:pic>
        <p:nvPicPr>
          <p:cNvPr id="3" name="Image 0" descr="../assets/soal/p29.jpg">    </p:cNvPr>
          <p:cNvPicPr>
            <a:picLocks noChangeAspect="1"/>
          </p:cNvPicPr>
          <p:nvPr/>
        </p:nvPicPr>
        <p:blipFill>
          <a:blip r:embed="rId1"/>
          <a:stretch>
            <a:fillRect/>
          </a:stretch>
        </p:blipFill>
        <p:spPr>
          <a:xfrm>
            <a:off x="2630735" y="914400"/>
            <a:ext cx="3882529" cy="384048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4 kertas kosong.</a:t>
            </a:r>
            <a:endParaRPr lang="en-US" sz="1500" dirty="0"/>
          </a:p>
        </p:txBody>
      </p:sp>
      <p:sp>
        <p:nvSpPr>
          <p:cNvPr id="5" name="Text 3"/>
          <p:cNvSpPr txBox="1"/>
          <p:nvPr/>
        </p:nvSpPr>
        <p:spPr>
          <a:xfrm>
            <a:off x="548640" y="1417320"/>
            <a:ext cx="3931920" cy="2743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Versi kunci (sesuai foto)</a:t>
            </a:r>
            <a:endParaRPr lang="en-US" sz="1300" dirty="0"/>
          </a:p>
        </p:txBody>
      </p:sp>
      <p:sp>
        <p:nvSpPr>
          <p:cNvPr id="6" name="Text 4"/>
          <p:cNvSpPr txBox="1"/>
          <p:nvPr/>
        </p:nvSpPr>
        <p:spPr>
          <a:xfrm>
            <a:off x="548640" y="1737360"/>
            <a:ext cx="39319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Kertas kosong dikembalikan, jadi jumlah kosong tetap 5.</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Cek a: (5+3)/(5+3+5) = 8/13 ≠ 2/3. Cek b: (4+2)/(4+2+5) = 6/11 ≠ 2/3. Cek c: (4+4)/(4+4+5) = 8/13 ≠ 2/3.</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Cek d: 4 kosong → semua kembali: (6+4)/(6+4+5) = 10/15 = 2/3 ✓.</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Kotak kelima di kunci berlabel "Cek jawaban d" (kembar), padahal hasilnya 6/11 ≠ 2/3.</a:t>
            </a:r>
            <a:endParaRPr lang="en-US" sz="1200" dirty="0"/>
          </a:p>
        </p:txBody>
      </p:sp>
      <p:sp>
        <p:nvSpPr>
          <p:cNvPr id="7" name="Text 5"/>
          <p:cNvSpPr txBox="1"/>
          <p:nvPr/>
        </p:nvSpPr>
        <p:spPr>
          <a:xfrm>
            <a:off x="4663440" y="1417320"/>
            <a:ext cx="3931920" cy="274320"/>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Versi Claude (dikoreksi/diperjelas)</a:t>
            </a:r>
            <a:endParaRPr lang="en-US" sz="1300" dirty="0"/>
          </a:p>
        </p:txBody>
      </p:sp>
      <p:sp>
        <p:nvSpPr>
          <p:cNvPr id="8" name="Text 6"/>
          <p:cNvSpPr txBox="1"/>
          <p:nvPr/>
        </p:nvSpPr>
        <p:spPr>
          <a:xfrm>
            <a:off x="4663440" y="1737360"/>
            <a:ext cx="39319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Yang terambil hanya kertas kosong akan dikembalikan → total kertas tetap 15 → peluang hadiah = 10/15 = 2/3 ✓ (opsi d).</a:t>
            </a:r>
            <a:endParaRPr lang="en-US" sz="1200" dirty="0"/>
          </a:p>
          <a:p>
            <a:pPr marL="342900" indent="-342900">
              <a:spcAft>
                <a:spcPts val="500"/>
              </a:spcAft>
              <a:buSzPct val="100000"/>
              <a:buFont typeface="+mj-lt"/>
              <a:buAutoNum type="arabicPeriod" startAt="1"/>
            </a:pPr>
            <a:r>
              <a:rPr lang="en-US" sz="1200" dirty="0">
                <a:solidFill>
                  <a:srgbClr val="1E293B"/>
                </a:solidFill>
                <a:latin typeface="Calibri" pitchFamily="34" charset="0"/>
                <a:ea typeface="Calibri" pitchFamily="34" charset="-122"/>
                <a:cs typeface="Calibri" pitchFamily="34" charset="-120"/>
              </a:rPr>
              <a:t>Opsi e (4 minuman): minuman 6 − 4 = 2 → (2 + 4)/(2 + 4 + 5) = 6/11 ≠ 2/3 ✗.</a:t>
            </a:r>
            <a:endParaRPr lang="en-US" sz="1200" dirty="0"/>
          </a:p>
        </p:txBody>
      </p:sp>
      <p:sp>
        <p:nvSpPr>
          <p:cNvPr id="9" name="Text 7"/>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Kotak terakhir di foto kunci salah berlabel "Cek jawaban d"; seharusnya "Cek jawaban e".</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24  ·  Modus Data Kelompok</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Tabel nilai ulangan matematika kelas XI SMA Z:</a:t>
            </a: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58–60: 2 | 61–63: 6 | 64–66: 9 | 67–69: 6 | 70–72: 4 | 73–75: 3</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Modus dari data tersebut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64,0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64,5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65,0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65,5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66,0</a:t>
            </a:r>
            <a:endParaRPr lang="en-US" sz="16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65,0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Frekuensi terbesar = 9 → kelas modus 64–66.</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Tepi bawah = 63,5; d₁ = 9 − 6 = 3; d₂ = 9 − 6 = 3; panjang kelas p = 3.</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Mo = 63,5 + (3/(3+3)) × 3 = 63,5 + 1,5 = 65,0.</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25  ·  Barisan Geometri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Pada uji beban jembatan, beban di tiga titik tumpuan pertama adalah 500 kg, 1.000 kg, dan 2.000 kg, dan pola yang sama berlanjut. Beton pracetak mengalami retak jika diberi beban tunggal yang melampaui 128 ton pada satu titik.</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Pada titik tumpuan ke-berapa beban yang diberikan untuk pertama kalinya mencapai batas keamanan struktur?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Titik ke-7</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Titik ke-8</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Titik ke-9</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Titik ke-10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Titik ke-11</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Titik ke-9</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Rasio = 1.000/500 = 2 → barisan geometri, Uₙ = 500 × 2ⁿ⁻¹ kg.</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Batas = 128 ton = 128.000 kg → 500 × 2ⁿ⁻¹ = 128.000 → 2ⁿ⁻¹ = 256 = 2⁸.</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n − 1 = 8 → n = 9. Jawaban: titik ke-9.</a:t>
            </a:r>
            <a:endParaRPr lang="en-US" sz="16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26  ·  Program Linear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Mebel "Awet" membuat meja (butuh 2 m² kayu, 4 jam kerja) dan kursi (1 m² kayu, 3 jam kerja). Kayu maksimal 20 m²/hari, waktu maksimal 48 jam/hari. Untung 1 meja Rp500.000 dan 1 kursi Rp300.000.</a:t>
            </a:r>
            <a:endParaRPr lang="en-US" sz="1300" dirty="0"/>
          </a:p>
          <a:p>
            <a:pPr indent="0" marL="0">
              <a:spcAft>
                <a:spcPts val="800"/>
              </a:spcAft>
              <a:buNone/>
            </a:pPr>
            <a:endParaRPr lang="en-US" sz="1300" dirty="0"/>
          </a:p>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Pilih semua pernyataan yang benar!</a:t>
            </a:r>
            <a:endParaRPr lang="en-US" sz="1300" dirty="0"/>
          </a:p>
          <a:p>
            <a:pPr indent="0" marL="0">
              <a:spcAft>
                <a:spcPts val="400"/>
              </a:spcAft>
              <a:buNone/>
            </a:pPr>
            <a:r>
              <a:rPr lang="en-US" sz="1300" i="1" dirty="0">
                <a:solidFill>
                  <a:srgbClr val="1E293B"/>
                </a:solidFill>
                <a:latin typeface="Calibri" pitchFamily="34" charset="0"/>
                <a:ea typeface="Calibri" pitchFamily="34" charset="-122"/>
                <a:cs typeface="Calibri" pitchFamily="34" charset="-120"/>
              </a:rPr>
              <a:t>(Pilih semua jawaban yang benar)</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a. Mebel tidak dapat memproduksi 6 unit meja dan 5 unit kursi secara bersamaan.</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b. Jika mebel hanya memproduksi kursi, jumlah maksimum yang dapat dihasilkan adalah 16 unit.</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c. Memproduksi 2 meja dan 10 kursi menghasilkan keuntungan yang lebih besar daripada memproduksi 8 meja saja.</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d. Keuntungan maksimum yang diperoleh adalah Rp5.400.000,00.</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200" b="1" dirty="0">
                <a:solidFill>
                  <a:srgbClr val="059669"/>
                </a:solidFill>
                <a:latin typeface="Calibri" pitchFamily="34" charset="0"/>
                <a:ea typeface="Calibri" pitchFamily="34" charset="-122"/>
                <a:cs typeface="Calibri" pitchFamily="34" charset="-120"/>
              </a:rPr>
              <a:t>Jawaban: b. Jika mebel hanya memproduksi kursi, jumlah maksimum yang dapat dihasilkan adalah 16 unit.  |  d. Keuntungan maksimum yang diperoleh adalah Rp5.400.000,00.</a:t>
            </a:r>
            <a:endParaRPr lang="en-US" sz="12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Model: 2x + y ≤ 20 dan 4x + 3y ≤ 48; maksimumkan 500.000x + 300.000y.</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1 salah: 6 meja + 5 kursi memakai 17 m² kayu dan 39 jam → masih memenuhi.</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2 benar: hanya kursi → y ≤ 20 (kayu) dan 3y ≤ 48 → y ≤ 16.</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3 salah: 2 meja + 10 kursi = Rp4.000.000, sama dengan 8 meja = Rp4.000.000 (tidak lebih besar).</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Titik potong 2x + y = 20 dan 4x + 3y = 48 → x = 6, y = 8 → 3.000.000 + 2.400.000 = Rp5.400.000; titik lain lebih kecil (10 meja = 5,0 juta; 16 kursi = 4,8 juta). Pernyataan 4 benar.</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27  ·  Dimensi Tiga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Kubus PQRS.TUVW panjang rusuk 12 cm (T, U, V, W berturut-turut di atas P, Q, R, S). Titik O berada tepat di perpotongan diagonal PR dan QS.</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Jarak titik V ke O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3√6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6√2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6√6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12√2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12√3 cm</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6√6 cm</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Diagonal alas PR = 12√2, sehingga OR = ½ × 12√2 = 6√2.</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VR adalah rusuk tegak = 12 dan VR ⟂ alas, sehingga segitiga VRO siku-siku di 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VO = √(12² + (6√2)²) = √(144 + 72) = √216 = 6√6 cm.</a:t>
            </a:r>
            <a:endParaRPr lang="en-US" sz="16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28  ·  Peluang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Sekolah P memiliki 6 grup band putra dan 4 grup band putri. Dua perwakilan dipilih secara acak satu persatu. Peluang terambil grup band putra pada pengambilan pertama dan grup band putri pada pengambilan kedua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6/25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4/15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2/5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13/25</a:t>
            </a:r>
            <a:endParaRPr lang="en-US" sz="1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4/15</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Total grup = 10. P(putra pertama) = 6/10.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Tanpa pengembalian: sisa 9 grup, putri tetap 4 → P(putri kedua) = 4/9.</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Peluang = 6/10 × 4/9 = 24/90 = 4/15.</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29  ·  Volume Gabungan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100" dirty="0">
                <a:solidFill>
                  <a:srgbClr val="1E293B"/>
                </a:solidFill>
                <a:latin typeface="Calibri" pitchFamily="34" charset="0"/>
                <a:ea typeface="Calibri" pitchFamily="34" charset="-122"/>
                <a:cs typeface="Calibri" pitchFamily="34" charset="-120"/>
              </a:rPr>
              <a:t>Kemasan keju A = tabung (jari-jari 4 cm, tinggi 10 cm) + kerucut di atasnya (tinggi 6 cm). Kemasan keju B = balok alas persegi 8 × 8 cm, tinggi 10 cm + limas di atasnya (tinggi 6 cm). Usulan manajer: mulai Januari setiap kemasan diisi 75% volumenya.</a:t>
            </a:r>
            <a:endParaRPr lang="en-US" sz="1100" dirty="0"/>
          </a:p>
          <a:p>
            <a:pPr indent="0" marL="0">
              <a:spcAft>
                <a:spcPts val="800"/>
              </a:spcAft>
              <a:buNone/>
            </a:pPr>
            <a:endParaRPr lang="en-US" sz="1100" dirty="0"/>
          </a:p>
          <a:p>
            <a:pPr indent="0" marL="0">
              <a:spcAft>
                <a:spcPts val="800"/>
              </a:spcAft>
              <a:buNone/>
            </a:pPr>
            <a:r>
              <a:rPr lang="en-US" sz="1100" dirty="0">
                <a:solidFill>
                  <a:srgbClr val="1E293B"/>
                </a:solidFill>
                <a:latin typeface="Calibri" pitchFamily="34" charset="0"/>
                <a:ea typeface="Calibri" pitchFamily="34" charset="-122"/>
                <a:cs typeface="Calibri" pitchFamily="34" charset="-120"/>
              </a:rPr>
              <a:t>Supermarket memesan 150 keju kemasan A dan 200 keju kemasan B. Adonan tersedia 220 liter. Apakah usulan dapat diterapkan?</a:t>
            </a:r>
            <a:endParaRPr lang="en-US" sz="1100" dirty="0"/>
          </a:p>
          <a:p>
            <a:pPr indent="0" marL="0">
              <a:spcAft>
                <a:spcPts val="400"/>
              </a:spcAft>
              <a:buNone/>
            </a:pPr>
            <a:r>
              <a:rPr lang="en-US" sz="1100" dirty="0">
                <a:solidFill>
                  <a:srgbClr val="1E293B"/>
                </a:solidFill>
                <a:latin typeface="Calibri" pitchFamily="34" charset="0"/>
                <a:ea typeface="Calibri" pitchFamily="34" charset="-122"/>
                <a:cs typeface="Calibri" pitchFamily="34" charset="-120"/>
              </a:rPr>
              <a:t>a. Usulan tersebut tepat, karena meskipun aturan pengisian berubah, kebutuhan adonan tetap kurang dari 220 liter sehingga persediaan masih mencukupi.</a:t>
            </a:r>
            <a:endParaRPr lang="en-US" sz="1100" dirty="0"/>
          </a:p>
          <a:p>
            <a:pPr indent="0" marL="0">
              <a:spcAft>
                <a:spcPts val="400"/>
              </a:spcAft>
              <a:buNone/>
            </a:pPr>
            <a:r>
              <a:rPr lang="en-US" sz="1100" dirty="0">
                <a:solidFill>
                  <a:srgbClr val="1E293B"/>
                </a:solidFill>
                <a:latin typeface="Calibri" pitchFamily="34" charset="0"/>
                <a:ea typeface="Calibri" pitchFamily="34" charset="-122"/>
                <a:cs typeface="Calibri" pitchFamily="34" charset="-120"/>
              </a:rPr>
              <a:t>b. Usulan tersebut tepat, karena penurunan volume hanya terjadi pada Keju Kemasan A sehingga tidak memengaruhi kecukupan persediaan secara keseluruhan.</a:t>
            </a:r>
            <a:endParaRPr lang="en-US" sz="1100" dirty="0"/>
          </a:p>
          <a:p>
            <a:pPr indent="0" marL="0">
              <a:spcAft>
                <a:spcPts val="400"/>
              </a:spcAft>
              <a:buNone/>
            </a:pPr>
            <a:r>
              <a:rPr lang="en-US" sz="1100" dirty="0">
                <a:solidFill>
                  <a:srgbClr val="1E293B"/>
                </a:solidFill>
                <a:latin typeface="Calibri" pitchFamily="34" charset="0"/>
                <a:ea typeface="Calibri" pitchFamily="34" charset="-122"/>
                <a:cs typeface="Calibri" pitchFamily="34" charset="-120"/>
              </a:rPr>
              <a:t>c. Usulan tersebut kurang tepat, karena peningkatan pengisian menyebabkan kebutuhan adonan bertambah, tetapi persediaan 220 liter masih mencukupi.</a:t>
            </a:r>
            <a:endParaRPr lang="en-US" sz="1100" dirty="0"/>
          </a:p>
          <a:p>
            <a:pPr indent="0" marL="0">
              <a:spcAft>
                <a:spcPts val="400"/>
              </a:spcAft>
              <a:buNone/>
            </a:pPr>
            <a:r>
              <a:rPr lang="en-US" sz="1100" dirty="0">
                <a:solidFill>
                  <a:srgbClr val="1E293B"/>
                </a:solidFill>
                <a:latin typeface="Calibri" pitchFamily="34" charset="0"/>
                <a:ea typeface="Calibri" pitchFamily="34" charset="-122"/>
                <a:cs typeface="Calibri" pitchFamily="34" charset="-120"/>
              </a:rPr>
              <a:t>d. Usulan tersebut tidak tepat, karena peningkatan pengisian pada kedua jenis kemasan menyebabkan kebutuhan adonan melebihi 220 liter.</a:t>
            </a:r>
            <a:endParaRPr lang="en-US" sz="1100" dirty="0"/>
          </a:p>
          <a:p>
            <a:pPr indent="0" marL="0">
              <a:spcAft>
                <a:spcPts val="400"/>
              </a:spcAft>
              <a:buNone/>
            </a:pPr>
            <a:r>
              <a:rPr lang="en-US" sz="1100" dirty="0">
                <a:solidFill>
                  <a:srgbClr val="1E293B"/>
                </a:solidFill>
                <a:latin typeface="Calibri" pitchFamily="34" charset="0"/>
                <a:ea typeface="Calibri" pitchFamily="34" charset="-122"/>
                <a:cs typeface="Calibri" pitchFamily="34" charset="-120"/>
              </a:rPr>
              <a:t>e. Usulan tersebut tidak tepat, karena perubahan aturan pengisian tidak memengaruhi kebutuhan adonan, melainkan hanya mengubah bentuk kemasan.</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200" b="1" dirty="0">
                <a:solidFill>
                  <a:srgbClr val="059669"/>
                </a:solidFill>
                <a:latin typeface="Calibri" pitchFamily="34" charset="0"/>
                <a:ea typeface="Calibri" pitchFamily="34" charset="-122"/>
                <a:cs typeface="Calibri" pitchFamily="34" charset="-120"/>
              </a:rPr>
              <a:t>Jawaban: a. Usulan tersebut tepat, karena meskipun aturan pengisian berubah, kebutuhan adonan tetap kurang dari 220 liter sehingga persediaan masih mencukupi.</a:t>
            </a:r>
            <a:endParaRPr lang="en-US" sz="12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Volume A = π·4²·10 + ⅓·π·4²·6 = 160π + 32π = 192π ≈ 603 cm³. Volume B = 8·8·10 + ⅓·64·6 = 640 + 128 = 768 cm³.</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Dengan 75%: A ≈ 452 cm³ dan B = 576 cm³. Kebutuhan = 150 × 452 + 200 × 576 ≈ 67.860 + 115.200 = 183.060 cm³ ≈ 183 liter &lt; 220 liter.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Tanpa aturan baru: 150 × 603 + 200 × 768 ≈ 244 liter (&gt; 220), sehingga aturan baru justru menghemat dan persediaan cukup.</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30  ·  Deret Geometri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200" dirty="0">
                <a:solidFill>
                  <a:srgbClr val="1E293B"/>
                </a:solidFill>
                <a:latin typeface="Calibri" pitchFamily="34" charset="0"/>
                <a:ea typeface="Calibri" pitchFamily="34" charset="-122"/>
                <a:cs typeface="Calibri" pitchFamily="34" charset="-120"/>
              </a:rPr>
              <a:t>Uji beban jembatan: beban di tiga titik pertama 500 kg, 1.000 kg, 2.000 kg dengan pola tetap. Konsultan menghitung total beban kumulatif untuk pengujian titik ke-5 sampai ke-7. Beban statis yang disiapkan 32 ton. Pilih semua pernyataan benar!</a:t>
            </a:r>
            <a:endParaRPr lang="en-US" sz="1200" dirty="0"/>
          </a:p>
          <a:p>
            <a:pPr indent="0" marL="0">
              <a:spcAft>
                <a:spcPts val="400"/>
              </a:spcAft>
              <a:buNone/>
            </a:pPr>
            <a:r>
              <a:rPr lang="en-US" sz="1200" i="1" dirty="0">
                <a:solidFill>
                  <a:srgbClr val="1E293B"/>
                </a:solidFill>
                <a:latin typeface="Calibri" pitchFamily="34" charset="0"/>
                <a:ea typeface="Calibri" pitchFamily="34" charset="-122"/>
                <a:cs typeface="Calibri" pitchFamily="34" charset="-120"/>
              </a:rPr>
              <a:t>(Pilih semua jawaban yang benar)</a:t>
            </a:r>
            <a:endParaRPr lang="en-US" sz="1200" dirty="0"/>
          </a:p>
          <a:p>
            <a:pPr indent="0" marL="0">
              <a:spcAft>
                <a:spcPts val="400"/>
              </a:spcAft>
              <a:buNone/>
            </a:pPr>
            <a:r>
              <a:rPr lang="en-US" sz="1200" dirty="0">
                <a:solidFill>
                  <a:srgbClr val="1E293B"/>
                </a:solidFill>
                <a:latin typeface="Calibri" pitchFamily="34" charset="0"/>
                <a:ea typeface="Calibri" pitchFamily="34" charset="-122"/>
                <a:cs typeface="Calibri" pitchFamily="34" charset="-120"/>
              </a:rPr>
              <a:t>a. Beban statis yang disediakan tim logistik cukup untuk pengujian tonase hingga titik tumpuan ke-6.</a:t>
            </a:r>
            <a:endParaRPr lang="en-US" sz="1200" dirty="0"/>
          </a:p>
          <a:p>
            <a:pPr indent="0" marL="0">
              <a:spcAft>
                <a:spcPts val="400"/>
              </a:spcAft>
              <a:buNone/>
            </a:pPr>
            <a:r>
              <a:rPr lang="en-US" sz="1200" dirty="0">
                <a:solidFill>
                  <a:srgbClr val="1E293B"/>
                </a:solidFill>
                <a:latin typeface="Calibri" pitchFamily="34" charset="0"/>
                <a:ea typeface="Calibri" pitchFamily="34" charset="-122"/>
                <a:cs typeface="Calibri" pitchFamily="34" charset="-120"/>
              </a:rPr>
              <a:t>b. Diperlukan tambahan beban statis sebesar 30 ton apabila pengujian tonase dilakukan hingga titik tumpuan ke-7.</a:t>
            </a:r>
            <a:endParaRPr lang="en-US" sz="1200" dirty="0"/>
          </a:p>
          <a:p>
            <a:pPr indent="0" marL="0">
              <a:spcAft>
                <a:spcPts val="400"/>
              </a:spcAft>
              <a:buNone/>
            </a:pPr>
            <a:r>
              <a:rPr lang="en-US" sz="1200" dirty="0">
                <a:solidFill>
                  <a:srgbClr val="1E293B"/>
                </a:solidFill>
                <a:latin typeface="Calibri" pitchFamily="34" charset="0"/>
                <a:ea typeface="Calibri" pitchFamily="34" charset="-122"/>
                <a:cs typeface="Calibri" pitchFamily="34" charset="-120"/>
              </a:rPr>
              <a:t>c. Terdapat sisa beban sebesar 15,5 ton setelah proses alokasi pengujian tonase hingga titik tumpuan ke-5 selesai.</a:t>
            </a:r>
            <a:endParaRPr lang="en-US" sz="1200" dirty="0"/>
          </a:p>
          <a:p>
            <a:pPr indent="0" marL="0">
              <a:spcAft>
                <a:spcPts val="400"/>
              </a:spcAft>
              <a:buNone/>
            </a:pPr>
            <a:r>
              <a:rPr lang="en-US" sz="1200" dirty="0">
                <a:solidFill>
                  <a:srgbClr val="1E293B"/>
                </a:solidFill>
                <a:latin typeface="Calibri" pitchFamily="34" charset="0"/>
                <a:ea typeface="Calibri" pitchFamily="34" charset="-122"/>
                <a:cs typeface="Calibri" pitchFamily="34" charset="-120"/>
              </a:rPr>
              <a:t>d. Beton melewati batas beban setelah titik tumpuan ke-5 saat batas elastisitas kumulatif beton pracetak adalah 20 ton.</a:t>
            </a:r>
            <a:endParaRPr lang="en-US"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200" b="1" dirty="0">
                <a:solidFill>
                  <a:srgbClr val="059669"/>
                </a:solidFill>
                <a:latin typeface="Calibri" pitchFamily="34" charset="0"/>
                <a:ea typeface="Calibri" pitchFamily="34" charset="-122"/>
                <a:cs typeface="Calibri" pitchFamily="34" charset="-120"/>
              </a:rPr>
              <a:t>Jawaban: a. Beban statis yang disediakan tim logistik cukup untuk pengujian tonase hingga titik tumpuan ke-6.  |  d. Beton melewati batas beban setelah titik tumpuan ke-5 saat batas elastisitas kumulatif beton pracetak adalah 20 ton.</a:t>
            </a:r>
            <a:endParaRPr lang="en-US" sz="12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Deret geometri a = 500, r = 2: Sₙ = 500(2ⁿ − 1) kg. S₅ = 15.500 kg = 15,5 ton; S₆ = 31.500 kg = 31,5 ton; S₇ = 63.500 kg = 63,5 ton.</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1 benar: S₆ = 31,5 ton ≤ 32 ton.</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2 salah: butuh 63,5 − 32 = 31,5 ton tambahan (bukan 30).</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3 salah: sisa = 32 − 15,5 = 16,5 ton (bukan 15,5).</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4 benar: S₅ = 15,5 ton ≤ 20 ton, tetapi S₆ = 31,5 ton &gt; 20 ton → batas terlewati setelah titik ke-5 (saat titik ke-6).</a:t>
            </a:r>
            <a:endParaRPr lang="en-US" sz="13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31  ·  Diagram &amp; Data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200" dirty="0">
                <a:solidFill>
                  <a:srgbClr val="1E293B"/>
                </a:solidFill>
                <a:latin typeface="Calibri" pitchFamily="34" charset="0"/>
                <a:ea typeface="Calibri" pitchFamily="34" charset="-122"/>
                <a:cs typeface="Calibri" pitchFamily="34" charset="-120"/>
              </a:rPr>
              <a:t>Jumlah kunjungan wisatawan mancanegara (ribu orang): Australia 120, China 85, Malaysia 65, Jepang 40 (dibaca dari diagram batang, perkiraan).</a:t>
            </a:r>
            <a:endParaRPr lang="en-US" sz="1200" dirty="0"/>
          </a:p>
          <a:p>
            <a:pPr indent="0" marL="0">
              <a:spcAft>
                <a:spcPts val="800"/>
              </a:spcAft>
              <a:buNone/>
            </a:pPr>
            <a:r>
              <a:rPr lang="en-US" sz="1200" dirty="0">
                <a:solidFill>
                  <a:srgbClr val="1E293B"/>
                </a:solidFill>
                <a:latin typeface="Calibri" pitchFamily="34" charset="0"/>
                <a:ea typeface="Calibri" pitchFamily="34" charset="-122"/>
                <a:cs typeface="Calibri" pitchFamily="34" charset="-120"/>
              </a:rPr>
              <a:t>Aktivitas favorit: Australia 80% Wisata Budaya &amp; 20% Berselancar dan Pantai; China 40% Belanja &amp; 60% Wisata Kuliner; Malaysia 90% Perawatan Tubuh &amp; 10% Wisata Budaya; Jepang 70% Wisata Kuliner &amp; 30% Belanja.</a:t>
            </a:r>
            <a:endParaRPr lang="en-US" sz="1200" dirty="0"/>
          </a:p>
          <a:p>
            <a:pPr indent="0" marL="0">
              <a:spcAft>
                <a:spcPts val="800"/>
              </a:spcAft>
              <a:buNone/>
            </a:pPr>
            <a:endParaRPr lang="en-US" sz="1200" dirty="0"/>
          </a:p>
          <a:p>
            <a:pPr indent="0" marL="0">
              <a:spcAft>
                <a:spcPts val="800"/>
              </a:spcAft>
              <a:buNone/>
            </a:pPr>
            <a:r>
              <a:rPr lang="en-US" sz="1200" dirty="0">
                <a:solidFill>
                  <a:srgbClr val="1E293B"/>
                </a:solidFill>
                <a:latin typeface="Calibri" pitchFamily="34" charset="0"/>
                <a:ea typeface="Calibri" pitchFamily="34" charset="-122"/>
                <a:cs typeface="Calibri" pitchFamily="34" charset="-120"/>
              </a:rPr>
              <a:t>Bagaimana potensi jumlah wisatawan pada biro perjalanan? Tentukan Benar atau Salah!</a:t>
            </a:r>
            <a:endParaRPr lang="en-US" sz="1200" dirty="0"/>
          </a:p>
          <a:p>
            <a:pPr indent="0" marL="0">
              <a:spcAft>
                <a:spcPts val="400"/>
              </a:spcAft>
              <a:buNone/>
            </a:pPr>
            <a:r>
              <a:rPr lang="en-US" sz="1200" b="1" dirty="0">
                <a:solidFill>
                  <a:srgbClr val="1E293B"/>
                </a:solidFill>
                <a:latin typeface="Calibri" pitchFamily="34" charset="0"/>
                <a:ea typeface="Calibri" pitchFamily="34" charset="-122"/>
                <a:cs typeface="Calibri" pitchFamily="34" charset="-120"/>
              </a:rPr>
              <a:t>Tentukan Benar atau Salah:</a:t>
            </a:r>
            <a:endParaRPr lang="en-US" sz="1200" dirty="0"/>
          </a:p>
          <a:p>
            <a:pPr indent="0" marL="0">
              <a:spcAft>
                <a:spcPts val="400"/>
              </a:spcAft>
              <a:buNone/>
            </a:pPr>
            <a:r>
              <a:rPr lang="en-US" sz="1200" dirty="0">
                <a:solidFill>
                  <a:srgbClr val="1E293B"/>
                </a:solidFill>
                <a:latin typeface="Calibri" pitchFamily="34" charset="0"/>
                <a:ea typeface="Calibri" pitchFamily="34" charset="-122"/>
                <a:cs typeface="Calibri" pitchFamily="34" charset="-120"/>
              </a:rPr>
              <a:t>1. Peningkatan iklan Berselancar untuk wisatawan Australia berpotensi mendatangkan volume wisatawan lebih besar daripada iklan Wisata Kuliner untuk wisatawan Jepang.</a:t>
            </a:r>
            <a:endParaRPr lang="en-US" sz="1200" dirty="0"/>
          </a:p>
          <a:p>
            <a:pPr indent="0" marL="0">
              <a:spcAft>
                <a:spcPts val="400"/>
              </a:spcAft>
              <a:buNone/>
            </a:pPr>
            <a:r>
              <a:rPr lang="en-US" sz="1200" dirty="0">
                <a:solidFill>
                  <a:srgbClr val="1E293B"/>
                </a:solidFill>
                <a:latin typeface="Calibri" pitchFamily="34" charset="0"/>
                <a:ea typeface="Calibri" pitchFamily="34" charset="-122"/>
                <a:cs typeface="Calibri" pitchFamily="34" charset="-120"/>
              </a:rPr>
              <a:t>2. Target pasar wisatawan Perawatan Tubuh asal Malaysia lebih besar dibandingkan wisatawan Kuliner asal China.</a:t>
            </a:r>
            <a:endParaRPr lang="en-US" sz="1200" dirty="0"/>
          </a:p>
          <a:p>
            <a:pPr indent="0" marL="0">
              <a:spcAft>
                <a:spcPts val="400"/>
              </a:spcAft>
              <a:buNone/>
            </a:pPr>
            <a:r>
              <a:rPr lang="en-US" sz="1200" dirty="0">
                <a:solidFill>
                  <a:srgbClr val="1E293B"/>
                </a:solidFill>
                <a:latin typeface="Calibri" pitchFamily="34" charset="0"/>
                <a:ea typeface="Calibri" pitchFamily="34" charset="-122"/>
                <a:cs typeface="Calibri" pitchFamily="34" charset="-120"/>
              </a:rPr>
              <a:t>3. Potensi wisatawan Belanja asal Jepang lebih kecil dibandingkan wisatawan Belanja asal China.</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1: Berselancar Australia = 20% × 120 = 24 ribu; Kuliner Jepang = 70% × 40 = 28 ribu → 24 &lt; 28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2: Perawatan Tubuh Malaysia = 90% × 65 = 58,5 ribu; Kuliner China = 60% × 85 = 51 ribu → 58,5 &gt; 51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3: Belanja Jepang = 30% × 40 = 12 ribu; Belanja China = 40% × 85 = 34 ribu → 12 &lt; 34 → Benar.</a:t>
            </a:r>
            <a:endParaRPr lang="en-US" sz="1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32  ·  Modus Data Kelompok</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Data gaji bulanan karyawan (juta rupiah): 5–7: 4 | 8–10: 9 | 11–13: tidak terbaca | 14–16: 24 | 17–19: 18 | 20–22: 3.</a:t>
            </a: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Modus gaji karyawan adalah Rp15.750.000.</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Berapakah nilai data yang tidak terbaca?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6</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14</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20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21</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28</a:t>
            </a:r>
            <a:endParaRPr lang="en-US" sz="16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6</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Modus 15,75 berada di kelas 14–16 (frekuensi terbesar 24): tb = 13,5; p = 3.</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d₁ = 24 − x; d₂ = 24 − 18 = 6.</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13,5 + ((24 − x)/(30 − x)) × 3 = 15,75 → (24 − x)/(30 − x) = 0,75.</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24 − x = 22,5 − 0,75x → 1,5 = 0,25x → x = 6.</a:t>
            </a:r>
            <a:endParaRPr lang="en-US" sz="16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33  ·  Peluang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Doorprize 40 kupon: 5 tiket gratis pp Jakarta–Kuala Lumpur, 5 tiket gratis pp Jakarta–Bangkok, 10 voucher hotel bintang lima, 10 voucher hotel bintang empat, 10 voucher kosong. Kupon kosong dimasukkan kembali.</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Anto orang ke-6. Sebelumnya terambil: 1 tiket Jakarta–Kuala Lumpur, 1 tiket Jakarta–Bangkok, 2 voucher hotel bintang empat; satu orang lain gagal (kosong, dikembalikan).</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Peluang Anto mendapatkan tiket gratis pp Jakarta–Kuala Lumpur?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1/10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1/9</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4/35</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5/36</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1/7</a:t>
            </a:r>
            <a:endParaRPr lang="en-US" sz="14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1/9</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Sisa kupon: tiket KL 4, tiket Bangkok 4, bintang lima 10, bintang empat 8, kosong 10 (dikembalikan).</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Total = 4 + 4 + 10 + 8 + 10 = 36.</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Peluang tiket KL = 4/36 = 1/9.</a:t>
            </a:r>
            <a:endParaRPr lang="en-US" sz="16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34  ·  Kubus (Kedudukan Garis)</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Diketahui kubus ABCDEFGH seperti pada gambar. Bagaimana hubungan antara setiap rusuk atau garis yang menghubungkan dua titik pada kubus tersebut?</a:t>
            </a:r>
            <a:endParaRPr lang="en-US" sz="1600" dirty="0"/>
          </a:p>
          <a:p>
            <a:pPr indent="0" marL="0">
              <a:spcAft>
                <a:spcPts val="400"/>
              </a:spcAft>
              <a:buNone/>
            </a:pPr>
            <a:r>
              <a:rPr lang="en-US" sz="1600" b="1" dirty="0">
                <a:solidFill>
                  <a:srgbClr val="1E293B"/>
                </a:solidFill>
                <a:latin typeface="Calibri" pitchFamily="34" charset="0"/>
                <a:ea typeface="Calibri" pitchFamily="34" charset="-122"/>
                <a:cs typeface="Calibri" pitchFamily="34" charset="-120"/>
              </a:rPr>
              <a:t>Tentukan Benar atau Salah:</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1. AD tegak lurus FG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2. BC sejajar EH</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3. EF memotong CG</a:t>
            </a:r>
            <a:endParaRPr lang="en-US" sz="16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3=Salah</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Sesuai kunci: AD tidak tegak lurus FG → Salah; BC sejajar EH → Benar; EF tidak memotong CG → Salah.</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Cara cek: tentukan rusuk-rusuk yang searah (sejajar) pada gambar kubus, lalu lihat apakah dua garis berpotongan atau bersilangan.</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Gambar kubus tidak ikut dimasukkan; cocokkan dengan gambar pada soal asli.</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35  ·  Operasi Pecahan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1/4 + 7/4 × 8/21 =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8/21</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8/11</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11/12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16/21</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2 8/21</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11/12</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Kerjakan perkalian dulu: 7/4 × 8/21 = 56/84 = 2/3.</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1/4 + 2/3 = 3/12 + 8/12 = 11/12.</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36  ·  Data Tabel</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Keuntungan toko bunga Amel (Rp): Januari 1.100.000 | Februari 1.450.000 | Maret 1.200.000 | April 1.530.000 | Mei 2.120.000 | Juni 1.509.000 | Juli 2.090.000.</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Keuntungan pada bulan manakah yang mengalami penurunan signifikan?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Februari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Maret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April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Mei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Juni</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e. Juni</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Bulan yang turun dari bulan sebelumnya: Maret (−250.000) dan Juni (−611.000).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Penurunan terbesar terjadi pada Juni (2.120.000 → 1.509.000).</a:t>
            </a:r>
            <a:endParaRPr lang="en-US" sz="1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37  ·  Program Linear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Mima bermodal Rp8.000.000. Kue bolu: biaya Rp15.000/kotak, laba 40%. Kue brownies: biaya Rp20.000/kotak, laba 35%. Maksimal 500 kotak per hari. Agar untung maksimum, tentukan Benar atau Salah!</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Mima harus memproduksi 200 kotak kue bolu.</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Mima harus memproduksi kue brownies lebih banyak.</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Keuntungan maksimum yang diperoleh Mima adalah Rp3.100.000,00.</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2=Salah,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Laba bolu = 40% × 15.000 = Rp6.000; laba brownies = 35% × 20.000 = Rp7.000.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Kendala: x + y ≤ 500 dan 15.000x + 20.000y ≤ 8.000.000. Titik potong: x = 400, y = 100.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Laba: (400,100) = 2.400.000 + 700.000 = Rp3.100.000; (500,0) = 3.000.000; (0,400) = 2.800.000 → maksimum Rp3.100.000.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Jadi bolu 400 kotak (bukan 200) dan brownies lebih sedikit (100) → pernyataan 1 &amp; 2 Salah, 3 Benar.</a:t>
            </a:r>
            <a:endParaRPr lang="en-US" sz="14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38  ·  Luas Gabungan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Satu desain jendela berbentuk persegi panjang lebar 4 m, tinggi 2 m, dengan segitiga sama kaki di atasnya (alas 4 m, tinggi 1,5 m). Pengembang membangun 20 rumah, tiap rumah satu jendela.</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Total luas kebutuhan kaca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11 m²</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14 m²</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140 m²</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220 m²</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280 m²</a:t>
            </a:r>
            <a:endParaRPr lang="en-US" sz="16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220 m²</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Persegi panjang = 4 × 2 = 8 m².</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Segitiga = ½ × 4 × 1,5 = 3 m² → satu jendela = 11 m².</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20 rumah × 11 = 220 m².</a:t>
            </a:r>
            <a:endParaRPr lang="en-US" sz="1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39  ·  Trapesium</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Pada trapesium ABCD: AD = BC, AB sejajar DC, AB &gt; DC, ∠BAD = 70°, ∠ABD = 30°. Tentukan Benar atau Salah!</a:t>
            </a:r>
            <a:endParaRPr lang="en-US" sz="1800" dirty="0"/>
          </a:p>
          <a:p>
            <a:pPr indent="0" marL="0">
              <a:spcAft>
                <a:spcPts val="400"/>
              </a:spcAft>
              <a:buNone/>
            </a:pPr>
            <a:r>
              <a:rPr lang="en-US" sz="1800" b="1" dirty="0">
                <a:solidFill>
                  <a:srgbClr val="1E293B"/>
                </a:solidFill>
                <a:latin typeface="Calibri" pitchFamily="34" charset="0"/>
                <a:ea typeface="Calibri" pitchFamily="34" charset="-122"/>
                <a:cs typeface="Calibri" pitchFamily="34" charset="-120"/>
              </a:rPr>
              <a:t>Tentukan Benar atau Salah:</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1. ∠BCD = 110°</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2. ∠CBD = 40°</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3. ∠BDC = 40°</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2=Benar, 3=Salah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Trapesium sama kaki: ∠ABC = ∠BAD = 70°.</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∠BCD = 180° − 70° = 110° (sepihak dengan ∠ABC) → Benar.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∠CBD = ∠ABC − ∠ABD = 70° − 30° = 40° → Benar.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AB ∥ DC → ∠BDC = ∠ABD = 30° (sudut dalam berseberangan) → ∠BDC = 40° Salah.</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40  ·  Kecukupan Data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Pada trapesium siku-siku ABCD, AB = 3 dan AD ≤ BC. Apakah keliling trapesium tersebut lebih dari 25?</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(1) Luas trapesium ABCD = 24.</a:t>
            </a: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(2) BC = 10 dan CD = 5.</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Pernyataan (1) SAJA cukup, tetapi pernyataan (2) SAJA tidak cukup.</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Pernyataan (2) SAJA cukup, tetapi pernyataan (1) SAJA tidak cukup.</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DUA pernyataan BERSAMA-SAMA cukup, tetapi SATU pernyataan SAJA tidak cukup.</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Pernyataan (1) SAJA cukup dan pernyataan (2) SAJA cukup.</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Pernyataan (1) dan (2) tidak cukup.</a:t>
            </a:r>
            <a:endParaRPr lang="en-US" sz="14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Pernyataan (2) SAJA cukup, tetapi pernyataan (1) SAJA tidak cukup.</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(2): sisi sejajar 3 dan 5 → selisih 2; kaki miring BC = 10 → tinggi = √(10² − 2²) = √96 ≈ 9,8.</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Keliling ≈ 3 + 5 + 10 + 9,8 = 27,8 &gt; 25 → pertanyaan terjawab pasti, jadi (2) saja cukup.</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(1): luas 24 saja tidak menentukan sisi lain secara tunggal → belum cukup.</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Penjelasan mengikuti kunci; asumsi AB dan CD sisi sejajar dari gambar soal asli.</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41  ·  Trigonometri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Suatu tangga dengan panjang 6 meter disandarkan pada dinding vertikal. Sudut yang dibentuk tangga dengan lantai adalah 60°.</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Tinggi dinding yang disentuh ujung atas tangga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 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3√2 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3√3 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4√2 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4√3 meter</a:t>
            </a:r>
            <a:endParaRPr lang="en-US" sz="16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3√3 meter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Tinggi = panjang tangga × sin 60° = 6 × ½√3 = 3√3 meter.</a:t>
            </a:r>
            <a:endParaRPr 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42  ·  Rata-rata &amp; Jangkauan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Rata-rata nilai ulangan 17 murid (skala 100) adalah 83. Ada 3 murid mengikuti ujian susulan sehingga rata-rata 20 murid menjadi 82. Pilih semua pernyataan yang benar tentang nilai ketiga murid susulan!</a:t>
            </a:r>
            <a:endParaRPr lang="en-US" sz="1300" dirty="0"/>
          </a:p>
          <a:p>
            <a:pPr indent="0" marL="0">
              <a:spcAft>
                <a:spcPts val="400"/>
              </a:spcAft>
              <a:buNone/>
            </a:pPr>
            <a:r>
              <a:rPr lang="en-US" sz="1300" i="1" dirty="0">
                <a:solidFill>
                  <a:srgbClr val="1E293B"/>
                </a:solidFill>
                <a:latin typeface="Calibri" pitchFamily="34" charset="0"/>
                <a:ea typeface="Calibri" pitchFamily="34" charset="-122"/>
                <a:cs typeface="Calibri" pitchFamily="34" charset="-120"/>
              </a:rPr>
              <a:t>(Pilih semua jawaban yang benar)</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a. Jumlah nilai ketiga murid yang mengikuti ujian susulan adalah 229.</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b. Rata-rata nilai ketiga murid yang mengikuti ujian susulan lebih dari 70.</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c. Nilai terendah dari ketiga murid yang mengikuti ujian susulan tidak kurang dari 29.</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d. Nilai tertinggi dari ketiga murid yang mengikuti ujian susulan lebih dari 76.</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e. Jangkauan data nilai ketiga murid yang mengikuti ujian susulan lebih dari 72.</a:t>
            </a:r>
            <a:endParaRPr lang="en-US" sz="13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200" b="1" dirty="0">
                <a:solidFill>
                  <a:srgbClr val="059669"/>
                </a:solidFill>
                <a:latin typeface="Calibri" pitchFamily="34" charset="0"/>
                <a:ea typeface="Calibri" pitchFamily="34" charset="-122"/>
                <a:cs typeface="Calibri" pitchFamily="34" charset="-120"/>
              </a:rPr>
              <a:t>Jawaban: a. Jumlah nilai ketiga murid yang mengikuti ujian susulan adalah 229.  |  b. Rata-rata nilai ketiga murid yang mengikuti ujian susulan lebih dari 70.  |  c. Nilai terendah dari ketiga murid yang mengikuti ujian susulan tidak kurang dari 29.  |  d. Nilai tertinggi dari ketiga murid yang mengikuti ujian susulan lebih dari 76.</a:t>
            </a:r>
            <a:endParaRPr lang="en-US" sz="12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Jumlah 20 murid = 20 × 82 = 1.640; jumlah 17 murid = 17 × 83 = 1.411 → jumlah 3 murid = 229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Rata-rata 3 murid = 229/3 ≈ 76,3 &gt; 70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Nilai maksimal 100 → dua nilai tertinggi ≤ 200, sehingga nilai terendah ≥ 229 − 200 = 29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Rata-rata 76,3 → nilai tertinggi pasti ≥ 76,3 &gt; 76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Jangkauan terbesar = 100 − 29 = 71 (nilai 100, 100, 29), tidak mungkin &gt; 72 (salah).</a:t>
            </a:r>
            <a:endParaRPr lang="en-US" sz="1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43  ·  Fungsi Kuadrat</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Fungsi f didefinisikan oleh f(x) = 4(x² − 8x + 12). Tentukan Benar atau Salah terkait grafik fungsi f!</a:t>
            </a:r>
            <a:endParaRPr lang="en-US" sz="1600" dirty="0"/>
          </a:p>
          <a:p>
            <a:pPr indent="0" marL="0">
              <a:spcAft>
                <a:spcPts val="400"/>
              </a:spcAft>
              <a:buNone/>
            </a:pPr>
            <a:r>
              <a:rPr lang="en-US" sz="1600" b="1" dirty="0">
                <a:solidFill>
                  <a:srgbClr val="1E293B"/>
                </a:solidFill>
                <a:latin typeface="Calibri" pitchFamily="34" charset="0"/>
                <a:ea typeface="Calibri" pitchFamily="34" charset="-122"/>
                <a:cs typeface="Calibri" pitchFamily="34" charset="-120"/>
              </a:rPr>
              <a:t>Tentukan Benar atau Salah:</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1. Grafik fungsi f terbuka ke atas.</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2. Grafik fungsi f memotong garis y = −18.</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3. Grafik fungsi f tidak melalui kuadran tiga.</a:t>
            </a:r>
            <a:endParaRPr lang="en-US" sz="16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Koefisien x² = 4 &gt; 0 → terbuka ke atas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Titik puncak di x = 4: f(4) = 4(16 − 32 + 12) = −16. Nilai minimum −16 &gt; −18, jadi tidak memotong y = −18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f(x) = 4(x − 2)(x − 6) memotong sumbu X di 2 dan 6. Untuk x &lt; 0 nilai f positif, sehingga tidak ada titik dengan x &lt; 0 dan y &lt; 0 → tidak melalui kuadran III (Benar).</a:t>
            </a:r>
            <a:endParaRPr lang="en-US" sz="14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44  ·  Fungsi Linear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Tagihan listrik: f(x) = 1.350x + 25.000 (x = kWh). Tagihan yang diterima Andi bulan ini Rp160.000, dan ia menyadari penggunaan bulan terakhir lebih tinggi dari penggunaan biasa.</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Biasanya berapa besar penggunaan listrik di apartemen Andi? (Pilih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85 kWh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90 kWh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100 kWh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120 kWh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137 kWh</a:t>
            </a:r>
            <a:endParaRPr lang="en-US" sz="14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85 kWh  |  b. 90 kWh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160.000 = 1.350x + 25.000 → 1.350x = 135.000 → x = 100 kWh bulan terakhir.</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Penggunaan biasa lebih kecil dari 100 kWh → 85 kWh dan 90 kWh.</a:t>
            </a:r>
            <a:endParaRPr lang="en-US" sz="18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45  ·  Skala &amp; Perbandingan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Desain gedung berukuran 60 cm × 60 cm diproyeksikan ke layar 2,4 m × 1,8 m. Skala pembesaran = 0,6 × jarak (m), jarak proyektor 3 meter.</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Perbandingan ukuran tampilan desain di layar adalah 1 : 1.</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Ukuran panjang dan lebar tampilan desain pada layar adalah lebih dari 1 meter.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Terdapat bagian gambar asli desain yang terpotong dalam tampilan pada layar.</a:t>
            </a:r>
            <a:endParaRPr lang="en-US" sz="14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2=Benar, 3=Salah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Skala = 0,6 × 3 = 1,8 kali → tampilan 60 × 1,8 = 108 cm × 108 cm = 1,08 m × 1,08 m.</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Panjang : lebar = 1 : 1 (Benar); 1,08 m &gt; 1 m (Benar).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Layar 2,4 m × 1,8 m lebih besar dari 1,08 m × 1,08 m → tidak ada bagian terpotong (Salah).</a:t>
            </a:r>
            <a:endParaRPr lang="en-US" sz="16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46  ·  Kaidah Pencacahan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Kode akses kupon terdiri dari lima karakter berformat AXBYC: A, B, C = huruf dan X, Y = angka. Tidak boleh ada angka dan huruf yang diulang.</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 banyak kode akses berbeda yang dapat dibuat?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1.263.600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1.352.000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1.404.000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1.423.656</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1.757.600</a:t>
            </a:r>
            <a:endParaRPr lang="en-US" sz="16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059669"/>
                </a:solidFill>
                <a:latin typeface="Calibri" pitchFamily="34" charset="0"/>
                <a:ea typeface="Calibri" pitchFamily="34" charset="-122"/>
                <a:cs typeface="Calibri" pitchFamily="34" charset="-120"/>
              </a:rPr>
              <a:t>Sesuai kunci foto</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1.404.000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Huruf: 26 × 25 × 24 = 15.600 (tanpa pengulangan).</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Angka: 10 × 9 = 90.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Total = 15.600 × 90 = 1.404.000.</a:t>
            </a:r>
            <a:endParaRPr lang="en-US" sz="18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  ·  Membandingkan Bilangan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Kapasitas listrik tiap pembangkit dari total listrik 40.000 megawatt: PLTU = 1/2 dari total, PLTA = 0,075, PLTG = 5%, PLTGU = 30%, PLTD = 3/40.</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Jenis pembangkit listrik yang menghasilkan listrik terbesar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PLTA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PLTG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PLTU</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PLTGU</a:t>
            </a:r>
            <a:endParaRPr lang="en-US" sz="16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PLTU</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Ubah semua ke desimal: PLTU = 1/2 = 0,5; PLTA = 0,075; PLTG = 5% = 0,05; PLTGU = 30% = 0,3; PLTD = 3/40 = 0,075.</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Terbesar = 0,5 → PLTU (setara 20.000 MW).</a:t>
            </a:r>
            <a:endParaRPr lang="en-US" sz="16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  ·  Mengurutkan Bilangan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Empat siswa mengikuti tantangan membaca buku selama satu bulan: Andi membaca 50% dari target, Beni 0,4, Citra 3/5, dan Dinda 45%.</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Urutan siswa dari yang membaca paling sedikit hingga paling banyak adalah ....</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Andi, Beni, Dinda, Citra</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Beni, Dinda, Andi, Citra</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Dinda, Beni, Andi, Citra</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Beni, Andi, Dinda, Citra</a:t>
            </a:r>
            <a:endParaRPr lang="en-US" sz="14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Beni, Dinda, Andi, Citra</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Samakan ke desimal: Andi 0,50; Beni 0,40; Citra 3/5 = 0,60; Dinda 0,45.</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Urut kecil ke besar: Beni (0,40), Dinda (0,45), Andi (0,50), Citra (0,60).</a:t>
            </a:r>
            <a:endParaRPr lang="en-US" sz="18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  ·  Operasi Bilangan Cacah</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Pada Januari 2024 terdapat 150 karung beras (karung jenis A 5 kg, jenis B 3 kg) yang akan dibagikan ke beberapa keluarga kurang mampu. Setiap keluarga memperoleh beras dengan jumlah yang sama dan menerima lebih dari satu karung.</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Berapa banyak keluarga yang mungkin menerima beras pada Januari 2024? (Klik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30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25</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20</a:t>
            </a:r>
            <a:endParaRPr lang="en-US" sz="14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30  |  b. 25</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Jumlah keluarga harus membagi habis 150 karung dan tiap keluarga menerima &gt; 1 karung.</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150 : 30 = 5 karung → bisa. 150 : 25 = 6 karung → bisa. 150 : 20 = 7,5 → tidak bulat → tidak bisa.</a:t>
            </a:r>
            <a:endParaRPr lang="en-US" sz="16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  ·  Operasi Bilangan Cacah</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Pemerintah desa membagikan minyak goreng. Pada Februari 2024 tersedia 180 jeriken untuk dibagikan ke beberapa keluarga. Setiap keluarga menerima jumlah jeriken yang sama dan lebih dari satu jeriken.</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Berapa banyak keluarga yang mungkin menerima bantuan tersebut? (Klik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45</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36</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32</a:t>
            </a:r>
            <a:endParaRPr lang="en-US" sz="14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45  |  b. 36</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Banyak keluarga harus membagi habis 180.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180 : 45 = 4 jeriken → bisa. 180 : 36 = 5 jeriken → bisa. 180 : 32 = 5,625 → tidak bulat → tidak bisa.</a:t>
            </a:r>
            <a:endParaRPr lang="en-US" sz="18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5  ·  Operasi Bilangan Cacah</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Juli 2024: persediaan beras 1.500 kg, seluruhnya dikemas dalam karung jenis B (berat 3 kg per karung). Beras dibagikan kepada 450 keluarga, masing-masing mendapat satu karung.</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 karung beras yang tersisa?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500 karung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300 karung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150 karung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50 karung</a:t>
            </a:r>
            <a:endParaRPr lang="en-US" sz="16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50 karung</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Jumlah karung = 1.500 : 3 = 500 karung.</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Sisa = 500 − 450 = 50 karung.</a:t>
            </a:r>
            <a:endParaRPr lang="en-US" sz="18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6  ·  Operasi Bilangan Cacah</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Agustus 2024: persediaan beras 2.400 kg, seluruhnya dikemas dalam karung jenis A (berat 4 kg per karung). Sebanyak 500 keluarga menerima masing-masing 1 karung.</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 karung beras yang masih tersisa?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120 karung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100 karung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80 karung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60 karung</a:t>
            </a:r>
            <a:endParaRPr lang="en-US" sz="16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100 karung</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Jumlah karung = 2.400 : 4 = 600 karung.</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Sisa = 600 − 500 = 100 karung.</a:t>
            </a:r>
            <a:endParaRPr lang="en-US" sz="18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7  ·  Kalimat Matematika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Sebuah karung kentang berisi 100 kg. Dari satu karung telah dibuat keripik dan masih tersisa 4 kg. Setiap 1 kg kentang dapat dibuat 6 bungkus keripik, dan setiap kardus memuat 12 bungkus.</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Perhitungan yang tepat untuk menentukan banyak kardus yang dibutuhkan adalah ....</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(100 − 4) × 6 : 12</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(100 − 4) : 6 × 12</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(100 + 4) × 6 : 12</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(100 + 4) : 6 × 12</a:t>
            </a:r>
            <a:endParaRPr lang="en-US" sz="14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(100 − 4) × 6 : 12</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Kentang yang diolah = 100 − 4 = 96 kg.</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Bungkus keripik = 96 × 6.</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Kardus = jumlah bungkus : 12 → (100 − 4) × 6 : 12.</a:t>
            </a:r>
            <a:endParaRPr lang="en-US" sz="18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8  ·  Kalimat Matematika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Satu drum sirup berisi 80 liter. Telah digunakan untuk membuat minuman dan masih tersisa 8 liter. Setiap 1 liter sirup dapat dibuat 5 botol minuman, dan setiap kardus memuat 10 botol.</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Perhitungan yang tepat untuk menentukan banyak kardus yang dibutuhkan adalah ....</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(80 − 8) × 5 : 10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(80 + 8) × 5 : 10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(80 − 8) : 5 × 10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(80 + 8) : 5 × 10</a:t>
            </a:r>
            <a:endParaRPr lang="en-US" sz="14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(80 − 8) × 5 : 10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Sirup yang dipakai = 80 − 8 = 72 liter.</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Botol = 72 × 5; kardus = botol : 10 → (80 − 8) × 5 : 10.</a:t>
            </a:r>
            <a:endParaRPr lang="en-US" sz="18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9  ·  Diagram Alir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Program: masukkan sebuah bilangan → tambahkan 5 → apakah hasilnya kelipatan 6? Ya: dibagi 3; Tidak: dikurangi 5 → kalikan dengan 2 → hasil akhir.</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Jika yang dimasukkan adalah bilangan ganjil, maka hasil akhir juga bilangan ganjil.</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Hasil akhir adalah nol jika bilangan yang dimasukkan adalah bilangan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Jika bilangan yang dimasukkan adalah bilangan genap, maka hasil akhir adalah bilangan kelipatan dua.</a:t>
            </a:r>
            <a:endParaRPr lang="en-US" sz="14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Langkah terakhir selalu dikali 2, jadi hasil akhir selalu genap → pernyataan 1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Input 0: 0 + 5 = 5 (bukan kelipatan 6) → 5 − 5 = 0 → 0 × 2 = 0 → pernyataan 2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Hasil akhir selalu dikali 2 sehingga selalu kelipatan dua (genap masuk → n + 5 ganjil, bukan kelipatan 6 → n → 2n) → pernyataan 3 Benar.</a:t>
            </a:r>
            <a:endParaRPr lang="en-US" sz="14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10  ·  Diagram Alir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Program: masukkan sebuah bilangan → kalikan dengan 4 → apakah hasilnya kelipatan 8? Ya: tambahkan 6; Tidak: kurangi 2 → bagi dengan 2 → hasil akhir.</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Jika bilangan yang dimasukkan adalah 2, maka hasil akhirnya adalah 7.</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Jika bilangan yang dimasukkan adalah bilangan genap, maka hasil akhirnya selalu bilangan genap.</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Jika bilangan yang dimasukkan adalah 1, maka hasil akhirnya adalah 1.</a:t>
            </a:r>
            <a:endParaRPr lang="en-US" sz="14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Input 2: 2 × 4 = 8 (kelipatan 8) → 8 + 6 = 14 → 14 : 2 = 7 → Benar.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Input genap, misal 2, hasilnya 7 (ganjil) → pernyataan 2 Salah.</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Input 1: 1 × 4 = 4 (bukan kelipatan 8) → 4 − 2 = 2 → 2 : 2 = 1 → Benar.</a:t>
            </a:r>
            <a:endParaRPr lang="en-US" sz="16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11  ·  Operasi Hitung Campuran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Hasil dari 3/25 × 3 7/6 + 135 : 15 adalah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2 1/2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9 1/30</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9 1/2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32/225</a:t>
            </a:r>
            <a:endParaRPr lang="en-US" sz="18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9 1/2</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3 7/6 = 3 + 7/6 = 25/6.</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3/25 × 25/6 = 3/6 = 1/2.</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135 : 15 = 9, sehingga hasilnya 1/2 + 9 = 9 1/2.</a:t>
            </a:r>
            <a:endParaRPr lang="en-US" sz="18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Penulisan "3 7/6" dibaca dari gambar buram; hanya pembacaan ini yang menghasilkan salah satu opsi.</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12  ·  Operasi Hitung Campuran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Hasil dari 4/15 × 2 1/2 + 96 : 12 adalah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8 2/3</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8 1/15</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8 4/15</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9 1/15</a:t>
            </a:r>
            <a:endParaRPr lang="en-US" sz="18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8 2/3</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2 1/2 = 5/2, sehingga 4/15 × 5/2 = 20/30 = 2/3.</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96 : 12 = 8.</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Hasil = 2/3 + 8 = 8 2/3.</a:t>
            </a:r>
            <a:endParaRPr lang="en-US" sz="18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13  ·  Persamaan Sederhana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Di dalam suatu wadah terdapat 25 benda berbeda jenis. Sebanyak 12 benda feromagnetik dan 7 benda paramagnetik. Sisanya diamagnetik. Setelah itu benda diamagnetik ditambah sehingga menjadi 9 benda.</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Berapakah benda diamagnetik yang baru ditambahkan?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 benda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5 benda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9 benda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15 benda</a:t>
            </a:r>
            <a:endParaRPr lang="en-US" sz="16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3 benda</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Diamagnetik awal = 25 − 12 − 7 = 6 benda.</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6 + x = 9 → x = 3 benda.</a:t>
            </a:r>
            <a:endParaRPr lang="en-US" sz="18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Persamaan Sederhana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Di sebuah perpustakaan terdapat 40 buku: 18 buku cerita, 12 buku pengetahuan, sisanya buku keterampilan. Beberapa buku keterampilan baru ditambahkan sehingga jumlahnya menjadi 15 buku.</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 banyak buku keterampilan yang baru ditambahkan?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 buku</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5 buku</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7 buku</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10 buku</a:t>
            </a:r>
            <a:endParaRPr lang="en-US" sz="16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5 buku</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Buku keterampilan awal = 40 − 18 − 12 = 10 buku.</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10 + x = 15 → x = 5 buku.</a:t>
            </a:r>
            <a:endParaRPr lang="en-US" sz="18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15  ·  Persamaan Sederhana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Tiga kincir air menghasilkan daya per hari: Kincir A 94 watt, Kincir B 82 watt, Kincir C 96 watt. Ketiganya dicoba selama dua hari. Sisa daya yang belum digunakan: Kincir A 42 watt, B 13 watt, C 30 watt.</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Daya listrik dari kincir mana saja yang telah digunakan warga lebih dari 150 watt? (Pilih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Kincir A</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Kincir B</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Kincir C</a:t>
            </a:r>
            <a:endParaRPr lang="en-US" sz="14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Kincir B  |  c. Kincir C</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Daya digunakan = (daya per hari × 2) − sisa.</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94 × 2 − 42 = 146 watt (tidak lebih dari 150).</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 82 × 2 − 13 = 151 watt (&gt; 150). C: 96 × 2 − 30 = 162 watt (&gt; 150).</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Angka daya pada gambar buram (94, 82, 96); hasil B hanya selisih 1 dari 150.</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16  ·  Persamaan Sederhana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Tiga panel surya menghasilkan energi per hari: A 88 watt, B 95 watt, C 84 watt. Digunakan selama 2 hari. Sisa energi: A 20 watt, B 25 watt, C 18 watt.</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Panel mana saja yang energinya telah digunakan lebih dari 150 watt? (Pilih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Panel surya A</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Panel surya B</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Panel surya C</a:t>
            </a:r>
            <a:endParaRPr lang="en-US" sz="14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Panel surya A  |  b. Panel surya B</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Energi digunakan = (hasil per hari × 2) − sisa.</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176 − 20 = 156 watt (&gt; 150). B: 190 − 25 = 165 watt (&gt; 150). C: 168 − 18 = 150 watt (tidak lebih dari 150).</a:t>
            </a:r>
            <a:endParaRPr lang="en-US" sz="16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17  ·  Persamaan Sederhana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Infografis manfaat ikan salmon: protein sekitar 20 gram per porsi. Jika dalam satu sajian ikan salmon terdapat 80 gram protein, berapa porsi salmon yang disajikan?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8 porsi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6 porsi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4 porsi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2 porsi</a:t>
            </a:r>
            <a:endParaRPr lang="en-US" sz="16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4 porsi</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Satu porsi mengandung 20 gram protein.</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80 : 20 = 4 porsi.</a:t>
            </a:r>
            <a:endParaRPr lang="en-US" sz="18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Angka 20 gram dibaca dari infografis yang kecil/buram.</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18  ·  Persamaan Sederhana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Infografis manfaat buah pisang: kalium sekitar 422 mg per porsi. Jika seseorang mengonsumsi pisang dan mendapat 844 mg kalium, berapa porsi pisang yang dikonsumsi?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 porsi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2 porsi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3 porsi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4 porsi</a:t>
            </a:r>
            <a:endParaRPr lang="en-US" sz="16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2 porsi</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844 : 422 = 2 porsi.</a:t>
            </a:r>
            <a:endParaRPr lang="en-US" sz="18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19  ·  Persamaan Sederhana (Resep Keju)</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1 resep keju: 2 gelas susu sapi (1 gelas = 200 ml), 4 sendok teh cuka (1 sendok teh = 5 ml), garam 4 gr. Seseorang membuat 5 kali resep dengan persediaan 2.000 ml susu sapi segar, 140 ml cuka, dan 16 gr garam. Tentukan Benar atau Salah!</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Seharusnya disediakan garam sebanyak 20 gr.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Terdapat kekurangan cuka sebanyak 40 ml.</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Tidak perlu tambahkan susu sapi segar.</a:t>
            </a:r>
            <a:endParaRPr lang="en-US" sz="14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5 resep: susu 5 × 2 × 200 = 2.000 ml; cuka 5 × 4 × 5 = 100 ml; garam 5 × 4 = 20 gr.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Garam seharusnya 20 gr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Cuka tersedia 140 ml dari kebutuhan 100 ml → kelebihan 40 ml, bukan kekurangan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Susu 2.000 ml = kebutuhan → tidak perlu tambah → Benar.</a:t>
            </a:r>
            <a:endParaRPr lang="en-US" sz="14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20  ·  Operasi Bilangan (Resep)</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Satu resep jus mangga: 3 buah mangga, 2 gelas air (1 gelas = 250 ml), 4 sendok makan gula cair (1 sdm = 15 ml), 1 sendok teh perasan jeruk nipis (1 sdt = 5 ml). Dibuat 4 kali resep dengan persediaan 12 mangga, 2.000 ml air, 300 ml gula cair, 25 ml perasan jeruk nipis.</a:t>
            </a:r>
            <a:endParaRPr lang="en-US" sz="1300" dirty="0"/>
          </a:p>
          <a:p>
            <a:pPr indent="0" marL="0">
              <a:spcAft>
                <a:spcPts val="800"/>
              </a:spcAft>
              <a:buNone/>
            </a:pPr>
            <a:endParaRPr lang="en-US" sz="1300" dirty="0"/>
          </a:p>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Tentukan Benar atau Salah!</a:t>
            </a:r>
            <a:endParaRPr lang="en-US" sz="1300" dirty="0"/>
          </a:p>
          <a:p>
            <a:pPr indent="0" marL="0">
              <a:spcAft>
                <a:spcPts val="400"/>
              </a:spcAft>
              <a:buNone/>
            </a:pPr>
            <a:r>
              <a:rPr lang="en-US" sz="1300" b="1" dirty="0">
                <a:solidFill>
                  <a:srgbClr val="1E293B"/>
                </a:solidFill>
                <a:latin typeface="Calibri" pitchFamily="34" charset="0"/>
                <a:ea typeface="Calibri" pitchFamily="34" charset="-122"/>
                <a:cs typeface="Calibri" pitchFamily="34" charset="-120"/>
              </a:rPr>
              <a:t>Tentukan Benar atau Salah:</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1. Persediaan mangga cukup untuk membuat 4 kali resep tanpa perlu membeli tambahan.</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2. Setelah membuat 4 kali resep, gula cair yang tersisa adalah 60 ml.</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3. Persediaan perasan jeruk nipis lebih banyak 5 ml daripada yang dibutuhkan untuk membuat 4 kali resep.</a:t>
            </a:r>
            <a:endParaRPr lang="en-US" sz="13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2=Benar, 3=Benar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Kebutuhan 4 resep: mangga 12 buah; air 2.000 ml; gula cair 4 × 15 × 4 = 240 ml; jeruk nipis 5 × 4 = 20 ml.</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Mangga 12 = 12 → cukup (Benar). Gula cair 300 − 240 = 60 ml (Benar). Jeruk nipis 25 − 20 = 5 ml lebih banyak (Benar).</a:t>
            </a:r>
            <a:endParaRPr lang="en-US" sz="16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21  ·  Pecahan dari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Potongan persegi panjang (gambar di bawah) mewakili 1/6 dari suatu objek utuh. Manakah dari gambar berikut yang merupakan gambar objek utuh tersebut? Tentukan Benar atau Salah pada setiap gambar!</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Gambar 1: 6 persegi panjang sama besar disusun 3 kolom × 2 baris</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Gambar 2: 6 bagian dengan kolom tengah lebih sempit dari kolom kiri dan kanan</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Gambar 3: 6 persegi panjang sama besar disusun membentuk huruf U</a:t>
            </a:r>
            <a:endParaRPr lang="en-US" sz="14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21  ·  Gambar</a:t>
            </a:r>
            <a:endParaRPr lang="en-US" sz="2000" dirty="0"/>
          </a:p>
        </p:txBody>
      </p:sp>
      <p:pic>
        <p:nvPicPr>
          <p:cNvPr id="3" name="Image 0" descr="../assets/soal/l3-pecahan1.jpg">    </p:cNvPr>
          <p:cNvPicPr>
            <a:picLocks noChangeAspect="1"/>
          </p:cNvPicPr>
          <p:nvPr/>
        </p:nvPicPr>
        <p:blipFill>
          <a:blip r:embed="rId1"/>
          <a:stretch>
            <a:fillRect/>
          </a:stretch>
        </p:blipFill>
        <p:spPr>
          <a:xfrm>
            <a:off x="3031808" y="914400"/>
            <a:ext cx="3080385" cy="3840480"/>
          </a:xfrm>
          <a:prstGeom prst="rect">
            <a:avLst/>
          </a:prstGeom>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3=Benar</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Potongan 1/6 berarti objek utuh terdiri dari 6 bagian yang sama besar dan sama dengan potongan tersebut.</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1: 6 bagian sama besar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2: kolom tengah lebih sempit → bagian tidak sama besar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3: 6 bagian sama besar (susunannya berbeda tetapi ukuran sama) → Benar.</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Gambar kecil; kesamaan ukuran bagian dinilai dari gambar diperbesar. Soal no. 2 (potongan 1/8) belum dimasukkan karena jumlah petaknya sulit dihitung.</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22  ·  Pecahan dari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Potongan persegi (gambar) mewakili 1/8 dari suatu objek utuh. Manakah dari gambar berikut yang merupakan gambar objek utuh tersebut? Tentukan Benar atau Salah pada setiap gambar!</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Gambar 1: 8 persegi sama besar disusun 4 kolom × 2 baris</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Gambar 2: susunan huruf L dari 5 persegi vertikal ditambah 3 persegi mendatar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Gambar 3: satu baris 8 persegi, dua di antaranya lebih sempit</a:t>
            </a:r>
            <a:endParaRPr lang="en-US" sz="14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22  ·  Gambar</a:t>
            </a:r>
            <a:endParaRPr lang="en-US" sz="2000" dirty="0"/>
          </a:p>
        </p:txBody>
      </p:sp>
      <p:pic>
        <p:nvPicPr>
          <p:cNvPr id="3" name="Image 0" descr="../assets/soal/l3-pecahan2.jpg">    </p:cNvPr>
          <p:cNvPicPr>
            <a:picLocks noChangeAspect="1"/>
          </p:cNvPicPr>
          <p:nvPr/>
        </p:nvPicPr>
        <p:blipFill>
          <a:blip r:embed="rId1"/>
          <a:stretch>
            <a:fillRect/>
          </a:stretch>
        </p:blipFill>
        <p:spPr>
          <a:xfrm>
            <a:off x="1951437" y="914400"/>
            <a:ext cx="5241126" cy="3840480"/>
          </a:xfrm>
          <a:prstGeom prst="rect">
            <a:avLst/>
          </a:prstGeom>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2=Benar, 3=Salah</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Potongan 1/8 berarti objek utuh terdiri dari 8 bagian yang sama besar dan sama dengan potongan itu.</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1: 4 × 2 = 8 persegi sama besar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2: kolom tegak 5 persegi (termasuk sudut) + 3 persegi mendatar = 8 persegi sama besar (bentuk L tidak masalah)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3: ada 8 petak, tetapi dua petak lebih sempit dari yang lain → bagian tidak sama besar → Salah.</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Jumlah dan lebar petak dihitung dari gambar diperbesar.</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  ·  Ciri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Perajin kayu membuat hiasan dinding berbentuk huruf E (satu bidang datar, tiga lengan segi empat). Bagaimana ciri-ciri hiasan dinding tersebut? Tentukan Benar atau Salah!</a:t>
            </a:r>
            <a:endParaRPr lang="en-US" sz="1600" dirty="0"/>
          </a:p>
          <a:p>
            <a:pPr indent="0" marL="0">
              <a:spcAft>
                <a:spcPts val="400"/>
              </a:spcAft>
              <a:buNone/>
            </a:pPr>
            <a:r>
              <a:rPr lang="en-US" sz="1600" b="1" dirty="0">
                <a:solidFill>
                  <a:srgbClr val="1E293B"/>
                </a:solidFill>
                <a:latin typeface="Calibri" pitchFamily="34" charset="0"/>
                <a:ea typeface="Calibri" pitchFamily="34" charset="-122"/>
                <a:cs typeface="Calibri" pitchFamily="34" charset="-120"/>
              </a:rPr>
              <a:t>Tentukan Benar atau Salah:</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1. Memiliki 12 sisi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2. Terdapat 12 titik sudut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3. Terdapat 10 sudut siku-siku</a:t>
            </a:r>
            <a:endParaRPr lang="en-US" sz="16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2=Benar, 3=Salah</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Telusuri tepi huruf E: ada 12 sisi lurus dan 12 titik sudut (pertemuan tiap dua sisi) → pernyataan 1 dan 2 Benar.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Semua sisinya tegak lurus, sehingga 12 titik sudutnya berbentuk sudut siku-siku (sudut 90° atau 270°), bukan 10 → pernyataan 3 Salah.</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Jumlah sisi/titik sudut dihitung dari gambar huruf E yang kecil.</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  ·  Ciri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Perajin kayu membuat hiasan dinding berbentuk huruf F (satu bidang datar). Tentukan Benar atau Salah!</a:t>
            </a:r>
            <a:endParaRPr lang="en-US" sz="1600" dirty="0"/>
          </a:p>
          <a:p>
            <a:pPr indent="0" marL="0">
              <a:spcAft>
                <a:spcPts val="400"/>
              </a:spcAft>
              <a:buNone/>
            </a:pPr>
            <a:r>
              <a:rPr lang="en-US" sz="1600" b="1" dirty="0">
                <a:solidFill>
                  <a:srgbClr val="1E293B"/>
                </a:solidFill>
                <a:latin typeface="Calibri" pitchFamily="34" charset="0"/>
                <a:ea typeface="Calibri" pitchFamily="34" charset="-122"/>
                <a:cs typeface="Calibri" pitchFamily="34" charset="-120"/>
              </a:rPr>
              <a:t>Tentukan Benar atau Salah:</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1. Semua sudut pada bangun merupakan sudut siku-siku</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2. Memiliki 8 sisi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3. Memiliki 8 titik sudut</a:t>
            </a:r>
            <a:endParaRPr lang="en-US" sz="16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3=Salah</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Semua sisi huruf F saling tegak lurus (horizontal/vertikal) sehingga setiap sudutnya siku-siku → pernyataan 1 Benar.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Telusuri tepi huruf F: ada 10 sisi dan 10 titik sudut, bukan 8 → pernyataan 2 dan 3 Salah.</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Penentuan "sudut siku-siku" mengikuti tafsir soal E (sudut 90° dan 270° dianggap siku-siku).</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  ·  Segi Banyak dari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Segi banyak berbentuk panah dibentuk dari gabungan beberapa bangun datar tanpa beririsan: segitiga di atas bagian kiri, persegi panjang sebagai badan, segitiga runcing di kanan, dan segitiga di bawah. Tentukan Benar atau Salah!</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3 segitiga dan 1 persegi panjang</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4 segitiga dan 1 trapesium</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5 segitiga dan 1 layang-layang</a:t>
            </a:r>
            <a:endParaRPr lang="en-US" sz="14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3=Salah</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Uraikan gambar: badan = 1 persegi panjang; ujung atas, ujung kanan, dan ujung bawah masing-masing 1 segitiga → 3 segitiga dan 1 persegi panjang.</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Pilihan 2 dan 3 tidak sesuai dengan penguraian tersebut.</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Gambar pada soal kecil dan buram; penguraian berdasarkan bentuk yang terlihat.</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  ·  Segi Banyak dari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Segi banyak berbentuk tanda panah empat arah (✥) dibentuk dari gabungan beberapa bangun datar tanpa beririsan. Tentukan Benar atau Salah!</a:t>
            </a:r>
            <a:endParaRPr lang="en-US" sz="1600" dirty="0"/>
          </a:p>
          <a:p>
            <a:pPr indent="0" marL="0">
              <a:spcAft>
                <a:spcPts val="400"/>
              </a:spcAft>
              <a:buNone/>
            </a:pPr>
            <a:r>
              <a:rPr lang="en-US" sz="1600" b="1" dirty="0">
                <a:solidFill>
                  <a:srgbClr val="1E293B"/>
                </a:solidFill>
                <a:latin typeface="Calibri" pitchFamily="34" charset="0"/>
                <a:ea typeface="Calibri" pitchFamily="34" charset="-122"/>
                <a:cs typeface="Calibri" pitchFamily="34" charset="-120"/>
              </a:rPr>
              <a:t>Tentukan Benar atau Salah:</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1. 4 segitiga dan 5 segiempat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2. 4 segitiga dan 3 segiempat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3. 4 segitiga dan 2 segiempat</a:t>
            </a:r>
            <a:endParaRPr lang="en-US" sz="16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3=Salah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Empat kepala panah (atas, bawah, kiri, kanan) = 4 segitiga.</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Empat batang panah = 4 persegi panjang, ditambah 1 persegi di tengah = 5 segiempat.</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Jadi yang benar: 4 segitiga dan 5 segiempat.</a:t>
            </a:r>
            <a:endParaRPr lang="en-US" sz="16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5  ·  Ciri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Keset jenis 2 berbentuk persegi panjang (panjang 60 cm, lebar 40 cm). Keset jenis 2 diberi hiasan pada setiap sudutnya. Berapa banyak hiasan pada satu keset tersebut?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2 hiasan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4 hiasan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5 hiasan</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6 hiasan</a:t>
            </a:r>
            <a:endParaRPr lang="en-US" sz="16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4 hiasan</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Persegi panjang memiliki 4 titik sudut.</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Satu hiasan di tiap sudut → 4 hiasan.</a:t>
            </a:r>
            <a:endParaRPr lang="en-US" sz="18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6  ·  Ciri Bangun Datar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Keset jenis 3 berbentuk segi enam (heksagon memanjang) berhias kain perca. Pada setiap sudutnya akan diberi satu pita kecil. Berapa banyak pita yang diperlukan untuk menghias satu keset?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4 pita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6 pita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8 pita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12 pita</a:t>
            </a:r>
            <a:endParaRPr lang="en-US" sz="16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6 pita</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Bentuk keset jenis 3 adalah segi enam, sehingga memiliki 6 titik sudut.</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Satu pita per sudut → 6 pita.</a:t>
            </a:r>
            <a:endParaRPr lang="en-US" sz="18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Bentuk keset dibaca dari gambar kecil; dianggap segi enam.</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7  ·  Satuan Baku Panjang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Manakah yang menunjukkan hasil pengukuran yang paling tepat dan masuk akal? (Klik semua yang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Tinggi tiang bendera di sekolah adalah 8 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Jarak rumah Budi ke sekolah adalah 30 milimeter.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Lebar buku tulis ini sekitar 20 centimeter.</a:t>
            </a:r>
            <a:endParaRPr lang="en-US" sz="16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200" b="1" dirty="0">
                <a:solidFill>
                  <a:srgbClr val="059669"/>
                </a:solidFill>
                <a:latin typeface="Calibri" pitchFamily="34" charset="0"/>
                <a:ea typeface="Calibri" pitchFamily="34" charset="-122"/>
                <a:cs typeface="Calibri" pitchFamily="34" charset="-120"/>
              </a:rPr>
              <a:t>Jawaban: a. Tinggi tiang bendera di sekolah adalah 8 meter.  |  c. Lebar buku tulis ini sekitar 20 centimeter.</a:t>
            </a:r>
            <a:endParaRPr lang="en-US" sz="12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Tiang bendera sekolah sekitar beberapa meter → 8 meter masuk akal.</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30 milimeter = 3 cm, jauh terlalu pendek untuk jarak rumah ke sekolah.</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Lebar buku tulis sekitar 20 cm → masuk akal.</a:t>
            </a:r>
            <a:endParaRPr lang="en-US" sz="16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8  ·  Satuan Baku Panjang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Manakah yang menunjukkan hasil pengukuran yang paling tepat dan masuk akal? (Klik semua yang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Panjang meja guru adalah 2 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Tinggi pintu kelas adalah 5 sentimeter.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Tinggi pintu kelas adalah 2 meter.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Panjang pensil adalah 3 kilometer.</a:t>
            </a:r>
            <a:endParaRPr lang="en-US" sz="16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Panjang meja guru adalah 2 meter.  |  c. Tinggi pintu kelas adalah 2 meter.</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Meja guru sekitar 2 meter → masuk akal; tinggi pintu kelas sekitar 2 meter → masuk akal.</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5 cm terlalu pendek untuk tinggi pintu, dan 3 km terlalu panjang untuk sebuah pensil.</a:t>
            </a:r>
            <a:endParaRPr lang="en-US" sz="16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9  ·  Durasi Waktu (Jam Analog)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Bu Nina mulai memasak pada pukul 08.15 (jarum pendek di dekat 8, jarum panjang menunjuk angka 3) dan selesai memasak pada pukul 10.25 (jarum pendek di antara 10 dan 11, jarum panjang menunjuk angka 5).</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Berapa lama Bu Nina memasak makanan tersebut?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2 jam 10 menit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2 jam 40 menit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3 jam 10 menit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3 jam 40 menit</a:t>
            </a:r>
            <a:endParaRPr lang="en-US" sz="14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2 jam 10 menit</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Jarum panjang di angka 3 = 15 menit, di angka 5 = 25 menit. Jarum pendek: mulai di dekat 8 → pukul 08.15; selesai di antara 10 dan 11 → pukul 10.25.</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Durasi = 10.25 − 08.15 = 2 jam 10 menit.</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Pembacaan jarum jam dari gambar kecil diperbesar; cek dengan soal asli (jawaban A).</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10  ·  Operasi Bilangan Cacah</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Jenis keset: Jenis 1 (diameter 40 cm) berat 800 gram, Jenis 2 (60 × 40 cm) berat 1.200 gram, Jenis 3 berat 1.500 gram. Dalam satu kardus ada dua jenis keset berbeda; banyak keset dimaksimalkan, total berat tidak boleh melebihi 10 kg.</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Pilih Benar atau Salah untuk setiap jumlah keset yang sebaiknya dimasukkan!</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12 buah keset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7 buah keset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6 buah keset</a:t>
            </a:r>
            <a:endParaRPr lang="en-US" sz="14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3=Salah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10 kg = 10.000 gram. Agar jumlah paling banyak, pakai dua jenis yang paling ringan: Jenis 1 (800 g) dan Jenis 2 (1.200 g), masing-masing minimal 1.</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Pakai 1 keset Jenis 2 (1.200 g) + 11 keset Jenis 1 (11 × 800 = 8.800 g) = 10.000 g, tepat 10 kg → total 12 keset.</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Tidak mungkin lebih dari 12, sehingga 12 benar sedangkan 7 dan 6 bukan jumlah maksimum.</a:t>
            </a:r>
            <a:endParaRPr lang="en-US" sz="14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11  ·  Durasi Waktu (Jam Analog)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Siti mulai membaca buku pada pukul 01.45 (jarum pendek mendekati 2, jarum panjang menunjuk angka 9) dan selesai pukul 03.20 (jarum pendek di dekat 3, jarum panjang menunjuk angka 4).</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 lama Siti membaca buku?</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 jam 25 menit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 jam 30 menit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 jam 35 menit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 jam 45 menit</a:t>
            </a:r>
            <a:endParaRPr lang="en-US" sz="16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1 jam 35 menit</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Mulai: jarum panjang di 9 = 45 menit → 01.45. Selesai: jarum panjang di 4 = 20 menit → 03.20.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Durasi = 03.20 − 01.45 = 1 jam 35 menit.</a:t>
            </a:r>
            <a:endParaRPr lang="en-US" sz="18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Pembacaan jarum jam dari gambar kecil diperbesar.</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12  ·  Neraca (Perbandingan Berat)</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Berat bahan: tepung tapioka 1.250 g, tepung 500 g, ayam suwir 1.500 g, bawang putih 250 g, cabai 250 g. Tentukan Benar atau Salah untuk setiap gambar neraca!</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Neraca seimbang: bawang putih (kiri) dan cabai (kanan).</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Neraca miring ke kiri (tepung 500 g di kiri lebih berat) dan ayam suwir 1.500 g di kanan.</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Neraca miring ke kanan: tepung 500 g di kiri dan tepung tapioka 1.250 g di kanan.</a:t>
            </a:r>
            <a:endParaRPr lang="en-US" sz="14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1=Benar, 2=Salah, 3=Benar</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Bawang putih 250 g = cabai 250 g → neraca seimbang → Benar.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Tepung 500 g lebih ringan dari ayam 1.500 g, jadi sisi ayam seharusnya lebih turun; pada gambar sisi tepung yang lebih turun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Tepung 500 g lebih ringan dari tapioka 1.250 g → sisi tapioka (kanan) lebih turun, sesuai gambar → Benar.</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Arah miring neraca dibaca dari gambar kecil; soal neraca no. 2 (pensil, penghapus, dll.) belum dimasukkan.</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13  ·  Keliling Segi Banyak</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Sketsa bangun datar segi enam: sisi atas 12 cm, dua sisi miring masing-masing 10 cm (bertanda sama), dua sisi tegak lurus masing-masing 4 cm (bertanda sama), dan sisi bawah 20 cm.</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Keliling bangun tersebut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46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50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56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60 cm</a:t>
            </a:r>
            <a:endParaRPr lang="en-US" sz="16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60 cm</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Sisi yang bertanda sama panjangnya sama: kedua sisi miring 10 cm, kedua sisi tegak 4 cm.</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Keliling = 12 + 10 + 4 + 20 + 4 + 10 = 60 cm.</a:t>
            </a:r>
            <a:endParaRPr lang="en-US" sz="18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Keliling Segi Banyak</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Sketsa segi enam tidak beraturan dengan sisi 10 cm, 7 cm, 5 cm, 12 cm. Sisi kiri bertanda dua garis (sama dengan sisi 5 cm) dan sisi kanan bertanda satu garis (sama dengan sisi 7 cm).</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Keliling bangun tersebut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34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41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46 cm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51 cm</a:t>
            </a:r>
            <a:endParaRPr lang="en-US" sz="16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46 cm</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Sisi kiri = 5 cm (tanda sama dengan sisi 5 cm) dan sisi kanan = 7 cm (tanda sama dengan sisi 7 cm).</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Keliling = 10 + 7 + 5 + 12 + 7 + 5 = 46 cm.</a:t>
            </a:r>
            <a:endParaRPr lang="en-US" sz="18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Tanda kesamaan sisi dibaca dari gambar diperbesar.</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15  ·  Luas Gabungan Segitiga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Segi banyak tersusun dari beberapa segitiga yang berukuran sama. Luas satu segitiga = 16 cm². Berapakah luas segi banyak tersebut?</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176 cm²</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160 cm²</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144 cm²</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128 cm²</a:t>
            </a:r>
            <a:endParaRPr lang="en-US" sz="18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160 cm²</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Hitung banyak segitiga yang menyusun bangun: satu baris tengah berisi 8 segitiga (bergantian menghadap atas dan bawah), ditambah 1 segitiga puncak atas dan 1 segitiga puncak bawah = 10 segitiga.</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Luas = 10 × 16 = 160 cm².</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Banyak segitiga dihitung dari gambar diperbesar (perhitungan luas poligon juga menghasilkan ±10 segitiga).</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16  ·  Luas Jajargenjang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Pada kertas berpetak, segitiga biru kecil memiliki luas 15 cm². Alas jajargenjang = 2 kali alas segitiga dan tingginya = 2 kali tinggi segitiga.</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Berapakah luas segiempat (jajargenjang) yang terbentuk?</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105 cm²</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120 cm²</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135 cm²</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150 cm²</a:t>
            </a:r>
            <a:endParaRPr lang="en-US" sz="16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120 cm²</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Segitiga: ½ × a × t = 15 → a × t = 30.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Jajargenjang: alas 2a, tinggi 2t → luas = 2a × 2t = 4 × a × t = 4 × 30 = 120 cm².</a:t>
            </a:r>
            <a:endParaRPr lang="en-US" sz="18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Perbandingan alas/tinggi dibaca dari gambar kisi (±2 kali).</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17  ·  Luas Persegi Panjang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Lima lukisan: A 60 × 60 cm, B 90 × 80 cm, C 40 × 80 cm, D 40 × 40 cm, E 60 × 80 cm. Jimmi menyediakan tempat berluas 4.800 cm².</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Lukisan mana yang bisa dipajang Jimmi?</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Lukisan A dan B</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Lukisan C dan D</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Lukisan E dan 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Lukisan B dan D</a:t>
            </a:r>
            <a:endParaRPr lang="en-US" sz="16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Lukisan C dan D</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Luas: A = 3.600; B = 7.200; C = 3.200; D = 1.600; E = 4.800 cm².</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B = 10.800 ✗; C + D = 3.200 + 1.600 = 4.800 ✓; E + A = 8.400 ✗; B + D = 8.800 ✗.</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Yang muat tepat 4.800 cm²: lukisan C dan D.</a:t>
            </a:r>
            <a:endParaRPr lang="en-US" sz="16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18  ·  Luas Persegi Panjang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Poster A: 50 × 40 cm, B: 80 × 60 cm, C: 40 × 50 cm, D: 30 × 40 cm, E: 70 × 50 cm. Raka menyediakan tempat di dinding seluas 4.400 cm² untuk dua poster sekaligus.</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Pasangan poster manakah yang dapat dipasang?</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Poster A dan B</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Poster C dan D</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Poster A dan E</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Poster B dan D</a:t>
            </a:r>
            <a:endParaRPr lang="en-US" sz="16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Poster C dan D</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Luas: A = 2.000; B = 4.800; C = 2.000; D = 1.200; E = 3.500 cm².</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B = 6.800 ✗; C + D = 3.200 ✓ (≤ 4.400); A + E = 5.500 ✗; B + D = 6.000 ✗.</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Jawaban: Poster C dan D.</a:t>
            </a:r>
            <a:endParaRPr lang="en-US" sz="16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19  ·  Volume (Tinggi Permukaan Air)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Botol A berisi air merah 450 ml, botol B air hijau 530 ml, botol C air kuning 540 ml, dan botol D air biru 470 ml (ukuran dan bentuk botol sama).</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Manakah gambar yang tepat menunjukkan tinggi permukaan air di setiap botol?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Gambar 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Gambar b</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Gambar c</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Gambar d</a:t>
            </a:r>
            <a:endParaRPr lang="en-US" sz="16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19  ·  Gambar</a:t>
            </a:r>
            <a:endParaRPr lang="en-US" sz="2000" dirty="0"/>
          </a:p>
        </p:txBody>
      </p:sp>
      <p:pic>
        <p:nvPicPr>
          <p:cNvPr id="3" name="Image 0" descr="../assets/soal/l4-botol1.jpg">    </p:cNvPr>
          <p:cNvPicPr>
            <a:picLocks noChangeAspect="1"/>
          </p:cNvPicPr>
          <p:nvPr/>
        </p:nvPicPr>
        <p:blipFill>
          <a:blip r:embed="rId1"/>
          <a:stretch>
            <a:fillRect/>
          </a:stretch>
        </p:blipFill>
        <p:spPr>
          <a:xfrm>
            <a:off x="548640" y="914400"/>
            <a:ext cx="8046720" cy="3366319"/>
          </a:xfrm>
          <a:prstGeom prst="rect">
            <a:avLst/>
          </a:prstGeom>
        </p:spPr>
      </p:pic>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Gambar b</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Botol sama, jadi tinggi air berbanding lurus dengan volume. Urutan dari tertinggi: C (540) &gt; B (530) &gt; D (470) &gt; A (450).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a: D lebih rendah dari A → salah. Gambar c: B lebih tinggi dari C → salah. Gambar d: A paling tinggi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b: urutan tinggi C &gt; B &gt; D &gt; A → benar.</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Urutan tinggi air dibaca dari gambar diperbesar.</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20  ·  Volume (Tinggi Permukaan Air)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Rino mengisi empat botol yang bentuk dan ukurannya sama: botol A 620 ml, botol B 480 ml, botol C 550 ml, dan botol D 670 ml.</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Manakah gambar yang tepat menunjukkan tinggi permukaan air di setiap botol?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Gambar a</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Gambar b</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Gambar c</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Gambar d</a:t>
            </a:r>
            <a:endParaRPr lang="en-US" sz="16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20  ·  Gambar</a:t>
            </a:r>
            <a:endParaRPr lang="en-US" sz="2000" dirty="0"/>
          </a:p>
        </p:txBody>
      </p:sp>
      <p:pic>
        <p:nvPicPr>
          <p:cNvPr id="3" name="Image 0" descr="../assets/soal/l4-botol2.jpg">    </p:cNvPr>
          <p:cNvPicPr>
            <a:picLocks noChangeAspect="1"/>
          </p:cNvPicPr>
          <p:nvPr/>
        </p:nvPicPr>
        <p:blipFill>
          <a:blip r:embed="rId1"/>
          <a:stretch>
            <a:fillRect/>
          </a:stretch>
        </p:blipFill>
        <p:spPr>
          <a:xfrm>
            <a:off x="548640" y="914400"/>
            <a:ext cx="8046720" cy="3447435"/>
          </a:xfrm>
          <a:prstGeom prst="rect">
            <a:avLst/>
          </a:prstGeom>
        </p:spPr>
      </p:pic>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Gambar c</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Urutan volume (tinggi air) dari terbanyak: D (670) &gt; A (620) &gt; C (550) &gt; B (480).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a: B lebih tinggi dari A → salah. Gambar b: C paling rendah, padahal B lebih sedikit → salah. Gambar d: A paling rendah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Gambar c: urutan tinggi D &gt; A &gt; C &gt; B → benar.</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Urutan tinggi air dibaca dari gambar diperbesar.</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21  ·  Neraca (Perbandingan Berat)</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Berat benda: pensil kuning 5 gr, penghapus 3 gr, pensil biru 4 gr, buku tulis 6 gr, rautan 2 gr. Tentukan Benar atau Salah pada setiap gambar neraca!</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Neraca atas: pensil kuning (kiri) dan sebuah benda kecil (kanan) berada seimbang.</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Neraca bawah: pensil biru (kiri) lebih berat dari pensil kuning (kanan), sehingga sisi kiri turun.</a:t>
            </a:r>
            <a:endParaRPr lang="en-US" sz="14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21  ·  Gambar</a:t>
            </a:r>
            <a:endParaRPr lang="en-US" sz="2000" dirty="0"/>
          </a:p>
        </p:txBody>
      </p:sp>
      <p:pic>
        <p:nvPicPr>
          <p:cNvPr id="3" name="Image 0" descr="../assets/soal/l4-neraca2.jpg">    </p:cNvPr>
          <p:cNvPicPr>
            <a:picLocks noChangeAspect="1"/>
          </p:cNvPicPr>
          <p:nvPr/>
        </p:nvPicPr>
        <p:blipFill>
          <a:blip r:embed="rId1"/>
          <a:stretch>
            <a:fillRect/>
          </a:stretch>
        </p:blipFill>
        <p:spPr>
          <a:xfrm>
            <a:off x="2040775" y="914400"/>
            <a:ext cx="5062451" cy="3840480"/>
          </a:xfrm>
          <a:prstGeom prst="rect">
            <a:avLst/>
          </a:prstGeom>
        </p:spPr>
      </p:pic>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2=Salah</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Neraca atas: pensil kuning 5 gr hanya bisa seimbang dengan benda 5 gr, padahal benda lain bobotnya 2, 3, 4, atau 6 gr → tidak mungkin seimbang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Neraca bawah: pensil biru 4 gr lebih ringan dari pensil kuning 5 gr, jadi sisi kuning (kanan) seharusnya turun, bukan naik → Salah.</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Benda di kanan neraca atas buram (penghapus/rautan), tetapi kesimpulan sama untuk benda mana pun.</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22  ·  Operasi Bilangan Cacah</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Tiga jenis keset Desa Sejahtera: Jenis 1 berat 700 gram, Jenis 2 berat 1.000 gram, Jenis 3 berat 900 gram. Dalam satu kardus ada dua jenis keset berbeda, jumlah keset dimaksimalkan, dan total berat tidak boleh lebih dari 10 kg.</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Pilih Benar atau Salah untuk setiap jumlah keset yang sebaiknya dimasukkan!</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15 buah keset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14 buah keset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13 buah keset</a:t>
            </a:r>
            <a:endParaRPr lang="en-US" sz="14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3=Salah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10 kg = 10.000 gram. Agar jumlah terbanyak, pakai dua jenis teringan: Jenis 1 (700 g) dan Jenis 3 (900 g), masing-masing minimal satu.</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1 keset Jenis 3 (900 g) + 13 keset Jenis 1 (13 × 700 = 9.100 g) = 10.000 g → 14 keset.</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15 keset butuh minimal 15 × 700 = 10.500 g (&gt; 10.000 g) → tidak mungkin. Jadi 14 benar, 15 salah, dan 13 bukan jumlah terbanyak.</a:t>
            </a:r>
            <a:endParaRPr lang="en-US" sz="14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23  ·  Susunan Kubus</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Gambar memperlihatkan susunan kubus berukuran sama (tangga kuning dengan sisi kanan biru). Banyak kubus yang menyusun bangun tersebut adalah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16</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21</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24</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28</a:t>
            </a:r>
            <a:endParaRPr lang="en-US" sz="18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23  ·  Gambar</a:t>
            </a:r>
            <a:endParaRPr lang="en-US" sz="2000" dirty="0"/>
          </a:p>
        </p:txBody>
      </p:sp>
      <p:pic>
        <p:nvPicPr>
          <p:cNvPr id="3" name="Image 0" descr="../assets/soal/l4-kubus2.jpg">    </p:cNvPr>
          <p:cNvPicPr>
            <a:picLocks noChangeAspect="1"/>
          </p:cNvPicPr>
          <p:nvPr/>
        </p:nvPicPr>
        <p:blipFill>
          <a:blip r:embed="rId1"/>
          <a:stretch>
            <a:fillRect/>
          </a:stretch>
        </p:blipFill>
        <p:spPr>
          <a:xfrm>
            <a:off x="1476103" y="914400"/>
            <a:ext cx="6191794" cy="3840480"/>
          </a:xfrm>
          <a:prstGeom prst="rect">
            <a:avLst/>
          </a:prstGeom>
        </p:spPr>
      </p:pic>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21</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Bangun dibaca per kolom dan per kedalaman. Tinggi tumpukan (kolom 1 sampai 4, tiap baris kedalaman): kolom 1 = 1, 1, 1; kolom 2 = 1, 2, 2; kolom 3 = 1, 2, 3; kolom 4 = 1, 3, 3.</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Jumlah kubus = 3 + 5 + 6 + 7 = 21.</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Tidak pasti: tinggi tumpukan bagian belakang diperkirakan dari gambar diperbesar. Soal kubus no. 1 dan no. 3 belum dimasukkan karena ambigu.</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  ·  Matriks (Invers)</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Perhatikan matriks F = [[2, 0], [0, 1/2]]. Invers dari matriks F adalah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[[1, 0], [0, 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[[−1, 0], [0, −2]]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[[2, 0], [0, 1]]</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[[−1/2, 0], [0, −2]]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[[1/2, 0], [0, 2]]</a:t>
            </a:r>
            <a:endParaRPr lang="en-US" sz="18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e. [[1/2, 0], [0, 2]]</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F matriks diagonal, sehingga inversnya adalah matriks diagonal dengan elemen kebalikannya.</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F⁻¹ = [[1/2, 0], [0, 1/(1/2)]] = [[1/2, 0], [0, 2]].</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Cek: F · F⁻¹ = [[2·1/2, 0], [0, 1/2·2]] = [[1, 0], [0, 1]] ✓.</a:t>
            </a:r>
            <a:endParaRPr lang="en-US" sz="16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  ·  Sistem Persamaan &amp; Matriks</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Pak Andi memiliki x sapi dan y kambing. Tiap hari tersedia 38 kg rumput gajah dan 34 kg rumput gamal tanpa sisa. Sapi: rumput gajah 10 kg dan gamal 10 kg; kambing: gajah 2 kg dan gamal 1 kg per ekor.</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Maka (x, y) = ....</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[[−1, 1], [10, −5]] · (19, 34) = (15, 20)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[[10, −10], [−1, 2]] · (38, 34) = (4, 3)</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[[−1/10, 2/10], [1, −1]] · (34, 38) = (4, 3)</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[[−1, 2], [10, −10]] · (38, 34) = (3, 4)</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[[−1/5, 1/5], [2, −1]] · (19, 34) = (3, 4)</a:t>
            </a:r>
            <a:endParaRPr lang="en-US" sz="14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  ·  Gambar</a:t>
            </a:r>
            <a:endParaRPr lang="en-US" sz="2000" dirty="0"/>
          </a:p>
        </p:txBody>
      </p:sp>
      <p:pic>
        <p:nvPicPr>
          <p:cNvPr id="3" name="Image 0" descr="../assets/soal/l5-q02.jpg">    </p:cNvPr>
          <p:cNvPicPr>
            <a:picLocks noChangeAspect="1"/>
          </p:cNvPicPr>
          <p:nvPr/>
        </p:nvPicPr>
        <p:blipFill>
          <a:blip r:embed="rId1"/>
          <a:stretch>
            <a:fillRect/>
          </a:stretch>
        </p:blipFill>
        <p:spPr>
          <a:xfrm>
            <a:off x="1529458" y="914400"/>
            <a:ext cx="6085085" cy="3840480"/>
          </a:xfrm>
          <a:prstGeom prst="rect">
            <a:avLst/>
          </a:prstGeom>
        </p:spPr>
      </p:pic>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e. [[−1/5, 1/5], [2, −1]] · (19, 34) = (3, 4)</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Model: 10x + 2y = 38 dan 10x + y = 34. Bagi persamaan pertama dengan 2: 5x + y = 19.</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Bentuk matriks: [[5, 1], [10, 1]] (x, y) = (19, 34). Determinan = 5·1 − 1·10 = −5.</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Invers = (1/−5)·[[1, −1], [−10, 5]] = [[−1/5, 1/5], [2, −1]].</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(x, y) = [[−1/5, 1/5], [2, −1]] · (19, 34) = (−3,8 + 6,8; 38 − 34) = (3, 4) → 3 sapi dan 4 kambing.</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Opsi D: hasil perkalian sebenarnya (30, 40), bukan (3, 4), sehingga salah; hanya opsi E yang perhitungannya benar.</a:t>
            </a:r>
            <a:endParaRPr lang="en-US" sz="13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3  ·  Matriks (Perkalian)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Matriks kebutuhan bahan per botol (J, GM, A): wedang jahe [20, 15, 50], beras kencur [10, 25, 40], kunir asem [12, 8, k]. Pesanan: WJ 100, BK 120, KA 80. Total bahan: J = 4.360 g, GM = 4.960 g, A = 13.000 ml.</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Banyak air untuk satu botol kunir asem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30 ml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35 ml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40 ml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45 ml</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50 ml</a:t>
            </a:r>
            <a:endParaRPr lang="en-US" sz="16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40 ml</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Persamaan air (kolom A): 50·100 + 40·120 + k·80 = 13.000.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5.000 + 4.800 + 80k = 13.000 → 80k = 3.200 → k = 40 ml.</a:t>
            </a:r>
            <a:endParaRPr lang="en-US" sz="18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Catatan: bila dihitung langsung, total J dan GM dari matriks adalah 4.160 dan 5.140, tidak persis sama dengan angka di soal (4.360 dan 4.960). Nilai k tetap ditentukan dari persamaan air dan hasilnya 40 ml (opsi C).</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  ·  Matriks (Pendapatan)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300" dirty="0">
                <a:solidFill>
                  <a:srgbClr val="1E293B"/>
                </a:solidFill>
                <a:latin typeface="Calibri" pitchFamily="34" charset="0"/>
                <a:ea typeface="Calibri" pitchFamily="34" charset="-122"/>
                <a:cs typeface="Calibri" pitchFamily="34" charset="-120"/>
              </a:rPr>
              <a:t>Kapasitas kamar (Standard, Deluxe, Suite): Hotel A = 9, 6, 3; Hotel B = 6, 7, 2; Hotel C = 7, 5, 4. Harga per malam: Rp150.000, Rp500.000, Rp1.000.000. Semua kamar terisi penuh dalam 1 hari. Pilih semua jawaban yang benar!</a:t>
            </a:r>
            <a:endParaRPr lang="en-US" sz="1300" dirty="0"/>
          </a:p>
          <a:p>
            <a:pPr indent="0" marL="0">
              <a:spcAft>
                <a:spcPts val="400"/>
              </a:spcAft>
              <a:buNone/>
            </a:pPr>
            <a:r>
              <a:rPr lang="en-US" sz="1300" i="1" dirty="0">
                <a:solidFill>
                  <a:srgbClr val="1E293B"/>
                </a:solidFill>
                <a:latin typeface="Calibri" pitchFamily="34" charset="0"/>
                <a:ea typeface="Calibri" pitchFamily="34" charset="-122"/>
                <a:cs typeface="Calibri" pitchFamily="34" charset="-120"/>
              </a:rPr>
              <a:t>(Pilih semua jawaban yang benar)</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a. Pendapatan Hotel A dan Hotel C sama besar.</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b. Pendapatan Hotel B lebih besar daripada Hotel A.</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c. Pendapatan paling besar diperoleh dari Hotel C.</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d. Masing-masing hotel memiliki selisih pendapatan yang sama besar.</a:t>
            </a:r>
            <a:endParaRPr lang="en-US" sz="1300" dirty="0"/>
          </a:p>
          <a:p>
            <a:pPr indent="0" marL="0">
              <a:spcAft>
                <a:spcPts val="400"/>
              </a:spcAft>
              <a:buNone/>
            </a:pPr>
            <a:r>
              <a:rPr lang="en-US" sz="1300" dirty="0">
                <a:solidFill>
                  <a:srgbClr val="1E293B"/>
                </a:solidFill>
                <a:latin typeface="Calibri" pitchFamily="34" charset="0"/>
                <a:ea typeface="Calibri" pitchFamily="34" charset="-122"/>
                <a:cs typeface="Calibri" pitchFamily="34" charset="-120"/>
              </a:rPr>
              <a:t>e. Pendapatan dari ketiga hotel tersebut lebih dari Rp20.000.000.</a:t>
            </a:r>
            <a:endParaRPr lang="en-US" sz="13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4  ·  Gambar</a:t>
            </a:r>
            <a:endParaRPr lang="en-US" sz="2000" dirty="0"/>
          </a:p>
        </p:txBody>
      </p:sp>
      <p:pic>
        <p:nvPicPr>
          <p:cNvPr id="3" name="Image 0" descr="../assets/soal/l5-q04.jpg">    </p:cNvPr>
          <p:cNvPicPr>
            <a:picLocks noChangeAspect="1"/>
          </p:cNvPicPr>
          <p:nvPr/>
        </p:nvPicPr>
        <p:blipFill>
          <a:blip r:embed="rId1"/>
          <a:stretch>
            <a:fillRect/>
          </a:stretch>
        </p:blipFill>
        <p:spPr>
          <a:xfrm>
            <a:off x="845971" y="914400"/>
            <a:ext cx="7452057" cy="3840480"/>
          </a:xfrm>
          <a:prstGeom prst="rect">
            <a:avLst/>
          </a:prstGeom>
        </p:spPr>
      </p:pic>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200" b="1" dirty="0">
                <a:solidFill>
                  <a:srgbClr val="059669"/>
                </a:solidFill>
                <a:latin typeface="Calibri" pitchFamily="34" charset="0"/>
                <a:ea typeface="Calibri" pitchFamily="34" charset="-122"/>
                <a:cs typeface="Calibri" pitchFamily="34" charset="-120"/>
              </a:rPr>
              <a:t>Jawaban: c. Pendapatan paling besar diperoleh dari Hotel C.  |  e. Pendapatan dari ketiga hotel tersebut lebih dari Rp20.000.000.</a:t>
            </a:r>
            <a:endParaRPr lang="en-US" sz="12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Hotel A = 9·150.000 + 6·500.000 + 3·1.000.000 = 1.350.000 + 3.000.000 + 3.000.000 = Rp7.350.000.</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Hotel B = 6·150.000 + 7·500.000 + 2·1.000.000 = 900.000 + 3.500.000 + 2.000.000 = Rp6.400.000.</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Hotel C = 7·150.000 + 5·500.000 + 4·1.000.000 = 1.050.000 + 2.500.000 + 4.000.000 = Rp7.550.000.</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1 salah (7,35 ≠ 7,55 juta). Pernyataan 2 salah (6,4 &lt; 7,35). Pernyataan 3 benar (C terbesar).</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Pernyataan 4 salah: selisih A−B = 950.000, C−A = 200.000. Pernyataan 5 benar: total = 21.300.000 &gt; 20.000.000.</a:t>
            </a:r>
            <a:endParaRPr lang="en-US" sz="13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5  ·  Suku Banyak (Akar)</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Di manakah koordinat titik perpotongan grafik f(x) = x³ + 3x² − 10x − 24 terhadap sumbu X? Pilih semua jawaban yang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(−2, 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 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(3, 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(4, 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(5, 0)</a:t>
            </a:r>
            <a:endParaRPr lang="en-US" sz="16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(−2, 0)  |  c. (3, 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Titik potong sumbu X: f(x) = 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Coba x = 3: 27 + 27 − 30 − 24 = 0 ✓, sehingga (x − 3) faktor.</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Bagi: x³ + 3x² − 10x − 24 = (x − 3)(x² + 6x + 8) = (x − 3)(x + 2)(x + 4).</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Akar: x = 3, −2, −4 → titik (3, 0) dan (−2, 0) (juga (−4, 0), tetapi tidak ada di pilihan).</a:t>
            </a:r>
            <a:endParaRPr lang="en-US" sz="14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6  ·  Suku Banyak (Sisa Pembagian)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Suku banyak f(x) = x⁴ + ax³ + bx² + x − 6 jika dibagi x² + x + 1 menghasilkan sisa 5x − 1. Nilai a + b =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11</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5</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−1</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−5</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−7</a:t>
            </a:r>
            <a:endParaRPr lang="en-US" sz="18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−1</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f(x) − (5x − 1) = x⁴ + ax³ + bx² − 4x − 5 habis dibagi x² + x + 1.</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Misal ω akar x² + x + 1 = 0, maka ω² = −ω − 1 dan ω³ = 1, ω⁴ = ω.</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Substitusi: ω + a + b(−ω − 1) − 4ω − 5 = (−3 − b)ω + (a − b − 5) = 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Koefisien ω: −3 − b = 0 → b = −3. Konstanta: a − b − 5 = 0 → a = 2.</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a + b = 2 + (−3) = −1.</a:t>
            </a:r>
            <a:endParaRPr lang="en-US" sz="14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7  ·  Turunan/Fungsi Polinom</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Penambahan volume satu drum: V(T) = 0,05T³ + 0,4T² + 20T. Total penambahan volume 10 drum pada suhu yang sama dinyatakan dengan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50T³ + 40T² + 200T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50T³ + 4T² + 200T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5T³ + 4T² + 200T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0,5T³ + 4T² + 200T</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0,5T³ + 0,4T² + 200T</a:t>
            </a:r>
            <a:endParaRPr lang="en-US" sz="16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0,5T³ + 4T² + 200T</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Total 10 drum = 10 · V(T).</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10 × 0,05T³ = 0,5T³; 10 × 0,4T² = 4T²; 10 × 20T = 200T.</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Jadi 0,5T³ + 4T² + 200T.</a:t>
            </a:r>
            <a:endParaRPr lang="en-US" sz="18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8  ·  Fungsi Polinom (Pemodelan)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Modal saham f(x) = x³ − 70x² − 600x + 74.000 (juta rupiah), x = banyak unit saham. Modal yang dimiliki perusahaan Rp2 miliar = 2.000 juta. Tentukan Benar (mungkin) atau Salah (tidak mungkin)!</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Perusahaan mungkin dapat menjual 30 unit saham.</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Perusahaan mungkin dapat menjual 40 unit saham.</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Perusahaan mungkin dapat menjual 60 unit saham.</a:t>
            </a:r>
            <a:endParaRPr lang="en-US" sz="14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3=Benar</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Modal 2.000 juta berarti f(x) = 2.000 → x³ − 70x² − 600x + 72.000 = 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Faktorkan: (x − 40)(x − 60)(x + 30) = 0 → x = 40, 60 (x = −30 tidak mungkin).</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f(30) = 27.000 − 63.000 − 18.000 + 74.000 = 20.000 ≠ 2.000 → tidak mungkin.</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f(40) = 2.000 dan f(60) = 2.000 → mungkin.</a:t>
            </a:r>
            <a:endParaRPr lang="en-US" sz="14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Tafsir soal: jumlah unit yang mungkin dijual adalah yang membuat modal f(x) tepat sama dengan 2.000 juta.</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9  ·  Fungsi Eksponensial</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Populasi kelinci K(t) = 4 · 2^(t/4) (t dalam tahun, K dalam ribu ekor). Tentukan Benar atau Salah!</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Setiap 4 tahun populasi bertambah menjadi 4 kalinya.</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Pada saat awal populasi kelinci berjumlah 4 ribu ekor.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Populasi mencapai 1 juta sebelum 20 tahun dari awal pengamatan.</a:t>
            </a:r>
            <a:endParaRPr lang="en-US" sz="14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2=Benar, 3=Salah</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K(t + 4) = 4 · 2^((t+4)/4) = 2 · K(t) → setiap 4 tahun menjadi 2 kali (bukan 4 kali) → Salah.</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K(0) = 4 · 2⁰ = 4 ribu ekor → Benar.</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K(20) = 4 · 2⁵ = 128 ribu ekor &lt; 1.000 ribu (1 juta) → Salah.</a:t>
            </a:r>
            <a:endParaRPr lang="en-US" sz="16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10  ·  Fungsi Eksponensial</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Grafik pertumbuhan eceng gondok: luas 10 m² (awal), 70 m² (tahun ke-1), 490 m² (tahun ke-2). Setelah 3 tahun luas tertutup: Danau A 15.000, B 16.500, C 17.000, D 17.500, E 18.000 m².</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Danau mana yang luasnya lebih dari 49 m² pada awal pengamatan? Pilih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Danau A</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Danau B</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Danau C</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Danau D</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Danau E</a:t>
            </a:r>
            <a:endParaRPr lang="en-US" sz="14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10  ·  Gambar (1/2)</a:t>
            </a:r>
            <a:endParaRPr lang="en-US" sz="2000" dirty="0"/>
          </a:p>
        </p:txBody>
      </p:sp>
      <p:pic>
        <p:nvPicPr>
          <p:cNvPr id="3" name="Image 0" descr="../assets/soal/l5-q10a.jpg">    </p:cNvPr>
          <p:cNvPicPr>
            <a:picLocks noChangeAspect="1"/>
          </p:cNvPicPr>
          <p:nvPr/>
        </p:nvPicPr>
        <p:blipFill>
          <a:blip r:embed="rId1"/>
          <a:stretch>
            <a:fillRect/>
          </a:stretch>
        </p:blipFill>
        <p:spPr>
          <a:xfrm>
            <a:off x="1086286" y="914400"/>
            <a:ext cx="6971429" cy="3840480"/>
          </a:xfrm>
          <a:prstGeom prst="rect">
            <a:avLst/>
          </a:prstGeom>
        </p:spPr>
      </p:pic>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10  ·  Gambar (2/2)</a:t>
            </a:r>
            <a:endParaRPr lang="en-US" sz="2000" dirty="0"/>
          </a:p>
        </p:txBody>
      </p:sp>
      <p:pic>
        <p:nvPicPr>
          <p:cNvPr id="3" name="Image 0" descr="../assets/soal/l5-q10b.jpg">    </p:cNvPr>
          <p:cNvPicPr>
            <a:picLocks noChangeAspect="1"/>
          </p:cNvPicPr>
          <p:nvPr/>
        </p:nvPicPr>
        <p:blipFill>
          <a:blip r:embed="rId1"/>
          <a:stretch>
            <a:fillRect/>
          </a:stretch>
        </p:blipFill>
        <p:spPr>
          <a:xfrm>
            <a:off x="548640" y="914400"/>
            <a:ext cx="8046720" cy="2053416"/>
          </a:xfrm>
          <a:prstGeom prst="rect">
            <a:avLst/>
          </a:prstGeom>
        </p:spPr>
      </p:pic>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Danau C  |  d. Danau D  |  e. Danau E</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Pola 10 → 70 → 490: dikali 7 tiap tahun, sehingga L(t) = L₀ · 7ᵗ.</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Setelah 3 tahun: L(3) = L₀ · 343, jadi L₀ = L(3) / 343.</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Syarat L₀ &gt; 49 → L(3) &gt; 49 × 343 = 16.807 m².</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C (17.000), D (17.500), dan E (18.000) melebihi 16.807; A dan B tidak.</a:t>
            </a:r>
            <a:endParaRPr lang="en-US" sz="16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11  ·  Fungsi Trigonometri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Grafik kedalaman air laut y = a + b cos(πt/6) memiliki nilai maksimum 14,3 m (t = 0 dan t = 12) dan minimum 10,3 m (t = 6).</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Waktu saat kedalaman air laut mencapai 12,3 meter untuk ketiga kalinya setelah pukul 00.00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 jam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9 jam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10 jam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12 jam</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15 jam</a:t>
            </a:r>
            <a:endParaRPr lang="en-US" sz="16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11  ·  Gambar</a:t>
            </a:r>
            <a:endParaRPr lang="en-US" sz="2000" dirty="0"/>
          </a:p>
        </p:txBody>
      </p:sp>
      <p:pic>
        <p:nvPicPr>
          <p:cNvPr id="3" name="Image 0" descr="../assets/soal/l5-q11.jpg">    </p:cNvPr>
          <p:cNvPicPr>
            <a:picLocks noChangeAspect="1"/>
          </p:cNvPicPr>
          <p:nvPr/>
        </p:nvPicPr>
        <p:blipFill>
          <a:blip r:embed="rId1"/>
          <a:stretch>
            <a:fillRect/>
          </a:stretch>
        </p:blipFill>
        <p:spPr>
          <a:xfrm>
            <a:off x="1728854" y="914400"/>
            <a:ext cx="5686292" cy="3840480"/>
          </a:xfrm>
          <a:prstGeom prst="rect">
            <a:avLst/>
          </a:prstGeom>
        </p:spPr>
      </p:pic>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e. 15 jam</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a = (14,3 + 10,3)/2 = 12,3 dan b = (14,3 − 10,3)/2 = 2, sehingga y = 12,3 + 2 cos(πt/6).</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y = 12,3 → cos(πt/6) = 0 → πt/6 = π/2 + kπ → t = 3 + 6k.</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Waktu-waktunya: t = 3 (pertama), 9 (kedua), 15 (ketiga) → 15 jam.</a:t>
            </a:r>
            <a:endParaRPr lang="en-US" sz="16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12  ·  Vektor (Panjang)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Diketahui vektor AB = (2m, m + 3, m). Jika panjang AB = 9 satuan, nilai m yang memenuhi adalah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−4 atau −3</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−4 atau 3</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−3 atau 4</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3 atau 4</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4 atau 3</a:t>
            </a:r>
            <a:endParaRPr lang="en-US" sz="18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−4 atau 3</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|AB|² = (2m)² + (m + 3)² + m² = 81.</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4m² + m² + 6m + 9 + m² = 81 → 6m² + 6m − 72 = 0 → m² + m − 12 = 0.</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(m + 4)(m − 3) = 0 → m = −4 atau m = 3.</a:t>
            </a:r>
            <a:endParaRPr lang="en-US" sz="18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13  ·  Vektor pada Trapesium</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Trapesium sama kaki ABCD dengan AD = BC, A(0,0), AD = (1, 4), AB = (6, 0), dan BC = (a, b). Nilai a² + 2b =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5</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7</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9</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10</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13</a:t>
            </a:r>
            <a:endParaRPr lang="en-US" sz="18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9</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D = (1, 4), B = (6, 0). Sisi sejajar AB adalah DC mendatar, jadi C = (c, 4).</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|BC| = |AD| = √17 → (c − 6)² + 16 = 17 → c = 5 atau 7. Trapesium sama kaki (bukan jajargenjang) → c = 5.</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BC = (5 − 6, 4 − 0) = (−1, 4) → a = −1, b = 4.</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a² + 2b = 1 + 8 = 9. (Untuk c = 7 pun hasilnya 1 + 8 = 9.)</a:t>
            </a:r>
            <a:endParaRPr lang="en-US" sz="14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Vektor/Jarak Tiga Dimensi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Kereta melaju dengan kecepatan konstan lurus dari stasiun A(2, 3, 5) ke E(11, 6, 8) km. Waktu tempuh: A–B 5 menit, B–C 3 menit, C–D 2 menit, D–E 3 menit.</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Pasangan stasiun mana yang jaraknya kurang dari 3,5 km? Pilih semua yang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AB</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BC</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CD</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DE</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CE</a:t>
            </a:r>
            <a:endParaRPr lang="en-US" sz="16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14  ·  Gambar</a:t>
            </a:r>
            <a:endParaRPr lang="en-US" sz="2000" dirty="0"/>
          </a:p>
        </p:txBody>
      </p:sp>
      <p:pic>
        <p:nvPicPr>
          <p:cNvPr id="3" name="Image 0" descr="../assets/soal/l5-q14.jpg">    </p:cNvPr>
          <p:cNvPicPr>
            <a:picLocks noChangeAspect="1"/>
          </p:cNvPicPr>
          <p:nvPr/>
        </p:nvPicPr>
        <p:blipFill>
          <a:blip r:embed="rId1"/>
          <a:stretch>
            <a:fillRect/>
          </a:stretch>
        </p:blipFill>
        <p:spPr>
          <a:xfrm>
            <a:off x="548640" y="914400"/>
            <a:ext cx="8046720" cy="2584055"/>
          </a:xfrm>
          <a:prstGeom prst="rect">
            <a:avLst/>
          </a:prstGeom>
        </p:spPr>
      </p:pic>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BC  |  c. CD  |  d. DE</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AE = √((11−2)² + (6−3)² + (8−5)²) = √99 ≈ 9,95 km, total waktu 13 menit.</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Kecepatan = 9,95/13 ≈ 0,765 km/menit.</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AB = 5 × 0,765 ≈ 3,83 km; BC = 3 × 0,765 ≈ 2,30; CD = 2 × 0,765 ≈ 1,53; DE ≈ 2,30; CE = (2 + 3) × 0,765 ≈ 3,83.</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Kurang dari 3,5 km: BC, CD, dan DE.</a:t>
            </a:r>
            <a:endParaRPr lang="en-US" sz="14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15  ·  Persamaan Lingkaran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Lingkaran pada gambar berpusat di titik p dengan diameter 4 satuan (jari-jari 2). Persamaan lingkaran yang sepusat dengan lingkaran pada gambar tersebut adalah ....</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x² + 6x + y² − 8y + 16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x² − 6x + y² − 8y + 21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x² + 6x + y² + 8y + 16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x² − 8x + y² − 6y + 16 = 0</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x² + 8x + y² − 6y + 21 = 0</a:t>
            </a:r>
            <a:endParaRPr lang="en-US" sz="14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15  ·  Gambar</a:t>
            </a:r>
            <a:endParaRPr lang="en-US" sz="2000" dirty="0"/>
          </a:p>
        </p:txBody>
      </p:sp>
      <p:pic>
        <p:nvPicPr>
          <p:cNvPr id="3" name="Image 0" descr="../assets/soal/l5-q15.jpg">    </p:cNvPr>
          <p:cNvPicPr>
            <a:picLocks noChangeAspect="1"/>
          </p:cNvPicPr>
          <p:nvPr/>
        </p:nvPicPr>
        <p:blipFill>
          <a:blip r:embed="rId1"/>
          <a:stretch>
            <a:fillRect/>
          </a:stretch>
        </p:blipFill>
        <p:spPr>
          <a:xfrm>
            <a:off x="2933320" y="914400"/>
            <a:ext cx="3277360" cy="3840480"/>
          </a:xfrm>
          <a:prstGeom prst="rect">
            <a:avLst/>
          </a:prstGeom>
        </p:spPr>
      </p:pic>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x² + 6x + y² − 8y + 16 = 0</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Dari gambar, pusat lingkaran = (−3, 4).</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Persamaan lingkaran sepusat: x² + y² + 6x − 8y + C = 0 (pusat (−3, 4)).</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Opsi A: pusat (−3, 4) ✓ (jari-jari √(9 + 16 − 16) = 3). Opsi lain pusatnya (3,4), (−3,−4), (4,3), atau (−4,3) → bukan.</a:t>
            </a:r>
            <a:endParaRPr lang="en-US" sz="16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Pusat dibaca dari gambar; semua lingkaran dengan pusat yang sama dianggap sepusat (jari-jari boleh berbeda).</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16  ·  Garis Singgung Lingkaran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Lingkaran berpusat di A(2, −3) melalui B(3, −1). Garis f melalui C(−1, 0) dan D(0, 2).</a:t>
            </a:r>
            <a:endParaRPr lang="en-US" sz="1600" dirty="0"/>
          </a:p>
          <a:p>
            <a:pPr indent="0" marL="0">
              <a:spcAft>
                <a:spcPts val="800"/>
              </a:spcAft>
              <a:buNone/>
            </a:pPr>
            <a:endParaRPr lang="en-US" sz="1600" dirty="0"/>
          </a:p>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Tentukan semua titik singgung lingkaran dari garis singgung lingkaran yang tegak lurus garis f. Pilih semua yang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 1)</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(1, −5)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 5)</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(3, −1)</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(−3, −1)</a:t>
            </a:r>
            <a:endParaRPr lang="en-US" sz="16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16  ·  Gambar</a:t>
            </a:r>
            <a:endParaRPr lang="en-US" sz="2000" dirty="0"/>
          </a:p>
        </p:txBody>
      </p:sp>
      <p:pic>
        <p:nvPicPr>
          <p:cNvPr id="3" name="Image 0" descr="../assets/soal/l5-q16.jpg">    </p:cNvPr>
          <p:cNvPicPr>
            <a:picLocks noChangeAspect="1"/>
          </p:cNvPicPr>
          <p:nvPr/>
        </p:nvPicPr>
        <p:blipFill>
          <a:blip r:embed="rId1"/>
          <a:stretch>
            <a:fillRect/>
          </a:stretch>
        </p:blipFill>
        <p:spPr>
          <a:xfrm>
            <a:off x="1668840" y="914400"/>
            <a:ext cx="5806319" cy="3840480"/>
          </a:xfrm>
          <a:prstGeom prst="rect">
            <a:avLst/>
          </a:prstGeom>
        </p:spPr>
      </p:pic>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16</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(1, −5)  |  d. (3, −1)</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Jari-jari² = (3 − 2)² + (−1 + 3)² = 5. Gradien f = (2 − 0)/(0 + 1) = 2.</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Garis singgung tegak lurus f bergradien −1/2, sehingga jari-jari ke titik singgungnya sejajar f (arah (1, 2)).</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Titik singgung = A ± √5 · (1, 2)/√5 = (2 ± 1, −3 ± 2) = (3, −1) dan (1, −5).</a:t>
            </a:r>
            <a:endParaRPr lang="en-US" sz="14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17  ·  Luas Lingkaran &amp; Gabungan</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Rambu persegi 40 cm × 40 cm (latar biru), lingkaran hitam berdiameter 40 cm, lingkaran putih di dalamnya berjari-jari 14 cm, dan tanda silang merah selebar 8 cm (10 + 8 + 10 = 28 cm). Cat warna apakah yang lebih banyak digunakan dibanding cat warna hitam? Pilih semua yang benar!</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Setengah hitam dan biru.</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Setengah hitam dan merah.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Setengah hitam dan putih.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Biru dan putih.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Biru dan merah.</a:t>
            </a:r>
            <a:endParaRPr lang="en-US" sz="14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17  ·  Gambar</a:t>
            </a:r>
            <a:endParaRPr lang="en-US" sz="2000" dirty="0"/>
          </a:p>
        </p:txBody>
      </p:sp>
      <p:pic>
        <p:nvPicPr>
          <p:cNvPr id="3" name="Image 0" descr="../assets/soal/l5-q17.jpg">    </p:cNvPr>
          <p:cNvPicPr>
            <a:picLocks noChangeAspect="1"/>
          </p:cNvPicPr>
          <p:nvPr/>
        </p:nvPicPr>
        <p:blipFill>
          <a:blip r:embed="rId1"/>
          <a:stretch>
            <a:fillRect/>
          </a:stretch>
        </p:blipFill>
        <p:spPr>
          <a:xfrm>
            <a:off x="2753540" y="914400"/>
            <a:ext cx="3636921" cy="3840480"/>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17</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Setengah hitam dan biru.  |  b. Setengah hitam dan merah.  |  e. Biru dan merah.</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Hitam = cincin: π(20² − 14²) = π(400 − 196) = 204π ≈ 640,6 cm².</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Biru = persegi − lingkaran besar = 1.600 − 400π ≈ 343,4 cm².</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Merah = dua jalur lebar 8 cm di dalam lingkaran r = 14: 2 × 220,9 − 8² ≈ 377,8 cm².</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Putih = 196π − merah ≈ 615,8 − 377,8 ≈ 237,9 cm².</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Setengah hitam ≈ 320,3. Setengah hitam + biru ≈ 663,7 &gt; 640,6 ✓; setengah hitam + merah ≈ 698,1 ✓; setengah hitam + putih ≈ 558,2 ✗; biru + putih ≈ 581,3 ✗; biru + merah ≈ 721,2 ✓.</a:t>
            </a:r>
            <a:endParaRPr lang="en-US" sz="13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Tafsir AI: tiap opsi dibaca sebagai jumlah dua cat yang dibandingkan dengan cat hitam; ukuran 10, 14, dan 8 cm dibaca dari gambar.</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18  ·  Lingkaran &amp; Persegi (Keliling)</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Ornamen: lingkaran dengan persegi di dalamnya dan dua diagonalnya; luas 1 potong kaca merah (juring antara lingkaran dan persegi) = 456 cm², π = 3,14, √2 ≈ 1,4. Kerangka logam = lingkaran + persegi + 2 diagonal. Pas = cukup dan sisa tidak lebih dari 1 meter. Logam A 4 m, B 5 m, C 6,5 m. Tentukan Pas atau Tidak Pas!</a:t>
            </a:r>
            <a:endParaRPr lang="en-US" sz="1400" dirty="0"/>
          </a:p>
          <a:p>
            <a:pPr indent="0" marL="0">
              <a:spcAft>
                <a:spcPts val="400"/>
              </a:spcAft>
              <a:buNone/>
            </a:pPr>
            <a:r>
              <a:rPr lang="en-US" sz="1400" b="1" dirty="0">
                <a:solidFill>
                  <a:srgbClr val="1E293B"/>
                </a:solidFill>
                <a:latin typeface="Calibri" pitchFamily="34" charset="0"/>
                <a:ea typeface="Calibri" pitchFamily="34" charset="-122"/>
                <a:cs typeface="Calibri" pitchFamily="34" charset="-120"/>
              </a:rPr>
              <a:t>Tentukan Benar atau Salah:</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1. Membeli 2 buah logam A adalah pas.</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2. Membeli 1 buah logam B adalah pas.</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3. Membeli 1 buah logam C adalah pas.</a:t>
            </a:r>
            <a:endParaRPr lang="en-US" sz="14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18  ·  Gambar</a:t>
            </a:r>
            <a:endParaRPr lang="en-US" sz="2000" dirty="0"/>
          </a:p>
        </p:txBody>
      </p:sp>
      <p:pic>
        <p:nvPicPr>
          <p:cNvPr id="3" name="Image 0" descr="../assets/soal/l5-q18.jpg">    </p:cNvPr>
          <p:cNvPicPr>
            <a:picLocks noChangeAspect="1"/>
          </p:cNvPicPr>
          <p:nvPr/>
        </p:nvPicPr>
        <p:blipFill>
          <a:blip r:embed="rId1"/>
          <a:stretch>
            <a:fillRect/>
          </a:stretch>
        </p:blipFill>
        <p:spPr>
          <a:xfrm>
            <a:off x="1957436" y="914400"/>
            <a:ext cx="5229128" cy="3840480"/>
          </a:xfrm>
          <a:prstGeom prst="rect">
            <a:avLst/>
          </a:prstGeom>
        </p:spPr>
      </p:pic>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18</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1=Salah, 2=Salah, 3=Benar</a:t>
            </a:r>
            <a:endParaRPr lang="en-US" sz="1500" dirty="0"/>
          </a:p>
        </p:txBody>
      </p:sp>
      <p:sp>
        <p:nvSpPr>
          <p:cNvPr id="5" name="Text 3"/>
          <p:cNvSpPr txBox="1"/>
          <p:nvPr/>
        </p:nvSpPr>
        <p:spPr>
          <a:xfrm>
            <a:off x="548640" y="1463040"/>
            <a:ext cx="804672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Luas 4 potong merah = luas lingkaran − luas persegi: πr² − 2r² = 4 × 456 = 1.824 → r²(π − 2) = 1.824 → r² = 1.824/1,14 = 1.600 → r = 40 cm.</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Keliling lingkaran = 2 × 3,14 × 40 = 251,2 cm. Sisi persegi = r√2 = 40 × 1,4 = 56 cm → keliling persegi = 224 cm. Dua diagonal = 2 × 80 = 160 cm.</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Total kerangka = 251,2 + 224 + 160 = 635,2 cm = 6,352 m.</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2 logam A = 8 m: cukup, tetapi sisa 1,648 m &gt; 1 m → Tidak Pas. 1 logam B = 5 m &lt; 6,352 m → tidak cukup → Tidak Pas.</a:t>
            </a:r>
            <a:endParaRPr lang="en-US" sz="1300" dirty="0"/>
          </a:p>
          <a:p>
            <a:pPr marL="342900" indent="-342900">
              <a:spcAft>
                <a:spcPts val="500"/>
              </a:spcAft>
              <a:buSzPct val="100000"/>
              <a:buFont typeface="+mj-lt"/>
              <a:buAutoNum type="arabicPeriod" startAt="1"/>
            </a:pPr>
            <a:r>
              <a:rPr lang="en-US" sz="1300" dirty="0">
                <a:solidFill>
                  <a:srgbClr val="1E293B"/>
                </a:solidFill>
                <a:latin typeface="Calibri" pitchFamily="34" charset="0"/>
                <a:ea typeface="Calibri" pitchFamily="34" charset="-122"/>
                <a:cs typeface="Calibri" pitchFamily="34" charset="-120"/>
              </a:rPr>
              <a:t>1 logam C = 6,5 m: cukup, sisa 0,148 m ≤ 1 m → Pas.</a:t>
            </a:r>
            <a:endParaRPr lang="en-US" sz="1300" dirty="0"/>
          </a:p>
        </p:txBody>
      </p:sp>
      <p:sp>
        <p:nvSpPr>
          <p:cNvPr id="6" name="Text 4"/>
          <p:cNvSpPr txBox="1"/>
          <p:nvPr/>
        </p:nvSpPr>
        <p:spPr>
          <a:xfrm>
            <a:off x="548640" y="4297680"/>
            <a:ext cx="8046720" cy="548640"/>
          </a:xfrm>
          <a:prstGeom prst="rect">
            <a:avLst/>
          </a:prstGeom>
          <a:noFill/>
          <a:ln/>
        </p:spPr>
        <p:txBody>
          <a:bodyPr wrap="square" lIns="0" tIns="0" rIns="0" bIns="0" rtlCol="0" anchor="t"/>
          <a:lstStyle/>
          <a:p>
            <a:pPr indent="0" marL="0">
              <a:buNone/>
            </a:pPr>
            <a:r>
              <a:rPr lang="en-US" sz="1100" i="1" dirty="0">
                <a:solidFill>
                  <a:srgbClr val="B45309"/>
                </a:solidFill>
                <a:latin typeface="Calibri" pitchFamily="34" charset="0"/>
                <a:ea typeface="Calibri" pitchFamily="34" charset="-122"/>
                <a:cs typeface="Calibri" pitchFamily="34" charset="-120"/>
              </a:rPr>
              <a:t>Pada soal tertulis "√3 ≈ 1,4"; dibaca sebagai √2 ≈ 1,4 karena sisi persegi dalam lingkaran memakai √2.</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19  ·  Transformasi (Refleksi dan Translasi)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Garis ax + y − 9 = 0 dan x + by + 6 = 0 dicerminkan terhadap garis y = x, kemudian ditranslasi T(1, −1), menghasilkan bayangan x + 2y − 8 = 0 dan 2x − y − 9 = 0. Nilai 2a − b =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−6</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−2</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2</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6</a:t>
            </a:r>
            <a:endParaRPr lang="en-US" sz="16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19</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e. 6</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Pencerminan terhadap y = x menukar x dan y: x + ay − 9 = 0 dan bx + y + 6 = 0.</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Translasi (1, −1): x → x′ − 1, y → y′ + 1. Garis pertama: x′ + ay′ + (a − 10) = 0; cocokkan dengan x + 2y − 8 = 0 → a = 2 (dan a − 10 = −8 ✓).</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Garis kedua: bx′ + y′ + (7 − b) = 0; cocokkan dengan −2x + y + 9 = 0 (kali −1 dari 2x − y − 9 = 0) → b = −2 (dan 7 − b = 9 ✓).</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2a − b = 4 + 2 = 6.</a:t>
            </a:r>
            <a:endParaRPr lang="en-US" sz="14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20  ·  Transformasi (Translasi dan Dilatasi)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Lingkaran L berpusat (−5, 3) dengan jari-jari 2. L′ adalah bayangan L oleh translasi T, dan L″ : (x + 4)² + (y − 4)² = 16 adalah bayangan L′ oleh dilatasi berpusat O(0, 0).</a:t>
            </a:r>
            <a:endParaRPr lang="en-US" sz="1400" dirty="0"/>
          </a:p>
          <a:p>
            <a:pPr indent="0" marL="0">
              <a:spcAft>
                <a:spcPts val="800"/>
              </a:spcAft>
              <a:buNone/>
            </a:pPr>
            <a:endParaRPr lang="en-US" sz="1400" dirty="0"/>
          </a:p>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Pernyataan yang benar tentang translasi T dan faktor skala dilatasi adalah ....</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T = (3, −1) dan faktor skala 8</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T = (3, −1) dan faktor skala 4</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T = (3, −1) dan faktor skala 2</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T = (1, 1) dan faktor skala 2</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T = (1, 1) dan faktor skala 8</a:t>
            </a:r>
            <a:endParaRPr lang="en-US" sz="14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20</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c. T = (3, −1) dan faktor skala 2</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 berpusat (−4, 4) dengan jari-jari 4; L berjari-jari 2 → faktor skala k = 4/2 = 2.</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Pusat L′ = pusat L″ / k = (−4, 4)/2 = (−2, 2).</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Translasi T = (−2 − (−5), 2 − 3) = (3, −1).</a:t>
            </a:r>
            <a:endParaRPr lang="en-US" sz="16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21  ·  Transformasi (Rotasi)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Garis l adalah bayangan garis 3x + 2y = 6 setelah dirotasi 90° berlawanan arah jarum jam dengan pusat (2, 0). Titik mana yang terletak pada garis l? Pilih semua yang benar!</a:t>
            </a:r>
            <a:endParaRPr lang="en-US" sz="1600" dirty="0"/>
          </a:p>
          <a:p>
            <a:pPr indent="0" marL="0">
              <a:spcAft>
                <a:spcPts val="400"/>
              </a:spcAft>
              <a:buNone/>
            </a:pPr>
            <a:r>
              <a:rPr lang="en-US" sz="1600" i="1" dirty="0">
                <a:solidFill>
                  <a:srgbClr val="1E293B"/>
                </a:solidFill>
                <a:latin typeface="Calibri" pitchFamily="34" charset="0"/>
                <a:ea typeface="Calibri" pitchFamily="34" charset="-122"/>
                <a:cs typeface="Calibri" pitchFamily="34" charset="-120"/>
              </a:rPr>
              <a:t>(Pilih semua jawaban yang benar)</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(−3, −2)</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(−2, −1)</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(1, 2)</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(2, 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(5, 2)</a:t>
            </a:r>
            <a:endParaRPr lang="en-US" sz="16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21</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d. (2, 0)  |  e. (5, 2)</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Rotasi 90° berlawanan jarum jam pusat (2, 0): (x, y) → (2 − y, x − 2). Jadi X = 2 − y dan Y = x − 2, sehingga x = Y + 2 dan y = 2 − X.</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Substitusi ke 3x + 2y = 6: 3(Y + 2) + 2(2 − X) = 6 → −2X + 3Y + 4 = 0 → 2x − 3y − 4 = 0 (garis l).</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Uji: (2, 0): 4 − 0 − 4 = 0 ✓; (5, 2): 10 − 6 − 4 = 0 ✓; titik lain tidak memenuhi.</a:t>
            </a:r>
            <a:endParaRPr lang="en-US" sz="14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22  ·  Limit Fungsi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Nilai lim x→3 (x³ − 3x² + 2x + 1)/(5 + 3x − 9x²) =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−7/67</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−6/67</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6/76</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7/67</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7/76</a:t>
            </a:r>
            <a:endParaRPr lang="en-US" sz="18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22</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a. −7/67</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Substitusi langsung (penyebut tidak nol).</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Pembilang: 27 − 27 + 6 + 1 = 7. Penyebut: 5 + 9 − 81 = −67.</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Nilai limit = −7/67.</a:t>
            </a:r>
            <a:endParaRPr lang="en-US" sz="18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23  ·  Limit di Tak Hingga</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600" dirty="0">
                <a:solidFill>
                  <a:srgbClr val="1E293B"/>
                </a:solidFill>
                <a:latin typeface="Calibri" pitchFamily="34" charset="0"/>
                <a:ea typeface="Calibri" pitchFamily="34" charset="-122"/>
                <a:cs typeface="Calibri" pitchFamily="34" charset="-120"/>
              </a:rPr>
              <a:t>Keuntungan K(p) = (9p² + 2p + 10)/(3p² + 3p + 2) (juta rupiah). Keuntungan jika menjual porsi sangat banyak (p → ∞) adalah ....</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a. Rp2.000.000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b. Rp3.000.000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c. Rp5.000.000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d. Rp9.000.000</a:t>
            </a:r>
            <a:endParaRPr lang="en-US" sz="1600" dirty="0"/>
          </a:p>
          <a:p>
            <a:pPr indent="0" marL="0">
              <a:spcAft>
                <a:spcPts val="400"/>
              </a:spcAft>
              <a:buNone/>
            </a:pPr>
            <a:r>
              <a:rPr lang="en-US" sz="1600" dirty="0">
                <a:solidFill>
                  <a:srgbClr val="1E293B"/>
                </a:solidFill>
                <a:latin typeface="Calibri" pitchFamily="34" charset="0"/>
                <a:ea typeface="Calibri" pitchFamily="34" charset="-122"/>
                <a:cs typeface="Calibri" pitchFamily="34" charset="-120"/>
              </a:rPr>
              <a:t>e. Rp10.000.000</a:t>
            </a:r>
            <a:endParaRPr lang="en-US" sz="16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23</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b. Rp3.000.000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Pangkat tertinggi pembilang dan penyebut sama (p²), sehingga limitnya = perbandingan koefisien: 9/3 = 3.</a:t>
            </a:r>
            <a:endParaRPr lang="en-US" sz="1800" dirty="0"/>
          </a:p>
          <a:p>
            <a:pPr marL="342900" indent="-342900">
              <a:spcAft>
                <a:spcPts val="500"/>
              </a:spcAft>
              <a:buSzPct val="100000"/>
              <a:buFont typeface="+mj-lt"/>
              <a:buAutoNum type="arabicPeriod" startAt="1"/>
            </a:pPr>
            <a:r>
              <a:rPr lang="en-US" sz="1800" dirty="0">
                <a:solidFill>
                  <a:srgbClr val="1E293B"/>
                </a:solidFill>
                <a:latin typeface="Calibri" pitchFamily="34" charset="0"/>
                <a:ea typeface="Calibri" pitchFamily="34" charset="-122"/>
                <a:cs typeface="Calibri" pitchFamily="34" charset="-120"/>
              </a:rPr>
              <a:t>Keuntungan = 3 juta rupiah = Rp3.000.000.</a:t>
            </a:r>
            <a:endParaRPr lang="en-US" sz="18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24  ·  Limit Fungsi Trigonometri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400" dirty="0">
                <a:solidFill>
                  <a:srgbClr val="1E293B"/>
                </a:solidFill>
                <a:latin typeface="Calibri" pitchFamily="34" charset="0"/>
                <a:ea typeface="Calibri" pitchFamily="34" charset="-122"/>
                <a:cs typeface="Calibri" pitchFamily="34" charset="-120"/>
              </a:rPr>
              <a:t>Setengah lingkaran berdiameter AB (r = jari-jari) terletak pada segitiga sama kaki ABC dengan sudut puncak θ. X = luas segitiga ABC, Y = luas setengah lingkaran. Manakah pernyataan yang benar tentang lim θ→a X/Y?</a:t>
            </a:r>
            <a:endParaRPr lang="en-US" sz="1400" dirty="0"/>
          </a:p>
          <a:p>
            <a:pPr indent="0" marL="0">
              <a:spcAft>
                <a:spcPts val="400"/>
              </a:spcAft>
              <a:buNone/>
            </a:pPr>
            <a:r>
              <a:rPr lang="en-US" sz="1400" i="1" dirty="0">
                <a:solidFill>
                  <a:srgbClr val="1E293B"/>
                </a:solidFill>
                <a:latin typeface="Calibri" pitchFamily="34" charset="0"/>
                <a:ea typeface="Calibri" pitchFamily="34" charset="-122"/>
                <a:cs typeface="Calibri" pitchFamily="34" charset="-120"/>
              </a:rPr>
              <a:t>(Pilih semua jawaban yang benar)</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a. Besar jari-jari mempengaruhi nilai limit.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b. Besar sudut tidak mempengaruhi nilai limit.</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c. Nilai X/Y selalu sama untuk berapa pun θ.</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d. lim θ→π/6 X/Y = 2/π.</a:t>
            </a:r>
            <a:endParaRPr lang="en-US" sz="1400" dirty="0"/>
          </a:p>
          <a:p>
            <a:pPr indent="0" marL="0">
              <a:spcAft>
                <a:spcPts val="400"/>
              </a:spcAft>
              <a:buNone/>
            </a:pPr>
            <a:r>
              <a:rPr lang="en-US" sz="1400" dirty="0">
                <a:solidFill>
                  <a:srgbClr val="1E293B"/>
                </a:solidFill>
                <a:latin typeface="Calibri" pitchFamily="34" charset="0"/>
                <a:ea typeface="Calibri" pitchFamily="34" charset="-122"/>
                <a:cs typeface="Calibri" pitchFamily="34" charset="-120"/>
              </a:rPr>
              <a:t>e. Jika θ = π, maka X/Y = 0.</a:t>
            </a:r>
            <a:endParaRPr lang="en-US" sz="14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24  ·  Gambar</a:t>
            </a:r>
            <a:endParaRPr lang="en-US" sz="2000" dirty="0"/>
          </a:p>
        </p:txBody>
      </p:sp>
      <p:pic>
        <p:nvPicPr>
          <p:cNvPr id="3" name="Image 0" descr="../assets/soal/l5-q24.jpg">    </p:cNvPr>
          <p:cNvPicPr>
            <a:picLocks noChangeAspect="1"/>
          </p:cNvPicPr>
          <p:nvPr/>
        </p:nvPicPr>
        <p:blipFill>
          <a:blip r:embed="rId1"/>
          <a:stretch>
            <a:fillRect/>
          </a:stretch>
        </p:blipFill>
        <p:spPr>
          <a:xfrm>
            <a:off x="2818356" y="914400"/>
            <a:ext cx="3507288" cy="3840480"/>
          </a:xfrm>
          <a:prstGeom prst="rect">
            <a:avLst/>
          </a:prstGeom>
        </p:spPr>
      </p:pic>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24</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e. Jika θ = π, maka X/Y = 0.</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Tinggi segitiga dari C ke AB = r / tan(θ/2), sehingga X = ½ · 2r · r/tan(θ/2) = r² cot(θ/2).</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Y = ½πr² → X/Y = 2 cot(θ/2)/π (jari-jari r habis terbagi).</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1 salah (r tidak berpengaruh), 2 salah (θ berpengaruh), 3 salah (X/Y bergantung θ).</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4: untuk θ = π/6, X/Y = 2 cot(π/12)/π = 2(2 + √3)/π ≠ 2/π → salah.</a:t>
            </a:r>
            <a:endParaRPr lang="en-US" sz="1400" dirty="0"/>
          </a:p>
          <a:p>
            <a:pPr marL="342900" indent="-342900">
              <a:spcAft>
                <a:spcPts val="500"/>
              </a:spcAft>
              <a:buSzPct val="100000"/>
              <a:buFont typeface="+mj-lt"/>
              <a:buAutoNum type="arabicPeriod" startAt="1"/>
            </a:pPr>
            <a:r>
              <a:rPr lang="en-US" sz="1400" dirty="0">
                <a:solidFill>
                  <a:srgbClr val="1E293B"/>
                </a:solidFill>
                <a:latin typeface="Calibri" pitchFamily="34" charset="0"/>
                <a:ea typeface="Calibri" pitchFamily="34" charset="-122"/>
                <a:cs typeface="Calibri" pitchFamily="34" charset="-120"/>
              </a:rPr>
              <a:t>Pernyataan 5: θ = π → cot(π/2) = 0 → X/Y = 0 → benar.</a:t>
            </a:r>
            <a:endParaRPr lang="en-US" sz="14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804672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Soal 25  ·  Limit Trigonometri</a:t>
            </a:r>
            <a:endParaRPr lang="en-US" sz="2000" dirty="0"/>
          </a:p>
        </p:txBody>
      </p:sp>
      <p:sp>
        <p:nvSpPr>
          <p:cNvPr id="3" name="Text 1"/>
          <p:cNvSpPr txBox="1"/>
          <p:nvPr/>
        </p:nvSpPr>
        <p:spPr>
          <a:xfrm>
            <a:off x="548640" y="914400"/>
            <a:ext cx="8046720" cy="3749040"/>
          </a:xfrm>
          <a:prstGeom prst="rect">
            <a:avLst/>
          </a:prstGeom>
          <a:noFill/>
          <a:ln/>
        </p:spPr>
        <p:txBody>
          <a:bodyPr wrap="square" lIns="0" tIns="0" rIns="0" bIns="0" rtlCol="0" anchor="t"/>
          <a:lstStyle/>
          <a:p>
            <a:pPr indent="0" marL="0">
              <a:spcAft>
                <a:spcPts val="800"/>
              </a:spcAft>
              <a:buNone/>
            </a:pPr>
            <a:r>
              <a:rPr lang="en-US" sz="1800" dirty="0">
                <a:solidFill>
                  <a:srgbClr val="1E293B"/>
                </a:solidFill>
                <a:latin typeface="Calibri" pitchFamily="34" charset="0"/>
                <a:ea typeface="Calibri" pitchFamily="34" charset="-122"/>
                <a:cs typeface="Calibri" pitchFamily="34" charset="-120"/>
              </a:rPr>
              <a:t>Nilai lim x→3 [1 − cos(6x − 18)] / [(x − 9/x) sin(6x − 18)] = ....</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a. −3/2</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b. −2/3</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c. 0</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d. 2/3</a:t>
            </a:r>
            <a:endParaRPr lang="en-US" sz="1800" dirty="0"/>
          </a:p>
          <a:p>
            <a:pPr indent="0" marL="0">
              <a:spcAft>
                <a:spcPts val="400"/>
              </a:spcAft>
              <a:buNone/>
            </a:pPr>
            <a:r>
              <a:rPr lang="en-US" sz="1800" dirty="0">
                <a:solidFill>
                  <a:srgbClr val="1E293B"/>
                </a:solidFill>
                <a:latin typeface="Calibri" pitchFamily="34" charset="0"/>
                <a:ea typeface="Calibri" pitchFamily="34" charset="-122"/>
                <a:cs typeface="Calibri" pitchFamily="34" charset="-120"/>
              </a:rPr>
              <a:t>e. 3/2</a:t>
            </a:r>
            <a:endParaRPr lang="en-US" sz="18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274320"/>
            <a:ext cx="5486400" cy="457200"/>
          </a:xfrm>
          <a:prstGeom prst="rect">
            <a:avLst/>
          </a:prstGeom>
          <a:noFill/>
          <a:ln/>
        </p:spPr>
        <p:txBody>
          <a:bodyPr wrap="square" lIns="0" tIns="0" rIns="0" bIns="0" rtlCol="0" anchor="ctr"/>
          <a:lstStyle/>
          <a:p>
            <a:pPr indent="0" marL="0">
              <a:buNone/>
            </a:pPr>
            <a:r>
              <a:rPr lang="en-US" sz="2000" b="1" dirty="0">
                <a:solidFill>
                  <a:srgbClr val="4F46E5"/>
                </a:solidFill>
                <a:latin typeface="Calibri" pitchFamily="34" charset="0"/>
                <a:ea typeface="Calibri" pitchFamily="34" charset="-122"/>
                <a:cs typeface="Calibri" pitchFamily="34" charset="-120"/>
              </a:rPr>
              <a:t>Pembahasan Soal 25</a:t>
            </a:r>
            <a:endParaRPr lang="en-US" sz="2000" dirty="0"/>
          </a:p>
        </p:txBody>
      </p:sp>
      <p:sp>
        <p:nvSpPr>
          <p:cNvPr id="3" name="Text 1"/>
          <p:cNvSpPr txBox="1"/>
          <p:nvPr/>
        </p:nvSpPr>
        <p:spPr>
          <a:xfrm>
            <a:off x="5852160" y="274320"/>
            <a:ext cx="2743200" cy="365760"/>
          </a:xfrm>
          <a:prstGeom prst="rect">
            <a:avLst/>
          </a:prstGeom>
          <a:noFill/>
          <a:ln/>
        </p:spPr>
        <p:txBody>
          <a:bodyPr wrap="square" lIns="0" tIns="0" rIns="0" bIns="0" rtlCol="0" anchor="ctr"/>
          <a:lstStyle/>
          <a:p>
            <a:pPr algn="r" indent="0" marL="0">
              <a:buNone/>
            </a:pPr>
            <a:r>
              <a:rPr lang="en-US" sz="1200" b="1" dirty="0">
                <a:solidFill>
                  <a:srgbClr val="B45309"/>
                </a:solidFill>
                <a:latin typeface="Calibri" pitchFamily="34" charset="0"/>
                <a:ea typeface="Calibri" pitchFamily="34" charset="-122"/>
                <a:cs typeface="Calibri" pitchFamily="34" charset="-120"/>
              </a:rPr>
              <a:t>Buatan AI (kunci foto belum ada)</a:t>
            </a:r>
            <a:endParaRPr lang="en-US" sz="1200" dirty="0"/>
          </a:p>
        </p:txBody>
      </p:sp>
      <p:sp>
        <p:nvSpPr>
          <p:cNvPr id="4" name="Text 2"/>
          <p:cNvSpPr txBox="1"/>
          <p:nvPr/>
        </p:nvSpPr>
        <p:spPr>
          <a:xfrm>
            <a:off x="548640" y="868680"/>
            <a:ext cx="8046720" cy="50292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Jawaban: e. 3/2</a:t>
            </a:r>
            <a:endParaRPr lang="en-US" sz="1500" dirty="0"/>
          </a:p>
        </p:txBody>
      </p:sp>
      <p:sp>
        <p:nvSpPr>
          <p:cNvPr id="5" name="Text 3"/>
          <p:cNvSpPr txBox="1"/>
          <p:nvPr/>
        </p:nvSpPr>
        <p:spPr>
          <a:xfrm>
            <a:off x="548640" y="1463040"/>
            <a:ext cx="8046720" cy="329184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Misal u = x − 3, sehingga 6x − 18 = 6u dan x − 9/x = (x − 3)(x + 3)/x = u(x + 3)/x.</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1 − cos 6u ≈ (6u)²/2 = 18u² dan sin 6u ≈ 6u.</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Penyebut ≈ [u(x + 3)/x] · 6u = 6u² (x + 3)/x → untuk x = 3: 6u² · 2 = 12u².</a:t>
            </a:r>
            <a:endParaRPr lang="en-US" sz="1600" dirty="0"/>
          </a:p>
          <a:p>
            <a:pPr marL="342900" indent="-342900">
              <a:spcAft>
                <a:spcPts val="500"/>
              </a:spcAft>
              <a:buSzPct val="100000"/>
              <a:buFont typeface="+mj-lt"/>
              <a:buAutoNum type="arabicPeriod" startAt="1"/>
            </a:pPr>
            <a:r>
              <a:rPr lang="en-US" sz="1600" dirty="0">
                <a:solidFill>
                  <a:srgbClr val="1E293B"/>
                </a:solidFill>
                <a:latin typeface="Calibri" pitchFamily="34" charset="0"/>
                <a:ea typeface="Calibri" pitchFamily="34" charset="-122"/>
                <a:cs typeface="Calibri" pitchFamily="34" charset="-120"/>
              </a:rPr>
              <a:t>Limit = 18u² / 12u² = 3/2.</a:t>
            </a:r>
            <a:endParaRPr lang="en-US" sz="16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0B1020"/>
        </a:solidFill>
      </p:bgPr>
    </p:bg>
    <p:spTree>
      <p:nvGrpSpPr>
        <p:cNvPr id="1" name=""/>
        <p:cNvGrpSpPr/>
        <p:nvPr/>
      </p:nvGrpSpPr>
      <p:grpSpPr>
        <a:xfrm>
          <a:off x="0" y="0"/>
          <a:ext cx="0" cy="0"/>
          <a:chOff x="0" y="0"/>
          <a:chExt cx="0" cy="0"/>
        </a:xfrm>
      </p:grpSpPr>
      <p:sp>
        <p:nvSpPr>
          <p:cNvPr id="2" name="Text 0"/>
          <p:cNvSpPr txBox="1"/>
          <p:nvPr/>
        </p:nvSpPr>
        <p:spPr>
          <a:xfrm>
            <a:off x="640080" y="1188720"/>
            <a:ext cx="7863840" cy="914400"/>
          </a:xfrm>
          <a:prstGeom prst="rect">
            <a:avLst/>
          </a:prstGeom>
          <a:noFill/>
          <a:ln/>
        </p:spPr>
        <p:txBody>
          <a:bodyPr wrap="square"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Terima kasih</a:t>
            </a:r>
            <a:endParaRPr lang="en-US" sz="4000" dirty="0"/>
          </a:p>
        </p:txBody>
      </p:sp>
      <p:sp>
        <p:nvSpPr>
          <p:cNvPr id="3" name="Text 1"/>
          <p:cNvSpPr txBox="1"/>
          <p:nvPr/>
        </p:nvSpPr>
        <p:spPr>
          <a:xfrm>
            <a:off x="640080" y="2377440"/>
            <a:ext cx="7863840" cy="640080"/>
          </a:xfrm>
          <a:prstGeom prst="rect">
            <a:avLst/>
          </a:prstGeom>
          <a:noFill/>
          <a:ln/>
        </p:spPr>
        <p:txBody>
          <a:bodyPr wrap="square" rtlCol="0" anchor="ctr"/>
          <a:lstStyle/>
          <a:p>
            <a:pPr algn="ctr" indent="0" marL="0">
              <a:buNone/>
            </a:pPr>
            <a:r>
              <a:rPr lang="en-US" sz="2200" dirty="0">
                <a:solidFill>
                  <a:srgbClr val="C7D2FE"/>
                </a:solidFill>
                <a:latin typeface="Calibri" pitchFamily="34" charset="0"/>
                <a:ea typeface="Calibri" pitchFamily="34" charset="-122"/>
                <a:cs typeface="Calibri" pitchFamily="34" charset="-120"/>
              </a:rPr>
              <a:t>Wassalamu'alaikum Warahmatullahi Wabarakatuh</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273</Slides>
  <Notes>273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273</vt:i4>
      </vt:variant>
    </vt:vector>
  </HeadingPairs>
  <TitlesOfParts>
    <vt:vector size="2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Pemaparan, Tips dan Trik Penyelesaian Soal - Soal TKA</dc:title>
  <dc:subject>PptxGenJS Presentation</dc:subject>
  <dc:creator>PptxGenJS</dc:creator>
  <cp:lastModifiedBy>PptxGenJS</cp:lastModifiedBy>
  <cp:revision>1</cp:revision>
  <dcterms:created xsi:type="dcterms:W3CDTF">2026-10-07T19:37:43Z</dcterms:created>
  <dcterms:modified xsi:type="dcterms:W3CDTF">2026-10-07T19:37:43Z</dcterms:modified>
</cp:coreProperties>
</file>