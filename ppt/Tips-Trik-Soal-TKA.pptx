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Lst>
  <p:notesMasterIdLst>
    <p:notesMasterId r:id="rId1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notesMaster" Target="notesMasters/notesMaster1.xml"/><Relationship Id="rId119" Type="http://schemas.openxmlformats.org/officeDocument/2006/relationships/presProps" Target="presProps.xml"/><Relationship Id="rId120" Type="http://schemas.openxmlformats.org/officeDocument/2006/relationships/viewProps" Target="viewProps.xml"/><Relationship Id="rId121" Type="http://schemas.openxmlformats.org/officeDocument/2006/relationships/theme" Target="theme/theme1.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640080" y="822960"/>
            <a:ext cx="7863840" cy="548640"/>
          </a:xfrm>
          <a:prstGeom prst="rect">
            <a:avLst/>
          </a:prstGeom>
          <a:noFill/>
          <a:ln/>
        </p:spPr>
        <p:txBody>
          <a:bodyPr wrap="square" rtlCol="0" anchor="ctr"/>
          <a:lstStyle/>
          <a:p>
            <a:pPr algn="ctr" indent="0" marL="0">
              <a:buNone/>
            </a:pPr>
            <a:r>
              <a:rPr lang="en-US" sz="2200" dirty="0">
                <a:solidFill>
                  <a:srgbClr val="C7D2FE"/>
                </a:solidFill>
                <a:latin typeface="Calibri" pitchFamily="34" charset="0"/>
                <a:ea typeface="Calibri" pitchFamily="34" charset="-122"/>
                <a:cs typeface="Calibri" pitchFamily="34" charset="-120"/>
              </a:rPr>
              <a:t>Assalamu'alaikum Warahmatullahi Wabarakatuh</a:t>
            </a:r>
            <a:endParaRPr lang="en-US" sz="2200" dirty="0"/>
          </a:p>
        </p:txBody>
      </p:sp>
      <p:sp>
        <p:nvSpPr>
          <p:cNvPr id="3" name="Text 1"/>
          <p:cNvSpPr txBox="1"/>
          <p:nvPr/>
        </p:nvSpPr>
        <p:spPr>
          <a:xfrm>
            <a:off x="640080" y="1645920"/>
            <a:ext cx="7863840" cy="146304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Pemaparan, Tips dan Trik Penyelesaian Soal - Soal TKA</a:t>
            </a:r>
            <a:endParaRPr lang="en-US" sz="3400" dirty="0"/>
          </a:p>
        </p:txBody>
      </p:sp>
      <p:sp>
        <p:nvSpPr>
          <p:cNvPr id="4" name="Text 2"/>
          <p:cNvSpPr txBox="1"/>
          <p:nvPr/>
        </p:nvSpPr>
        <p:spPr>
          <a:xfrm>
            <a:off x="640080" y="3383280"/>
            <a:ext cx="7863840" cy="457200"/>
          </a:xfrm>
          <a:prstGeom prst="rect">
            <a:avLst/>
          </a:prstGeom>
          <a:noFill/>
          <a:ln/>
        </p:spPr>
        <p:txBody>
          <a:bodyPr wrap="square" rtlCol="0" anchor="ctr"/>
          <a:lstStyle/>
          <a:p>
            <a:pPr algn="ctr" indent="0" marL="0">
              <a:buNone/>
            </a:pPr>
            <a:r>
              <a:rPr lang="en-US" sz="1600" dirty="0">
                <a:solidFill>
                  <a:srgbClr val="A5B4FC"/>
                </a:solidFill>
                <a:latin typeface="Calibri" pitchFamily="34" charset="0"/>
                <a:ea typeface="Calibri" pitchFamily="34" charset="-122"/>
                <a:cs typeface="Calibri" pitchFamily="34" charset="-120"/>
              </a:rPr>
              <a:t>Level 1 &amp; 2 · 48 Soal dan Pembahasan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  ·  Himpunan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A = {x | x &lt; 6, x ∈ Bilangan Asli}</a:t>
            </a: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B = {x | x bilangan genap, x ∈ Bilangan Cacah}</a:t>
            </a: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C = {x | x ≤ 10, x ∈ Bilangan Prima}</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Hasil dari (A ∩ B) ∪ C adalah ....</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{2, 3, 5, 7}</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{0, 2, 3, 5, 7}</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{2, 3, 4, 5, 7}</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{0, 2, 3, 4, 5, 7}</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{2, 3, 4, 5, 7, 10}</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{2, 3, 4, 5, 7}</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Irisan (∩) = cari angka yang sama; Gabungan (∪) = satukan semua.</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 = {1, 2, 3, 4, 5}; B = {0, 2, 4, 6, 8, …}; C = {2, 3, 5, 7}.</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 ∩ B = {2, 4}.</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 ∩ B) ∪ C = {2, 4} ∪ {2, 3, 5, 7} = {2, 3, 4, 5, 7}. Jawaban: c.</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  ·  Bilangan Berpangkat</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Bentuk sederhana dari</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(3^(2/3) × 8^(3/2)) / (2^(5/2) × 9^(5/6)) adalah ....</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a. 1/42</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b. 2/3</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c. 4/3</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d. 6</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e. 12</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4/3</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Ubah ke basis prima: 8 = 2³ dan 9 = 3².</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Pembilang: 3^(2/3) × (2³)^(3/2) = 3^(2/3) × 2^(9/2).</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Penyebut: 2^(5/2) × (3²)^(5/6) = 2^(5/2) × 3^(5/3).</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Bagi basis sama, kurangkan pangkat: 2^(9/2 − 5/2) × 3^(2/3 − 5/3) = 2² × 3⁻¹.</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 4 × 1/3 = 4/3. Jawaban: c.</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  ·  Operasi Biner</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Operasi biner ⊙ didefinisikan a ⊙ b = ((a − b)² + 2ab) / (a + b) untuk bilangan real tidak negatif a dan b.</a:t>
            </a: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Jika a ⊙ 2 = 5, tentukan Benar atau Salah!</a:t>
            </a:r>
            <a:endParaRPr lang="en-US" sz="1600" dirty="0"/>
          </a:p>
          <a:p>
            <a:pPr indent="0" marL="0">
              <a:spcAft>
                <a:spcPts val="400"/>
              </a:spcAft>
              <a:buNone/>
            </a:pPr>
            <a:r>
              <a:rPr lang="en-US" sz="1600" b="1" dirty="0">
                <a:solidFill>
                  <a:srgbClr val="1E293B"/>
                </a:solidFill>
                <a:latin typeface="Calibri" pitchFamily="34" charset="0"/>
                <a:ea typeface="Calibri" pitchFamily="34" charset="-122"/>
                <a:cs typeface="Calibri" pitchFamily="34" charset="-120"/>
              </a:rPr>
              <a:t>Tentukan Benar atau Salah:</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1. a merupakan kelipatan dari 3</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2. a merupakan bilangan prima</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3. a ⊙ 0 = 6</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1=Benar, 2=Salah, 3=Benar</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 ⊙ 2 = ((a−2)² + 4a)/(a+2) = (a² + 4)/(a+2) = 5.</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5(a+2) = a² + 4 → a² − 5a − 6 = 0 → (a − 6)(a + 1) = 0.</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 = 6 (a = −1 ditolak karena harus tidak negatif).</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6 kelipatan 3 → Benar. 6 bukan prima → Salah.</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6 ⊙ 0 = (6² + 0)/6 = 6 → Benar.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4  ·  Fungsi Linear</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Model kenaikan suhu akibat pemanasan global: y = 0,02x − 39,9 (x = tahun, y = kenaikan suhu dalam °C).</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Pada tahun berapakah kenaikan suhu diperkirakan mencapai 0,7 °C?</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Tahun 2000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Tahun 2003</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Tahun 2025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Tahun 2030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Tahun 2345</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4</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Tahun 2030</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Substitusi y = 0,7: 0,7 = 0,02x − 39,9.</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Pindahkan: 0,02x = 0,7 + 39,9 = 40,6.</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x = 40,6 / 0,02 = 2030. Jawaban: 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5  ·  Fungsi Komposisi</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Les Pintarku memberi potongan biaya untuk 50 pendaftar pertama (y = 0,9x); pendaftar lain bayar harga normal. Diskon rapor: g(y) = 0,7y jika nilai rapor di atas 90; 0,8y jika nilai 85–90.</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Fira (pendaftar ke-50) membayar Rp180.000.</a:t>
            </a:r>
            <a:endParaRPr lang="en-US" sz="1300" dirty="0"/>
          </a:p>
          <a:p>
            <a:pPr indent="0" marL="0">
              <a:spcAft>
                <a:spcPts val="800"/>
              </a:spcAft>
              <a:buNone/>
            </a:pP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Andi (nilai 90, uang Rp285.000), Budi (92, Rp286.000), Cici (89, Rp280.000), Dini (95, Rp287.000) mendaftar setelah Fira.</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Siapa yang pasti dapat mengikuti kursus?</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a. Dini</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b. Dini dan Budi</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c. Dini, Budi dan Andi</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d. Dini, Cici, Budi dan Andi</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e. Cici dan Andi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5</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Dini, Cici, Budi dan Andi</a:t>
            </a:r>
            <a:endParaRPr lang="en-US" sz="1500" dirty="0"/>
          </a:p>
        </p:txBody>
      </p:sp>
      <p:sp>
        <p:nvSpPr>
          <p:cNvPr id="5" name="Text 3"/>
          <p:cNvSpPr txBox="1"/>
          <p:nvPr/>
        </p:nvSpPr>
        <p:spPr>
          <a:xfrm>
            <a:off x="548640" y="1463040"/>
            <a:ext cx="804672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Fira: 0,9x = 180.000 → harga normal x = 200.000.</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Empat siswa mendaftar setelah ke-50 → bayar harga normal 200.000 (y = 200.000).</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Andi (90): 0,8 × 200.000 = 160.000 ≤ 285.000 ✓. Budi (92): 0,7 × 200.000 = 140.000 ✓.</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Cici (89): 160.000 ≤ 280.000 ✓. Dini (95): 140.000 ✓.</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Semua mampu → Dini, Cici, Budi dan Andi.</a:t>
            </a:r>
            <a:endParaRPr lang="en-US" sz="1400" dirty="0"/>
          </a:p>
        </p:txBody>
      </p:sp>
      <p:sp>
        <p:nvSpPr>
          <p:cNvPr id="6" name="Text 4"/>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Asumsi AI: pendaftar setelah ke-50 membayar harga normal. Cocokkan dengan kunci resmi jika ada.</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6  ·  Barisan Aritmetika</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Baris kursi paling bawah memegang 400 kertas, baris kedua 550 kertas, dan seterusnya bertambah dengan pola yang sama.</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Jika pola berlaku sampai baris ketujuh, berapa penonton yang memegang kertas di baris ke-5?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700 orang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850 orang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1.000 orang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1.150 orang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1.300 orang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6</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1.000 orang</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Selisih tiap baris: 550 − 400 = 150 (beda tetap → barisan aritmetika).</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Baris 1 = 400, baris 2 = 550, baris 3 = 700, baris 4 = 850, baris 5 = 1.000.</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Jawaban: c. 1.000 orang.</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7  ·  Barisan Geometri</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Kadar asam urat awal (hari ke-1) 13 mg/dL. Obat menurunkan kadar 20% setiap hari (sisa 80%).</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 Nyaman jika kadar di bawah 7 mg/dL.</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 Sembuh klinis jika kadar kurang dari 5 mg/dL.</a:t>
            </a:r>
            <a:endParaRPr lang="en-US" sz="1400" dirty="0"/>
          </a:p>
          <a:p>
            <a:pPr indent="0" marL="0">
              <a:spcAft>
                <a:spcPts val="800"/>
              </a:spcAft>
              <a:buNone/>
            </a:pP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Pada hari keberapa pasien merasa nyaman namun belum dianggap sembuh?</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(Pilih semua jawaban benar)</a:t>
            </a:r>
            <a:endParaRPr lang="en-US" sz="1400" dirty="0"/>
          </a:p>
          <a:p>
            <a:pPr indent="0" marL="0">
              <a:spcAft>
                <a:spcPts val="400"/>
              </a:spcAft>
              <a:buNone/>
            </a:pPr>
            <a:r>
              <a:rPr lang="en-US" sz="1400" i="1" dirty="0">
                <a:solidFill>
                  <a:srgbClr val="1E293B"/>
                </a:solidFill>
                <a:latin typeface="Calibri" pitchFamily="34" charset="0"/>
                <a:ea typeface="Calibri" pitchFamily="34" charset="-122"/>
                <a:cs typeface="Calibri" pitchFamily="34" charset="-120"/>
              </a:rPr>
              <a:t>(Pilih semua jawaban yang benar)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Hari ke-2</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Hari ke-3</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Hari ke-4</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Hari ke-5</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Hari ke-6</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7</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Hari ke-4  |  d. Hari ke-5</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Kadar sisa tiap hari = 80% = 80/100 dari hari sebelumnya.</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H1 = 13; H2 = 0,8×13 = 10,4; H3 = 0,8×10,4 = 8,32.</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H4 = 0,8×8,32 = 6,656 (&lt;7 → nyaman, belum &lt;5).</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H5 = 0,8×6,656 = 5,3248 (masih nyaman, belum &lt;5).</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H6 = 0,8×5,3248 = 4,2598 (&lt;5 → sembuh).</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Nyaman tapi belum sembuh: hari ke-4 dan ke-5.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8  ·  Pertidaksamaan Linear</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Daerah yang diarsir (segitiga ABC dengan A(−4,0), B(0,2), C(2,0)) merupakan himpunan penyelesaian dari sistem pertidaksamaan ....</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x − 2y ≥ −4; x + y ≤ 2; x ≥ 0; y ≥ 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x − 2y ≥ −4; x + y ≥ 2; y ≥ 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2x − y ≤ 4; x + y ≤ 2; y ≥ 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x − 2y ≥ −4; x + y ≤ 2; y ≥ 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2x − y ≥ 4; x + y ≤ 2; x ≥ 0; y ≥ 0</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8  ·  Gambar</a:t>
            </a:r>
            <a:endParaRPr lang="en-US" sz="2000" dirty="0"/>
          </a:p>
        </p:txBody>
      </p:sp>
      <p:pic>
        <p:nvPicPr>
          <p:cNvPr id="3" name="Image 0" descr="../assets/soal/p8.jpg">    </p:cNvPr>
          <p:cNvPicPr>
            <a:picLocks noChangeAspect="1"/>
          </p:cNvPicPr>
          <p:nvPr/>
        </p:nvPicPr>
        <p:blipFill>
          <a:blip r:embed="rId1"/>
          <a:stretch>
            <a:fillRect/>
          </a:stretch>
        </p:blipFill>
        <p:spPr>
          <a:xfrm>
            <a:off x="2439685" y="914400"/>
            <a:ext cx="4264629" cy="38404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8</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x − 2y ≥ −4; x + y ≤ 2; y ≥ 0</a:t>
            </a:r>
            <a:endParaRPr lang="en-US" sz="1500" dirty="0"/>
          </a:p>
        </p:txBody>
      </p:sp>
      <p:sp>
        <p:nvSpPr>
          <p:cNvPr id="5" name="Text 3"/>
          <p:cNvSpPr txBox="1"/>
          <p:nvPr/>
        </p:nvSpPr>
        <p:spPr>
          <a:xfrm>
            <a:off x="548640" y="1463040"/>
            <a:ext cx="804672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Garis f lewat A(−4,0) dan B(0,2): x − 2y = −4. Uji O(0,0): 0 ≥ −4 → x − 2y ≥ −4.</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Garis g lewat B(0,2) dan C(2,0): x + y = 2. Uji O(0,0): 0 ≤ 2 → x + y ≤ 2.</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Batas bawah sumbu X → y ≥ 0. Daerah meluas ke x negatif (titik A), jadi TIDAK ada x ≥ 0.</a:t>
            </a:r>
            <a:endParaRPr lang="en-US" sz="1600" dirty="0"/>
          </a:p>
        </p:txBody>
      </p:sp>
      <p:sp>
        <p:nvSpPr>
          <p:cNvPr id="6" name="Text 4"/>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Urutan huruf opsi dari PDF agak berantakan; pilih sistem yang isinya sama dengan jawaban ini.</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9  ·  Sistem Persamaan Linear</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Misal mawar = a, lili = b, anyelir = c.</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Buket A: 2a + 3b + c = Rp85.000</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Buket B: a + 2b + 2c = Rp70.000</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Buket C: 3a + b + c = Rp75.000</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(Komposisi dibaca dari gambar buket.)</a:t>
            </a:r>
            <a:endParaRPr lang="en-US" sz="1400" dirty="0"/>
          </a:p>
          <a:p>
            <a:pPr indent="0" marL="0">
              <a:spcAft>
                <a:spcPts val="800"/>
              </a:spcAft>
              <a:buNone/>
            </a:pP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Pembeli membeli buket tipe C dan menambah 2 tangkai lili + 1 tangkai anyelir (harga satuan). Total yang dibayar?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Rp75.000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Rp102.000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Rp110.000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Rp115.000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Rp116.000</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9  ·  Gambar</a:t>
            </a:r>
            <a:endParaRPr lang="en-US" sz="2000" dirty="0"/>
          </a:p>
        </p:txBody>
      </p:sp>
      <p:pic>
        <p:nvPicPr>
          <p:cNvPr id="3" name="Image 0" descr="../assets/soal/p9.jpg">    </p:cNvPr>
          <p:cNvPicPr>
            <a:picLocks noChangeAspect="1"/>
          </p:cNvPicPr>
          <p:nvPr/>
        </p:nvPicPr>
        <p:blipFill>
          <a:blip r:embed="rId1"/>
          <a:stretch>
            <a:fillRect/>
          </a:stretch>
        </p:blipFill>
        <p:spPr>
          <a:xfrm>
            <a:off x="2943590" y="914400"/>
            <a:ext cx="3256820" cy="38404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9</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Rp115.000</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Eliminasi (1) &amp; (2): kalikan (2) dengan 2 lalu kurangkan dengan (1) → b + 3c = 55.000 …(3).</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Eliminasi (2) &amp; (3): kalikan (2) dengan 3 lalu kurangkan dengan (3) → 5b + 5c = 135.000 …(4).</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Eliminasi (3) &amp; (4): 10c = 140.000 → c = 14.000.</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Substitusi ke (3): b + 42.000 = 55.000 → b = 13.000.</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Total = buket C + 2b + c = 75.000 + 26.000 + 14.000 = Rp115.000. Jawaban: 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10  ·  Hubungan Sudut</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Pada gambar (segitiga dengan dua garis sejajar dipotong satu garis miring; sudut A, F, E, B, D, C — lihat foto kunci setelah menjawab), pasangan sudut manakah yang membentuk 180°?</a:t>
            </a: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(Pilih semua jawaban benar)</a:t>
            </a:r>
            <a:endParaRPr lang="en-US" sz="1600" dirty="0"/>
          </a:p>
          <a:p>
            <a:pPr indent="0" marL="0">
              <a:spcAft>
                <a:spcPts val="400"/>
              </a:spcAft>
              <a:buNone/>
            </a:pPr>
            <a:r>
              <a:rPr lang="en-US" sz="1600" i="1" dirty="0">
                <a:solidFill>
                  <a:srgbClr val="1E293B"/>
                </a:solidFill>
                <a:latin typeface="Calibri" pitchFamily="34" charset="0"/>
                <a:ea typeface="Calibri" pitchFamily="34" charset="-122"/>
                <a:cs typeface="Calibri" pitchFamily="34" charset="-120"/>
              </a:rPr>
              <a:t>(Pilih semua jawaban yang benar)</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∠A dan ∠B</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∠A dan ∠E</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∠B dan ∠C</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∠B dan ∠D</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∠E dan ∠C</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10  ·  Gambar</a:t>
            </a:r>
            <a:endParaRPr lang="en-US" sz="2000" dirty="0"/>
          </a:p>
        </p:txBody>
      </p:sp>
      <p:pic>
        <p:nvPicPr>
          <p:cNvPr id="3" name="Image 0" descr="../assets/soal/p10.jpg">    </p:cNvPr>
          <p:cNvPicPr>
            <a:picLocks noChangeAspect="1"/>
          </p:cNvPicPr>
          <p:nvPr/>
        </p:nvPicPr>
        <p:blipFill>
          <a:blip r:embed="rId1"/>
          <a:stretch>
            <a:fillRect/>
          </a:stretch>
        </p:blipFill>
        <p:spPr>
          <a:xfrm>
            <a:off x="2025495" y="914400"/>
            <a:ext cx="5093011" cy="38404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10</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∠B dan ∠C  |  d. ∠B dan ∠D  |  e. ∠E dan ∠C</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∠F dan ∠C sehadap → ∠F = ∠C. ∠F dan ∠E berpelurus → ∠F + ∠E = 180°, sehingga ∠E + ∠C = 180° ✓.</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 dan ∠D berpelurus → ∠B + ∠D = 180° ✓.</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∠C dan ∠D berseberangan → ∠C = ∠D, sehingga ∠B + ∠C = 180° ✓.</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Jawaban: ∠B &amp; ∠C, ∠B &amp; ∠D, ∠E &amp; ∠C.</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11  ·  Hubungan Bidang</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Rak buku gantung berada pada dinding CDHG. Papan jadwal tidak boleh diletakkan pada dinding yang sejajar dengan dinding rak buku. Pada dinding manakah papan jadwal boleh diletakkan? (Pilih semua yang benar)</a:t>
            </a:r>
            <a:endParaRPr lang="en-US" sz="1600" dirty="0"/>
          </a:p>
          <a:p>
            <a:pPr indent="0" marL="0">
              <a:spcAft>
                <a:spcPts val="400"/>
              </a:spcAft>
              <a:buNone/>
            </a:pPr>
            <a:r>
              <a:rPr lang="en-US" sz="1600" i="1" dirty="0">
                <a:solidFill>
                  <a:srgbClr val="1E293B"/>
                </a:solidFill>
                <a:latin typeface="Calibri" pitchFamily="34" charset="0"/>
                <a:ea typeface="Calibri" pitchFamily="34" charset="-122"/>
                <a:cs typeface="Calibri" pitchFamily="34" charset="-120"/>
              </a:rPr>
              <a:t>(Pilih semua jawaban yang benar)</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CDHG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BCGF</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ABFE</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BCFA</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ADHE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11  ·  Gambar</a:t>
            </a:r>
            <a:endParaRPr lang="en-US" sz="2000" dirty="0"/>
          </a:p>
        </p:txBody>
      </p:sp>
      <p:pic>
        <p:nvPicPr>
          <p:cNvPr id="3" name="Image 0" descr="../assets/soal/p11.jpg">    </p:cNvPr>
          <p:cNvPicPr>
            <a:picLocks noChangeAspect="1"/>
          </p:cNvPicPr>
          <p:nvPr/>
        </p:nvPicPr>
        <p:blipFill>
          <a:blip r:embed="rId1"/>
          <a:stretch>
            <a:fillRect/>
          </a:stretch>
        </p:blipFill>
        <p:spPr>
          <a:xfrm>
            <a:off x="2927795" y="914400"/>
            <a:ext cx="3288411" cy="38404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11</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a. CDHG  |  b. BCGF  |  e. ADHE</a:t>
            </a:r>
            <a:endParaRPr lang="en-US" sz="1500" dirty="0"/>
          </a:p>
        </p:txBody>
      </p:sp>
      <p:sp>
        <p:nvSpPr>
          <p:cNvPr id="5" name="Text 3"/>
          <p:cNvSpPr txBox="1"/>
          <p:nvPr/>
        </p:nvSpPr>
        <p:spPr>
          <a:xfrm>
            <a:off x="548640" y="1463040"/>
            <a:ext cx="804672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Dinding rak = CDHG (belakang-kanan). Dinding yang sejajar dengannya = dinding di seberang = ABFE → dilarang.</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BCFA bukan dinding (bukan sisi ruangan).</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Boleh: CDHG (dinding rak itu sendiri), BCGF, dan ADHE (tegak lurus dinding rak).</a:t>
            </a:r>
            <a:endParaRPr lang="en-US" sz="1600" dirty="0"/>
          </a:p>
        </p:txBody>
      </p:sp>
      <p:sp>
        <p:nvSpPr>
          <p:cNvPr id="6" name="Text 4"/>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Asumsi AI: rak berada di dinding CDHG sesuai gambar.</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12  ·  Kesebangunan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Trapesium KLMN dan NMPO sebangun. OP = 18 cm, KN = 16 cm, KL = 32 cm (PR tegak lurus KL, Q di perpotongan PR dan NM; lihat foto kunci).</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Berapakah panjang sisi LM?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6√5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8√5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9√5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10√5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14√5 cm</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12  ·  Gambar</a:t>
            </a:r>
            <a:endParaRPr lang="en-US" sz="2000" dirty="0"/>
          </a:p>
        </p:txBody>
      </p:sp>
      <p:pic>
        <p:nvPicPr>
          <p:cNvPr id="3" name="Image 0" descr="../assets/soal/p12.jpg">    </p:cNvPr>
          <p:cNvPicPr>
            <a:picLocks noChangeAspect="1"/>
          </p:cNvPicPr>
          <p:nvPr/>
        </p:nvPicPr>
        <p:blipFill>
          <a:blip r:embed="rId1"/>
          <a:stretch>
            <a:fillRect/>
          </a:stretch>
        </p:blipFill>
        <p:spPr>
          <a:xfrm>
            <a:off x="2914434" y="914400"/>
            <a:ext cx="3315131" cy="38404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12</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8√5 cm</a:t>
            </a:r>
            <a:endParaRPr lang="en-US" sz="1500" dirty="0"/>
          </a:p>
        </p:txBody>
      </p:sp>
      <p:sp>
        <p:nvSpPr>
          <p:cNvPr id="5" name="Text 3"/>
          <p:cNvSpPr txBox="1"/>
          <p:nvPr/>
        </p:nvSpPr>
        <p:spPr>
          <a:xfrm>
            <a:off x="5486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kunci (sesuai foto)</a:t>
            </a:r>
            <a:endParaRPr lang="en-US" sz="1300" dirty="0"/>
          </a:p>
        </p:txBody>
      </p:sp>
      <p:sp>
        <p:nvSpPr>
          <p:cNvPr id="6" name="Text 4"/>
          <p:cNvSpPr txBox="1"/>
          <p:nvPr/>
        </p:nvSpPr>
        <p:spPr>
          <a:xfrm>
            <a:off x="5486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KL/MN = MN/OP → 32/MN = MN/18 → MN² = 32 × 18 = 576 → MN = 24 cm.</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KN/NO = KL/MN → 16/NO = 32/24 → NO = 12 cm = PQ.</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QM = MN − OP = 24 − 18 = 6 → PM = √(6² + 12²) = √180 = 6√5.</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RL = 32 − 18 = 14; PR = 12 + 16 = 28 → PL = √(14² + 28²) = √(196 + 784) = √580 = 14√5 (di foto tertulis √580).</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LM = PL − PM = 14√5 − 6√5 = 8√5 cm.</a:t>
            </a:r>
            <a:endParaRPr lang="en-US" sz="1200" dirty="0"/>
          </a:p>
        </p:txBody>
      </p:sp>
      <p:sp>
        <p:nvSpPr>
          <p:cNvPr id="7" name="Text 5"/>
          <p:cNvSpPr txBox="1"/>
          <p:nvPr/>
        </p:nvSpPr>
        <p:spPr>
          <a:xfrm>
            <a:off x="46634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Claude (dikoreksi/diperjelas)</a:t>
            </a:r>
            <a:endParaRPr lang="en-US" sz="1300" dirty="0"/>
          </a:p>
        </p:txBody>
      </p:sp>
      <p:sp>
        <p:nvSpPr>
          <p:cNvPr id="8" name="Text 6"/>
          <p:cNvSpPr txBox="1"/>
          <p:nvPr/>
        </p:nvSpPr>
        <p:spPr>
          <a:xfrm>
            <a:off x="46634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Sebangun: KL/MN = MN/OP → 32/MN = MN/18 → MN² = 576 → MN = 24 cm.</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KN/NO = KL/MN → 16/NO = 32/24 → NO = 12 cm, jadi PQ = 12 cm.</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QM = MN − OP = 24 − 18 = 6 → PM = √(6² + 12²) = √180 = 6√5.</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RL = KL − KR = 32 − 18 = 14; PR = 12 + 16 = 28 → PL = √(14² + 28²) = √980 = 14√5.</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LM = PL − PM = 14√5 − 6√5 = 8√5 cm. Jawaban: b.</a:t>
            </a:r>
            <a:endParaRPr lang="en-US" sz="1200" dirty="0"/>
          </a:p>
        </p:txBody>
      </p:sp>
      <p:sp>
        <p:nvSpPr>
          <p:cNvPr id="9" name="Text 7"/>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Kunci menulis √580, padahal 196 + 784 = 980, jadi PL = √980 = 14√5. Hasil akhir 8√5 tetap benar.</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13  ·  Teorema Pythagoras</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Pot tanaman diletakkan sepanjang sisi miring kebun. Sisi kebun: 500 cm (kiri), 350 cm (kanan), 360 cm (bawah). Diameter pot: jahe 15 cm, kunyit 26 cm, lengkuas 30 cm.</a:t>
            </a:r>
            <a:endParaRPr lang="en-US" sz="1400" dirty="0"/>
          </a:p>
          <a:p>
            <a:pPr indent="0" marL="0">
              <a:spcAft>
                <a:spcPts val="400"/>
              </a:spcAft>
              <a:buNone/>
            </a:pPr>
            <a:r>
              <a:rPr lang="en-US" sz="1400" b="1" dirty="0">
                <a:solidFill>
                  <a:srgbClr val="1E293B"/>
                </a:solidFill>
                <a:latin typeface="Calibri" pitchFamily="34" charset="0"/>
                <a:ea typeface="Calibri" pitchFamily="34" charset="-122"/>
                <a:cs typeface="Calibri" pitchFamily="34" charset="-120"/>
              </a:rPr>
              <a:t>Tentukan Benar atau Salah: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1. Ada 25 tanaman jahe yang bisa ditanam.</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2. Ada 15 tanaman kunyit yang bisa ditanam.</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3. Ada 10 tanaman lengkuas yang bisa ditanam.</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13  ·  Gambar</a:t>
            </a:r>
            <a:endParaRPr lang="en-US" sz="2000" dirty="0"/>
          </a:p>
        </p:txBody>
      </p:sp>
      <p:pic>
        <p:nvPicPr>
          <p:cNvPr id="3" name="Image 0" descr="../assets/soal/p13.jpg">    </p:cNvPr>
          <p:cNvPicPr>
            <a:picLocks noChangeAspect="1"/>
          </p:cNvPicPr>
          <p:nvPr/>
        </p:nvPicPr>
        <p:blipFill>
          <a:blip r:embed="rId1"/>
          <a:stretch>
            <a:fillRect/>
          </a:stretch>
        </p:blipFill>
        <p:spPr>
          <a:xfrm>
            <a:off x="2982030" y="914400"/>
            <a:ext cx="3179941" cy="38404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13</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1=Salah, 2=Benar, 3=Salah</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Selisih tinggi sisi = 500 − 350 = 150 cm; alas 360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Sisi miring = √(150² + 360²) = √152.100 = 390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Jahe: 390 : 15 = 26 (bukan 25) → Salah. Kunyit: 390 : 26 = 15 → Benar. Lengkuas: 390 : 30 = 13 (bukan 10) → Salah.</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14  ·  Transformasi Geometri</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B direfleksikan oleh garis y = 1, kemudian dirotasikan 180° searah jarum jam berpusat di O(0,0). Bayangannya B′ = (−4, 1).</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Titik B yang sesuai adalah ....</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B(4, −1)</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B(4, 3)</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B(−6, −1)</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B(−2, −1)</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B(2, 4)</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14  ·  Gambar (1/3)</a:t>
            </a:r>
            <a:endParaRPr lang="en-US" sz="2000" dirty="0"/>
          </a:p>
        </p:txBody>
      </p:sp>
      <p:pic>
        <p:nvPicPr>
          <p:cNvPr id="3" name="Image 0" descr="../assets/soal/p14.jpg">    </p:cNvPr>
          <p:cNvPicPr>
            <a:picLocks noChangeAspect="1"/>
          </p:cNvPicPr>
          <p:nvPr/>
        </p:nvPicPr>
        <p:blipFill>
          <a:blip r:embed="rId1"/>
          <a:stretch>
            <a:fillRect/>
          </a:stretch>
        </p:blipFill>
        <p:spPr>
          <a:xfrm>
            <a:off x="2130488" y="914400"/>
            <a:ext cx="4883023" cy="38404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14  ·  Gambar (2/3)</a:t>
            </a:r>
            <a:endParaRPr lang="en-US" sz="2000" dirty="0"/>
          </a:p>
        </p:txBody>
      </p:sp>
      <p:pic>
        <p:nvPicPr>
          <p:cNvPr id="3" name="Image 0" descr="../assets/soal/p15.jpg">    </p:cNvPr>
          <p:cNvPicPr>
            <a:picLocks noChangeAspect="1"/>
          </p:cNvPicPr>
          <p:nvPr/>
        </p:nvPicPr>
        <p:blipFill>
          <a:blip r:embed="rId1"/>
          <a:stretch>
            <a:fillRect/>
          </a:stretch>
        </p:blipFill>
        <p:spPr>
          <a:xfrm>
            <a:off x="3744966" y="914400"/>
            <a:ext cx="1654068" cy="38404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14  ·  Gambar (3/3)</a:t>
            </a:r>
            <a:endParaRPr lang="en-US" sz="2000" dirty="0"/>
          </a:p>
        </p:txBody>
      </p:sp>
      <p:pic>
        <p:nvPicPr>
          <p:cNvPr id="3" name="Image 0" descr="../assets/soal/p16.jpg">    </p:cNvPr>
          <p:cNvPicPr>
            <a:picLocks noChangeAspect="1"/>
          </p:cNvPicPr>
          <p:nvPr/>
        </p:nvPicPr>
        <p:blipFill>
          <a:blip r:embed="rId1"/>
          <a:stretch>
            <a:fillRect/>
          </a:stretch>
        </p:blipFill>
        <p:spPr>
          <a:xfrm>
            <a:off x="3291840" y="914400"/>
            <a:ext cx="2560320" cy="384048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14</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B(4, 3)</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Refleksi y=1: (x, y) → (x, 2−y). Rotasi 180°: (x, y) → (−x, −y).</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Komposisi: (x, y) → (−x, −(2−y)) = (−x, y−2).</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Samakan dengan B′(−4, 1): −x = −4 → x = 4; y − 2 = 1 → y = 3.</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B(4, 3). Jawaban: b.</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15  ·  Jarak Dua Titik</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Tali hiasan dipasang dari pojok dinding pintu ke tengah langit-langit dinding papan tulis. Tali kedua yang sama dipasang ke pojok lain dinding pintu. Jika membeli tali 20 meter, berapa sisa tali yang tidak terpakai?</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6 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10 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11 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13 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15 m</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15  ·  Gambar</a:t>
            </a:r>
            <a:endParaRPr lang="en-US" sz="2000" dirty="0"/>
          </a:p>
        </p:txBody>
      </p:sp>
      <p:pic>
        <p:nvPicPr>
          <p:cNvPr id="3" name="Image 0" descr="../assets/soal/p17.jpg">    </p:cNvPr>
          <p:cNvPicPr>
            <a:picLocks noChangeAspect="1"/>
          </p:cNvPicPr>
          <p:nvPr/>
        </p:nvPicPr>
        <p:blipFill>
          <a:blip r:embed="rId1"/>
          <a:stretch>
            <a:fillRect/>
          </a:stretch>
        </p:blipFill>
        <p:spPr>
          <a:xfrm>
            <a:off x="2855515" y="914400"/>
            <a:ext cx="3432969" cy="384048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15</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10 m</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Dari atas: tengah dinding 3 m dari pojok, jarak ke dinding lain 4 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Panjang satu tali = √(3² + 4²) = √25 = 5 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Dua tali = 2 × 5 = 10 m. Sisa = 20 − 10 = 10 m.</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16  ·  Keliling Gabungan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Ornamen jam dinding berbentuk segitiga dan setengah lingkaran (tinggi total 70 cm, lebar 50 cm, diameter lingkaran 20 cm). Kayu tipis ditempel di sekeliling ornamen. Untuk dua ornamen, berapa panjang kayu yang dibutuhkan?</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322,8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352,8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362,8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382,8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445,6 cm</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16  ·  Gambar (1/2)</a:t>
            </a:r>
            <a:endParaRPr lang="en-US" sz="2000" dirty="0"/>
          </a:p>
        </p:txBody>
      </p:sp>
      <p:pic>
        <p:nvPicPr>
          <p:cNvPr id="3" name="Image 0" descr="../assets/soal/p18.jpg">    </p:cNvPr>
          <p:cNvPicPr>
            <a:picLocks noChangeAspect="1"/>
          </p:cNvPicPr>
          <p:nvPr/>
        </p:nvPicPr>
        <p:blipFill>
          <a:blip r:embed="rId1"/>
          <a:stretch>
            <a:fillRect/>
          </a:stretch>
        </p:blipFill>
        <p:spPr>
          <a:xfrm>
            <a:off x="2410742" y="914400"/>
            <a:ext cx="4322516" cy="384048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16  ·  Gambar (2/2)</a:t>
            </a:r>
            <a:endParaRPr lang="en-US" sz="2000" dirty="0"/>
          </a:p>
        </p:txBody>
      </p:sp>
      <p:pic>
        <p:nvPicPr>
          <p:cNvPr id="3" name="Image 0" descr="../assets/soal/p19.jpg">    </p:cNvPr>
          <p:cNvPicPr>
            <a:picLocks noChangeAspect="1"/>
          </p:cNvPicPr>
          <p:nvPr/>
        </p:nvPicPr>
        <p:blipFill>
          <a:blip r:embed="rId1"/>
          <a:stretch>
            <a:fillRect/>
          </a:stretch>
        </p:blipFill>
        <p:spPr>
          <a:xfrm>
            <a:off x="548640" y="914400"/>
            <a:ext cx="8046720" cy="364018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16</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382,8 cm</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Tinggi segitiga = 70 − 10 = 60 cm; setengah alas = 50 : 2 = 25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Sisi miring = √(60² + 25²) = √4.225 = 65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Setengah lingkaran = ½ × 3,14 × 20 = 31,4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Keliling satu = 65 + 65 + 31,4 + (50 − 20) = 191,4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Dua ornamen = 191,4 × 2 = 382,8 cm.</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17  ·  Kecukupan Data</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Panjang salah satu diagonal layang-layang adalah 20 cm. Berapakah keliling layang-layang tersebut?</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(1) Luas layang-layang adalah 160 cm².</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(2) Panjang salah satu sisi layang-layang adalah 10 cm.</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a. Pernyataan (1) SAJA cukup, tetapi pernyataan (2) SAJA tidak cukup.</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b. Pernyataan (2) SAJA cukup, tetapi pernyataan (1) SAJA tidak cukup.</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c. DUA pernyataan BERSAMA-SAMA cukup, tetapi SATU pernyataan SAJA tidak cukup.</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d. Pernyataan (1) SAJA cukup dan pernyataan (2) SAJA cukup.</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e. Pernyataan (1) dan (2) tidak cukup.</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17</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DUA pernyataan BERSAMA-SAMA cukup, tetapi SATU pernyataan SAJA tidak cukup.</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Pernyataan (1): L = ½ × d₁ × d₂ = 160 → ½ × 20 × d₂ = 160 → d₂ = 16 cm. Tapi keliling butuh sisi-sisi, jadi (1) saja tidak cukup.</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Pernyataan (2): hanya satu sisi = 10 cm, butuh diagonal lain → (2) saja tidak cukup.</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Bersama: diagonal 20 &amp; 16 plus satu sisi 10 cukup menentukan semua sisi → keliling dapat dihitung.</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18  ·  Volume Bangun Ruang</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Kardus helm 20 × 20 × 30 cm. Bak truk: tinggi 120 cm, lebar 150 cm, panjang 240 cm. Kardus tidak boleh dibalik. Berapa paling banyak kardus yang dapat dimuat?</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336 kardus</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360 kardus</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384 kardus</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432 kardus</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504 kardus</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18  ·  Gambar</a:t>
            </a:r>
            <a:endParaRPr lang="en-US" sz="2000" dirty="0"/>
          </a:p>
        </p:txBody>
      </p:sp>
      <p:pic>
        <p:nvPicPr>
          <p:cNvPr id="3" name="Image 0" descr="../assets/soal/p21.jpg">    </p:cNvPr>
          <p:cNvPicPr>
            <a:picLocks noChangeAspect="1"/>
          </p:cNvPicPr>
          <p:nvPr/>
        </p:nvPicPr>
        <p:blipFill>
          <a:blip r:embed="rId1"/>
          <a:stretch>
            <a:fillRect/>
          </a:stretch>
        </p:blipFill>
        <p:spPr>
          <a:xfrm>
            <a:off x="2842859" y="914400"/>
            <a:ext cx="3458281" cy="384048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18</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360 kardus</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Susunan tinggi = 120 : 20 = 6 lapis.</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Kardus per alas = (240 : 20) × (150 : 30) = 12 × 5 = 60 kardus.</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Total = 60 × 6 = 360 kardus.</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19  ·  Luas Selimut Tabung</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Hiasan lampu berbentuk tabung berongga (tanpa alas dan tutup), diameter 14 cm dan tinggi 25 cm, bagian luar dilapisi stiker. Satu lembar stiker Rp9.000 menutupi 300 cm². Untuk 8 hiasan, berapa biaya minimal?</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Rp72.000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Rp108.000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Rp252.000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Rp270.000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Rp288.000</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19  ·  Gambar (1/2)</a:t>
            </a:r>
            <a:endParaRPr lang="en-US" sz="2000" dirty="0"/>
          </a:p>
        </p:txBody>
      </p:sp>
      <p:pic>
        <p:nvPicPr>
          <p:cNvPr id="3" name="Image 0" descr="../assets/soal/p22.jpg">    </p:cNvPr>
          <p:cNvPicPr>
            <a:picLocks noChangeAspect="1"/>
          </p:cNvPicPr>
          <p:nvPr/>
        </p:nvPicPr>
        <p:blipFill>
          <a:blip r:embed="rId1"/>
          <a:stretch>
            <a:fillRect/>
          </a:stretch>
        </p:blipFill>
        <p:spPr>
          <a:xfrm>
            <a:off x="2125605" y="914400"/>
            <a:ext cx="4892790" cy="384048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19  ·  Gambar (2/2)</a:t>
            </a:r>
            <a:endParaRPr lang="en-US" sz="2000" dirty="0"/>
          </a:p>
        </p:txBody>
      </p:sp>
      <p:pic>
        <p:nvPicPr>
          <p:cNvPr id="3" name="Image 0" descr="../assets/soal/p23.jpg">    </p:cNvPr>
          <p:cNvPicPr>
            <a:picLocks noChangeAspect="1"/>
          </p:cNvPicPr>
          <p:nvPr/>
        </p:nvPicPr>
        <p:blipFill>
          <a:blip r:embed="rId1"/>
          <a:stretch>
            <a:fillRect/>
          </a:stretch>
        </p:blipFill>
        <p:spPr>
          <a:xfrm>
            <a:off x="548640" y="914400"/>
            <a:ext cx="8046720" cy="380066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19</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Rp270.000</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Yang ditutup hanya selimut tabung: L = π × d × t = 22/7 × 14 × 25 = 1.100 cm².</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8 hiasan = 8 × 1.100 = 8.800 cm².</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Lembar stiker = 8.800 : 300 ≈ 29,3 → dibulatkan ke atas 30 lembar.</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Biaya = 30 × 9.000 = Rp270.000.</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20  ·  Trigonometri</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Diketahui cos(α) = 3/5. Tentukan Benar atau Salah!</a:t>
            </a:r>
            <a:endParaRPr lang="en-US" sz="1800" dirty="0"/>
          </a:p>
          <a:p>
            <a:pPr indent="0" marL="0">
              <a:spcAft>
                <a:spcPts val="400"/>
              </a:spcAft>
              <a:buNone/>
            </a:pPr>
            <a:r>
              <a:rPr lang="en-US" sz="1800" b="1" dirty="0">
                <a:solidFill>
                  <a:srgbClr val="1E293B"/>
                </a:solidFill>
                <a:latin typeface="Calibri" pitchFamily="34" charset="0"/>
                <a:ea typeface="Calibri" pitchFamily="34" charset="-122"/>
                <a:cs typeface="Calibri" pitchFamily="34" charset="-120"/>
              </a:rPr>
              <a:t>Tentukan Benar atau Salah:</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1. sin(β) = √7/4</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2. cos(β) = √7/5</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3. tan(β) = 3√7/7</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20  ·  Gambar</a:t>
            </a:r>
            <a:endParaRPr lang="en-US" sz="2000" dirty="0"/>
          </a:p>
        </p:txBody>
      </p:sp>
      <p:pic>
        <p:nvPicPr>
          <p:cNvPr id="3" name="Image 0" descr="../assets/soal/p24.jpg">    </p:cNvPr>
          <p:cNvPicPr>
            <a:picLocks noChangeAspect="1"/>
          </p:cNvPicPr>
          <p:nvPr/>
        </p:nvPicPr>
        <p:blipFill>
          <a:blip r:embed="rId1"/>
          <a:stretch>
            <a:fillRect/>
          </a:stretch>
        </p:blipFill>
        <p:spPr>
          <a:xfrm>
            <a:off x="2517790" y="914400"/>
            <a:ext cx="4108420" cy="384048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20</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1=Salah, 2=Salah, 3=Benar</a:t>
            </a:r>
            <a:endParaRPr lang="en-US" sz="1500" dirty="0"/>
          </a:p>
        </p:txBody>
      </p:sp>
      <p:sp>
        <p:nvSpPr>
          <p:cNvPr id="5" name="Text 3"/>
          <p:cNvSpPr txBox="1"/>
          <p:nvPr/>
        </p:nvSpPr>
        <p:spPr>
          <a:xfrm>
            <a:off x="5486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kunci (sesuai foto)</a:t>
            </a:r>
            <a:endParaRPr lang="en-US" sz="1300" dirty="0"/>
          </a:p>
        </p:txBody>
      </p:sp>
      <p:sp>
        <p:nvSpPr>
          <p:cNvPr id="6" name="Text 4"/>
          <p:cNvSpPr txBox="1"/>
          <p:nvPr/>
        </p:nvSpPr>
        <p:spPr>
          <a:xfrm>
            <a:off x="5486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cos α = 3/5 (samping/miring) → AD = 3, AC = 5.</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BD = √(4² − 3²) = √7 cm.</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sin β = depan/miring = 3/4 → pernyataan 1 Salah.</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cos β = samping/miring = √7/4 (bukan √7/5) → Salah.</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tan β = 3/√7 × √7/√7 = 3√7/7 → Benar.</a:t>
            </a:r>
            <a:endParaRPr lang="en-US" sz="1200" dirty="0"/>
          </a:p>
        </p:txBody>
      </p:sp>
      <p:sp>
        <p:nvSpPr>
          <p:cNvPr id="7" name="Text 5"/>
          <p:cNvSpPr txBox="1"/>
          <p:nvPr/>
        </p:nvSpPr>
        <p:spPr>
          <a:xfrm>
            <a:off x="46634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Claude (dikoreksi/diperjelas)</a:t>
            </a:r>
            <a:endParaRPr lang="en-US" sz="1300" dirty="0"/>
          </a:p>
        </p:txBody>
      </p:sp>
      <p:sp>
        <p:nvSpPr>
          <p:cNvPr id="8" name="Text 6"/>
          <p:cNvSpPr txBox="1"/>
          <p:nvPr/>
        </p:nvSpPr>
        <p:spPr>
          <a:xfrm>
            <a:off x="46634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Pada segitiga ADC: cos α = AD/AC = 3/5, jadi AD = 3, AC = 5, lalu DC = √(5² − 3²) = 4 (sama dengan AB = 4, sesuai tanda garis sama).</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Pada segitiga ABD siku-siku di D: AB = 4, AD = 3 → BD = √7.</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sin β = 3/4 → Salah; cos β = √7/4 → Salah; tan β = 3/√7 = 3√7/7 → Benar.</a:t>
            </a:r>
            <a:endParaRPr lang="en-US" sz="1200" dirty="0"/>
          </a:p>
        </p:txBody>
      </p:sp>
      <p:sp>
        <p:nvSpPr>
          <p:cNvPr id="9" name="Text 7"/>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Kunci tidak menjelaskan asal AD = 3 dan AC = 5; versi Claude menurunkannya dari cos α = 3/5 dan tanda AB = DC = 4.</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21  ·  Diagram Garis</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Data banyak lulusan tahun 2017–2025 tiga sekolah (lihat grafik). Pernyataan mana yang tepat? (Pilih semua yang benar)</a:t>
            </a:r>
            <a:endParaRPr lang="en-US" sz="1400" dirty="0"/>
          </a:p>
          <a:p>
            <a:pPr indent="0" marL="0">
              <a:spcAft>
                <a:spcPts val="400"/>
              </a:spcAft>
              <a:buNone/>
            </a:pPr>
            <a:r>
              <a:rPr lang="en-US" sz="1400" i="1" dirty="0">
                <a:solidFill>
                  <a:srgbClr val="1E293B"/>
                </a:solidFill>
                <a:latin typeface="Calibri" pitchFamily="34" charset="0"/>
                <a:ea typeface="Calibri" pitchFamily="34" charset="-122"/>
                <a:cs typeface="Calibri" pitchFamily="34" charset="-120"/>
              </a:rPr>
              <a:t>(Pilih semua jawaban yang benar)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Banyak siswa SMA 1 Bintang yang lulus selalu bertambah mulai tahun 2020.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Pada 2017–2020, lulusan ketiga sekolah selalu bertambah.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Lulusan SMK Kejora konsisten naik selama lima tahun terakhir.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Lulusan SMA 2 Bintang tetap sama selama tiga tahun terakhir.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Lulusan ketiga sekolah di 2023 menurun dibanding tahun sebelumnya.</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21  ·  Gambar</a:t>
            </a:r>
            <a:endParaRPr lang="en-US" sz="2000" dirty="0"/>
          </a:p>
        </p:txBody>
      </p:sp>
      <p:pic>
        <p:nvPicPr>
          <p:cNvPr id="3" name="Image 0" descr="../assets/soal/p25.jpg">    </p:cNvPr>
          <p:cNvPicPr>
            <a:picLocks noChangeAspect="1"/>
          </p:cNvPicPr>
          <p:nvPr/>
        </p:nvPicPr>
        <p:blipFill>
          <a:blip r:embed="rId1"/>
          <a:stretch>
            <a:fillRect/>
          </a:stretch>
        </p:blipFill>
        <p:spPr>
          <a:xfrm>
            <a:off x="2832079" y="914400"/>
            <a:ext cx="3479842" cy="384048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21</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200" b="1" dirty="0">
                <a:solidFill>
                  <a:srgbClr val="059669"/>
                </a:solidFill>
                <a:latin typeface="Calibri" pitchFamily="34" charset="0"/>
                <a:ea typeface="Calibri" pitchFamily="34" charset="-122"/>
                <a:cs typeface="Calibri" pitchFamily="34" charset="-120"/>
              </a:rPr>
              <a:t>Jawaban: a. Banyak siswa SMA 1 Bintang yang lulus selalu bertambah mulai tahun 2020.  |  d. Lulusan SMA 2 Bintang tetap sama selama tiga tahun terakhir.</a:t>
            </a:r>
            <a:endParaRPr lang="en-US" sz="1200" dirty="0"/>
          </a:p>
        </p:txBody>
      </p:sp>
      <p:sp>
        <p:nvSpPr>
          <p:cNvPr id="5" name="Text 3"/>
          <p:cNvSpPr txBox="1"/>
          <p:nvPr/>
        </p:nvSpPr>
        <p:spPr>
          <a:xfrm>
            <a:off x="548640" y="1463040"/>
            <a:ext cx="804672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SMA 1 Bintang: 301 (2020) → 308 → 310 → 315 → 350 → 360, selalu naik →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2017–2020: SMA 1 Bintang turun dari 310 ke 301 (2019→2020) → Salah.</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SMK Kejora: 2022 = 325 turun ke 2023 = 320 → tidak konsisten naik → Salah.</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SMA 2 Bintang: 2023, 2024, 2025 sama-sama 300 →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2023: SMA 1 Bintang naik (310 → 315) → Salah.</a:t>
            </a:r>
            <a:endParaRPr lang="en-US" sz="1400" dirty="0"/>
          </a:p>
        </p:txBody>
      </p:sp>
      <p:sp>
        <p:nvSpPr>
          <p:cNvPr id="6" name="Text 4"/>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Nilai dibaca dari grafik (perkiraan).</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22  ·  Aturan Pencacahan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Ada 5 stan pedagang berbeda. Stan pedagang C ingin berada di antara pedagang A dan pedagang D. Banyak kemungkinan susunan stan adalah ....</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6 susunan</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12 susunan</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120 susunan</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240 susunan</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720 susunan</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22</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12 susunan</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Daftar kemungkinan: ACDBE, ACDEB, BEACD, EBACD, DCABE, DCAEB, BEDCA, EBDCA, BDCAE, EDCAB, BACDE, EACDB.</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Ada 12 susunan.</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Atau: blok (A,C,D) dengan C di tengah = 2 urutan; blok + B + E = 3! → 3! × 2! = 6 × 2 = 12.</a:t>
            </a: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23  ·  Ukuran Pemusatan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Pengunjung perpustakaan minggu ke-1: Senin 4, Selasa p, Rabu 5, Kamis r, Jumat 6. Rata-rata 6 orang; setiap hari minimal 2 dan tidak lebih dari 10 pengunjung; median 6.</a:t>
            </a:r>
            <a:endParaRPr lang="en-US" sz="1400" dirty="0"/>
          </a:p>
          <a:p>
            <a:pPr indent="0" marL="0">
              <a:spcAft>
                <a:spcPts val="400"/>
              </a:spcAft>
              <a:buNone/>
            </a:pPr>
            <a:r>
              <a:rPr lang="en-US" sz="1400" b="1" dirty="0">
                <a:solidFill>
                  <a:srgbClr val="1E293B"/>
                </a:solidFill>
                <a:latin typeface="Calibri" pitchFamily="34" charset="0"/>
                <a:ea typeface="Calibri" pitchFamily="34" charset="-122"/>
                <a:cs typeface="Calibri" pitchFamily="34" charset="-120"/>
              </a:rPr>
              <a:t>Tentukan Benar atau Salah: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1. Banyak pengunjung hari Selasa pasti selalu lebih banyak dibandingkan hari lain.</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2. Banyak pengunjung hari Kamis pasti lebih dari 5 orang.</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3. Banyak pengunjung hari Jumat dan Kamis mungkin saja sama.</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23</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1=Salah, 2=Benar, 3=Benar</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Rata-rata: (4 + p + 5 + r + 6)/5 = 6 → 15 + p + r = 30 → p + r = 15.</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Kemungkinan (p, r): (6,9), (9,6), (7,8), (8,7). Pasangan (10,5) dan (5,10) tidak dipakai karena mediannya 5.</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Selasa tidak selalu terbanyak (mis. p = 6, r = 9) → Salah.</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r selalu ≥ 6, jadi lebih dari 5 →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r = 6 (saat p = 9) sama dengan Jumat → Benar.</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24  ·  Peluang</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Kotak undian berisi 60 angpao: 15 kupon Rp25.000, 12 kupon Rp50.000, 10 set sendok-garpu, 8 pemanas air, sisanya kosong. Berapa peluang Rini mengambil angpao kosong?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1/15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1/5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1/4</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1/3</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5/11</a:t>
            </a:r>
            <a:endParaRPr lang="en-US" sz="1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24</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1/4</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Angpao kosong = 60 − 15 − 12 − 10 − 8 = 15.</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Peluang = 15/60 = 1/4.</a:t>
            </a:r>
            <a:endParaRPr lang="en-US"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25  ·  Peluang Majemuk</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Kotak undian: 6 kertas Minuman Gratis, 4 kertas Makanan Gratis, 5 kertas kosong. Hanya kertas kosong yang dikembalikan. Ani orang kelima yang mengambil. Kertas apa saja yang mungkin sudah terambil sebelumnya sehingga peluang Ani dapat hadiah (minuman/makanan) = 2/3?</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1 minuman gratis, 1 makanan gratis, dan 2 kertas kosong.</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2 makanan gratis dan 2 minuman gratis.</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2 minuman gratis dan 2 kertas kosong.</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4 kertas kosong.</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4 minuman gratis.</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25  ·  Gambar</a:t>
            </a:r>
            <a:endParaRPr lang="en-US" sz="2000" dirty="0"/>
          </a:p>
        </p:txBody>
      </p:sp>
      <p:pic>
        <p:nvPicPr>
          <p:cNvPr id="3" name="Image 0" descr="../assets/soal/p29.jpg">    </p:cNvPr>
          <p:cNvPicPr>
            <a:picLocks noChangeAspect="1"/>
          </p:cNvPicPr>
          <p:nvPr/>
        </p:nvPicPr>
        <p:blipFill>
          <a:blip r:embed="rId1"/>
          <a:stretch>
            <a:fillRect/>
          </a:stretch>
        </p:blipFill>
        <p:spPr>
          <a:xfrm>
            <a:off x="2630735" y="914400"/>
            <a:ext cx="3882529" cy="384048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25</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4 kertas kosong.</a:t>
            </a:r>
            <a:endParaRPr lang="en-US" sz="1500" dirty="0"/>
          </a:p>
        </p:txBody>
      </p:sp>
      <p:sp>
        <p:nvSpPr>
          <p:cNvPr id="5" name="Text 3"/>
          <p:cNvSpPr txBox="1"/>
          <p:nvPr/>
        </p:nvSpPr>
        <p:spPr>
          <a:xfrm>
            <a:off x="5486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kunci (sesuai foto)</a:t>
            </a:r>
            <a:endParaRPr lang="en-US" sz="1300" dirty="0"/>
          </a:p>
        </p:txBody>
      </p:sp>
      <p:sp>
        <p:nvSpPr>
          <p:cNvPr id="6" name="Text 4"/>
          <p:cNvSpPr txBox="1"/>
          <p:nvPr/>
        </p:nvSpPr>
        <p:spPr>
          <a:xfrm>
            <a:off x="5486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Kertas kosong dikembalikan, jadi jumlah kosong tetap 5.</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Cek a: (5+3)/(5+3+5) = 8/13 ≠ 2/3. Cek b: (4+2)/(4+2+5) = 6/11 ≠ 2/3. Cek c: (4+4)/(4+4+5) = 8/13 ≠ 2/3.</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Cek d: 4 kosong → semua kembali: (6+4)/(6+4+5) = 10/15 = 2/3 ✓.</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Kotak kelima di kunci berlabel "Cek jawaban d" (kembar), padahal hasilnya 6/11 ≠ 2/3.</a:t>
            </a:r>
            <a:endParaRPr lang="en-US" sz="1200" dirty="0"/>
          </a:p>
        </p:txBody>
      </p:sp>
      <p:sp>
        <p:nvSpPr>
          <p:cNvPr id="7" name="Text 5"/>
          <p:cNvSpPr txBox="1"/>
          <p:nvPr/>
        </p:nvSpPr>
        <p:spPr>
          <a:xfrm>
            <a:off x="46634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Claude (dikoreksi/diperjelas)</a:t>
            </a:r>
            <a:endParaRPr lang="en-US" sz="1300" dirty="0"/>
          </a:p>
        </p:txBody>
      </p:sp>
      <p:sp>
        <p:nvSpPr>
          <p:cNvPr id="8" name="Text 6"/>
          <p:cNvSpPr txBox="1"/>
          <p:nvPr/>
        </p:nvSpPr>
        <p:spPr>
          <a:xfrm>
            <a:off x="46634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Yang terambil hanya kertas kosong akan dikembalikan → total kertas tetap 15 → peluang hadiah = 10/15 = 2/3 ✓ (opsi d).</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Opsi e (4 minuman): minuman 6 − 4 = 2 → (2 + 4)/(2 + 4 + 5) = 6/11 ≠ 2/3 ✗.</a:t>
            </a:r>
            <a:endParaRPr lang="en-US" sz="1200" dirty="0"/>
          </a:p>
        </p:txBody>
      </p:sp>
      <p:sp>
        <p:nvSpPr>
          <p:cNvPr id="9" name="Text 7"/>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Kotak terakhir di foto kunci salah berlabel "Cek jawaban d"; seharusnya "Cek jawaban e".</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24  ·  Modus Data Kelompok</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Tabel nilai ulangan matematika kelas XI SMA Z:</a:t>
            </a: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58–60: 2 | 61–63: 6 | 64–66: 9 | 67–69: 6 | 70–72: 4 | 73–75: 3</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Modus dari data tersebut adalah ....</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64,0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64,5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65,0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65,5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66,0</a:t>
            </a:r>
            <a:endParaRPr 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24</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65,0</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Frekuensi terbesar = 9 → kelas modus 64–66.</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Tepi bawah = 63,5; d₁ = 9 − 6 = 3; d₂ = 9 − 6 = 3; panjang kelas p = 3.</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Mo = 63,5 + (3/(3+3)) × 3 = 63,5 + 1,5 = 65,0.</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25  ·  Barisan Geometri</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Pada uji beban jembatan, beban di tiga titik tumpuan pertama adalah 500 kg, 1.000 kg, dan 2.000 kg, dan pola yang sama berlanjut. Beton pracetak mengalami retak jika diberi beban tunggal yang melampaui 128 ton pada satu titik.</a:t>
            </a:r>
            <a:endParaRPr lang="en-US" sz="1400" dirty="0"/>
          </a:p>
          <a:p>
            <a:pPr indent="0" marL="0">
              <a:spcAft>
                <a:spcPts val="800"/>
              </a:spcAft>
              <a:buNone/>
            </a:pP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Pada titik tumpuan ke-berapa beban yang diberikan untuk pertama kalinya mencapai batas keamanan struktur?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Titik ke-7</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Titik ke-8</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Titik ke-9</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Titik ke-10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Titik ke-11</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25</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Titik ke-9</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Rasio = 1.000/500 = 2 → barisan geometri, Uₙ = 500 × 2ⁿ⁻¹ kg.</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Batas = 128 ton = 128.000 kg → 500 × 2ⁿ⁻¹ = 128.000 → 2ⁿ⁻¹ = 256 = 2⁸.</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n − 1 = 8 → n = 9. Jawaban: titik ke-9.</a:t>
            </a:r>
            <a:endParaRPr lang="en-US" sz="1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26  ·  Program Linear</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Mebel "Awet" membuat meja (butuh 2 m² kayu, 4 jam kerja) dan kursi (1 m² kayu, 3 jam kerja). Kayu maksimal 20 m²/hari, waktu maksimal 48 jam/hari. Untung 1 meja Rp500.000 dan 1 kursi Rp300.000.</a:t>
            </a:r>
            <a:endParaRPr lang="en-US" sz="1300" dirty="0"/>
          </a:p>
          <a:p>
            <a:pPr indent="0" marL="0">
              <a:spcAft>
                <a:spcPts val="800"/>
              </a:spcAft>
              <a:buNone/>
            </a:pP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Pilih semua pernyataan yang benar!</a:t>
            </a:r>
            <a:endParaRPr lang="en-US" sz="1300" dirty="0"/>
          </a:p>
          <a:p>
            <a:pPr indent="0" marL="0">
              <a:spcAft>
                <a:spcPts val="400"/>
              </a:spcAft>
              <a:buNone/>
            </a:pPr>
            <a:r>
              <a:rPr lang="en-US" sz="1300" i="1" dirty="0">
                <a:solidFill>
                  <a:srgbClr val="1E293B"/>
                </a:solidFill>
                <a:latin typeface="Calibri" pitchFamily="34" charset="0"/>
                <a:ea typeface="Calibri" pitchFamily="34" charset="-122"/>
                <a:cs typeface="Calibri" pitchFamily="34" charset="-120"/>
              </a:rPr>
              <a:t>(Pilih semua jawaban yang benar)</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a. Mebel tidak dapat memproduksi 6 unit meja dan 5 unit kursi secara bersamaan.</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b. Jika mebel hanya memproduksi kursi, jumlah maksimum yang dapat dihasilkan adalah 16 unit.</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c. Memproduksi 2 meja dan 10 kursi menghasilkan keuntungan yang lebih besar daripada memproduksi 8 meja saja.</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d. Keuntungan maksimum yang diperoleh adalah Rp5.400.000,00.</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26</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200" b="1" dirty="0">
                <a:solidFill>
                  <a:srgbClr val="059669"/>
                </a:solidFill>
                <a:latin typeface="Calibri" pitchFamily="34" charset="0"/>
                <a:ea typeface="Calibri" pitchFamily="34" charset="-122"/>
                <a:cs typeface="Calibri" pitchFamily="34" charset="-120"/>
              </a:rPr>
              <a:t>Jawaban: b. Jika mebel hanya memproduksi kursi, jumlah maksimum yang dapat dihasilkan adalah 16 unit.  |  d. Keuntungan maksimum yang diperoleh adalah Rp5.400.000,00.</a:t>
            </a:r>
            <a:endParaRPr lang="en-US" sz="12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rgbClr val="1E293B"/>
                </a:solidFill>
                <a:latin typeface="Calibri" pitchFamily="34" charset="0"/>
                <a:ea typeface="Calibri" pitchFamily="34" charset="-122"/>
                <a:cs typeface="Calibri" pitchFamily="34" charset="-120"/>
              </a:rPr>
              <a:t>Model: 2x + y ≤ 20 dan 4x + 3y ≤ 48; maksimumkan 500.000x + 300.000y.</a:t>
            </a:r>
            <a:endParaRPr lang="en-US" sz="1300" dirty="0"/>
          </a:p>
          <a:p>
            <a:pPr marL="342900" indent="-342900">
              <a:spcAft>
                <a:spcPts val="500"/>
              </a:spcAft>
              <a:buSzPct val="100000"/>
              <a:buFont typeface="+mj-lt"/>
              <a:buAutoNum type="arabicPeriod" startAt="1"/>
            </a:pPr>
            <a:r>
              <a:rPr lang="en-US" sz="1300" dirty="0">
                <a:solidFill>
                  <a:srgbClr val="1E293B"/>
                </a:solidFill>
                <a:latin typeface="Calibri" pitchFamily="34" charset="0"/>
                <a:ea typeface="Calibri" pitchFamily="34" charset="-122"/>
                <a:cs typeface="Calibri" pitchFamily="34" charset="-120"/>
              </a:rPr>
              <a:t>Pernyataan 1 salah: 6 meja + 5 kursi memakai 17 m² kayu dan 39 jam → masih memenuhi.</a:t>
            </a:r>
            <a:endParaRPr lang="en-US" sz="1300" dirty="0"/>
          </a:p>
          <a:p>
            <a:pPr marL="342900" indent="-342900">
              <a:spcAft>
                <a:spcPts val="500"/>
              </a:spcAft>
              <a:buSzPct val="100000"/>
              <a:buFont typeface="+mj-lt"/>
              <a:buAutoNum type="arabicPeriod" startAt="1"/>
            </a:pPr>
            <a:r>
              <a:rPr lang="en-US" sz="1300" dirty="0">
                <a:solidFill>
                  <a:srgbClr val="1E293B"/>
                </a:solidFill>
                <a:latin typeface="Calibri" pitchFamily="34" charset="0"/>
                <a:ea typeface="Calibri" pitchFamily="34" charset="-122"/>
                <a:cs typeface="Calibri" pitchFamily="34" charset="-120"/>
              </a:rPr>
              <a:t>Pernyataan 2 benar: hanya kursi → y ≤ 20 (kayu) dan 3y ≤ 48 → y ≤ 16.</a:t>
            </a:r>
            <a:endParaRPr lang="en-US" sz="1300" dirty="0"/>
          </a:p>
          <a:p>
            <a:pPr marL="342900" indent="-342900">
              <a:spcAft>
                <a:spcPts val="500"/>
              </a:spcAft>
              <a:buSzPct val="100000"/>
              <a:buFont typeface="+mj-lt"/>
              <a:buAutoNum type="arabicPeriod" startAt="1"/>
            </a:pPr>
            <a:r>
              <a:rPr lang="en-US" sz="1300" dirty="0">
                <a:solidFill>
                  <a:srgbClr val="1E293B"/>
                </a:solidFill>
                <a:latin typeface="Calibri" pitchFamily="34" charset="0"/>
                <a:ea typeface="Calibri" pitchFamily="34" charset="-122"/>
                <a:cs typeface="Calibri" pitchFamily="34" charset="-120"/>
              </a:rPr>
              <a:t>Pernyataan 3 salah: 2 meja + 10 kursi = Rp4.000.000, sama dengan 8 meja = Rp4.000.000 (tidak lebih besar).</a:t>
            </a:r>
            <a:endParaRPr lang="en-US" sz="1300" dirty="0"/>
          </a:p>
          <a:p>
            <a:pPr marL="342900" indent="-342900">
              <a:spcAft>
                <a:spcPts val="500"/>
              </a:spcAft>
              <a:buSzPct val="100000"/>
              <a:buFont typeface="+mj-lt"/>
              <a:buAutoNum type="arabicPeriod" startAt="1"/>
            </a:pPr>
            <a:r>
              <a:rPr lang="en-US" sz="1300" dirty="0">
                <a:solidFill>
                  <a:srgbClr val="1E293B"/>
                </a:solidFill>
                <a:latin typeface="Calibri" pitchFamily="34" charset="0"/>
                <a:ea typeface="Calibri" pitchFamily="34" charset="-122"/>
                <a:cs typeface="Calibri" pitchFamily="34" charset="-120"/>
              </a:rPr>
              <a:t>Titik potong 2x + y = 20 dan 4x + 3y = 48 → x = 6, y = 8 → 3.000.000 + 2.400.000 = Rp5.400.000; titik lain lebih kecil (10 meja = 5,0 juta; 16 kursi = 4,8 juta). Pernyataan 4 benar.</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27  ·  Dimensi Tiga</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Kubus PQRS.TUVW panjang rusuk 12 cm (T, U, V, W berturut-turut di atas P, Q, R, S). Titik O berada tepat di perpotongan diagonal PR dan QS.</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Jarak titik V ke O adalah ....</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3√6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6√2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6√6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12√2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12√3 cm</a:t>
            </a:r>
            <a:endParaRPr lang="en-US" sz="16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27</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6√6 cm</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Diagonal alas PR = 12√2, sehingga OR = ½ × 12√2 = 6√2.</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VR adalah rusuk tegak = 12 dan VR ⟂ alas, sehingga segitiga VRO siku-siku di R.</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VO = √(12² + (6√2)²) = √(144 + 72) = √216 = 6√6 cm.</a:t>
            </a:r>
            <a:endParaRPr lang="en-US" sz="16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28  ·  Peluang</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Sekolah P memiliki 6 grup band putra dan 4 grup band putri. Dua perwakilan dipilih secara acak satu persatu. Peluang terambil grup band putra pada pengambilan pertama dan grup band putri pada pengambilan kedua adalah ....</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1/5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6/25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4/15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2/5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13/25</a:t>
            </a:r>
            <a:endParaRPr lang="en-US" sz="1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28</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4/15</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Total grup = 10. P(putra pertama) = 6/10.</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Tanpa pengembalian: sisa 9 grup, putri tetap 4 → P(putri kedua) = 4/9.</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Peluang = 6/10 × 4/9 = 24/90 = 4/15.</a:t>
            </a:r>
            <a:endParaRPr lang="en-US" sz="1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29  ·  Volume Gabungan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100" dirty="0">
                <a:solidFill>
                  <a:srgbClr val="1E293B"/>
                </a:solidFill>
                <a:latin typeface="Calibri" pitchFamily="34" charset="0"/>
                <a:ea typeface="Calibri" pitchFamily="34" charset="-122"/>
                <a:cs typeface="Calibri" pitchFamily="34" charset="-120"/>
              </a:rPr>
              <a:t>Kemasan keju A = tabung (jari-jari 4 cm, tinggi 10 cm) + kerucut di atasnya (tinggi 6 cm). Kemasan keju B = balok alas persegi 8 × 8 cm, tinggi 10 cm + limas di atasnya (tinggi 6 cm). Usulan manajer: mulai Januari setiap kemasan diisi 75% volumenya.</a:t>
            </a:r>
            <a:endParaRPr lang="en-US" sz="1100" dirty="0"/>
          </a:p>
          <a:p>
            <a:pPr indent="0" marL="0">
              <a:spcAft>
                <a:spcPts val="800"/>
              </a:spcAft>
              <a:buNone/>
            </a:pPr>
            <a:endParaRPr lang="en-US" sz="1100" dirty="0"/>
          </a:p>
          <a:p>
            <a:pPr indent="0" marL="0">
              <a:spcAft>
                <a:spcPts val="800"/>
              </a:spcAft>
              <a:buNone/>
            </a:pPr>
            <a:r>
              <a:rPr lang="en-US" sz="1100" dirty="0">
                <a:solidFill>
                  <a:srgbClr val="1E293B"/>
                </a:solidFill>
                <a:latin typeface="Calibri" pitchFamily="34" charset="0"/>
                <a:ea typeface="Calibri" pitchFamily="34" charset="-122"/>
                <a:cs typeface="Calibri" pitchFamily="34" charset="-120"/>
              </a:rPr>
              <a:t>Supermarket memesan 150 keju kemasan A dan 200 keju kemasan B. Adonan tersedia 220 liter. Apakah usulan dapat diterapkan?</a:t>
            </a:r>
            <a:endParaRPr lang="en-US" sz="1100" dirty="0"/>
          </a:p>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a. Usulan tersebut tepat, karena meskipun aturan pengisian berubah, kebutuhan adonan tetap kurang dari 220 liter sehingga persediaan masih mencukupi.</a:t>
            </a:r>
            <a:endParaRPr lang="en-US" sz="1100" dirty="0"/>
          </a:p>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b. Usulan tersebut tepat, karena penurunan volume hanya terjadi pada Keju Kemasan A sehingga tidak memengaruhi kecukupan persediaan secara keseluruhan.</a:t>
            </a:r>
            <a:endParaRPr lang="en-US" sz="1100" dirty="0"/>
          </a:p>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c. Usulan tersebut kurang tepat, karena peningkatan pengisian menyebabkan kebutuhan adonan bertambah, tetapi persediaan 220 liter masih mencukupi.</a:t>
            </a:r>
            <a:endParaRPr lang="en-US" sz="1100" dirty="0"/>
          </a:p>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d. Usulan tersebut tidak tepat, karena peningkatan pengisian pada kedua jenis kemasan menyebabkan kebutuhan adonan melebihi 220 liter.</a:t>
            </a:r>
            <a:endParaRPr lang="en-US" sz="1100" dirty="0"/>
          </a:p>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e. Usulan tersebut tidak tepat, karena perubahan aturan pengisian tidak memengaruhi kebutuhan adonan, melainkan hanya mengubah bentuk kemasan.</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29</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200" b="1" dirty="0">
                <a:solidFill>
                  <a:srgbClr val="059669"/>
                </a:solidFill>
                <a:latin typeface="Calibri" pitchFamily="34" charset="0"/>
                <a:ea typeface="Calibri" pitchFamily="34" charset="-122"/>
                <a:cs typeface="Calibri" pitchFamily="34" charset="-120"/>
              </a:rPr>
              <a:t>Jawaban: a. Usulan tersebut tepat, karena meskipun aturan pengisian berubah, kebutuhan adonan tetap kurang dari 220 liter sehingga persediaan masih mencukupi.</a:t>
            </a:r>
            <a:endParaRPr lang="en-US" sz="12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Volume A = π·4²·10 + ⅓·π·4²·6 = 160π + 32π = 192π ≈ 603 cm³. Volume B = 8·8·10 + ⅓·64·6 = 640 + 128 = 768 cm³.</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Dengan 75%: A ≈ 452 cm³ dan B = 576 cm³. Kebutuhan = 150 × 452 + 200 × 576 ≈ 67.860 + 115.200 = 183.060 cm³ ≈ 183 liter &lt; 220 liter.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Tanpa aturan baru: 150 × 603 + 200 × 768 ≈ 244 liter (&gt; 220), sehingga aturan baru justru menghemat dan persediaan cukup.</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30  ·  Deret Geometri</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200" dirty="0">
                <a:solidFill>
                  <a:srgbClr val="1E293B"/>
                </a:solidFill>
                <a:latin typeface="Calibri" pitchFamily="34" charset="0"/>
                <a:ea typeface="Calibri" pitchFamily="34" charset="-122"/>
                <a:cs typeface="Calibri" pitchFamily="34" charset="-120"/>
              </a:rPr>
              <a:t>Uji beban jembatan: beban di tiga titik pertama 500 kg, 1.000 kg, 2.000 kg dengan pola tetap. Konsultan menghitung total beban kumulatif untuk pengujian titik ke-5 sampai ke-7. Beban statis yang disiapkan 32 ton. Pilih semua pernyataan benar!</a:t>
            </a:r>
            <a:endParaRPr lang="en-US" sz="1200" dirty="0"/>
          </a:p>
          <a:p>
            <a:pPr indent="0" marL="0">
              <a:spcAft>
                <a:spcPts val="400"/>
              </a:spcAft>
              <a:buNone/>
            </a:pPr>
            <a:r>
              <a:rPr lang="en-US" sz="1200" i="1" dirty="0">
                <a:solidFill>
                  <a:srgbClr val="1E293B"/>
                </a:solidFill>
                <a:latin typeface="Calibri" pitchFamily="34" charset="0"/>
                <a:ea typeface="Calibri" pitchFamily="34" charset="-122"/>
                <a:cs typeface="Calibri" pitchFamily="34" charset="-120"/>
              </a:rPr>
              <a:t>(Pilih semua jawaban yang benar)</a:t>
            </a:r>
            <a:endParaRPr lang="en-US" sz="1200" dirty="0"/>
          </a:p>
          <a:p>
            <a:pPr indent="0" marL="0">
              <a:spcAft>
                <a:spcPts val="400"/>
              </a:spcAft>
              <a:buNone/>
            </a:pPr>
            <a:r>
              <a:rPr lang="en-US" sz="1200" dirty="0">
                <a:solidFill>
                  <a:srgbClr val="1E293B"/>
                </a:solidFill>
                <a:latin typeface="Calibri" pitchFamily="34" charset="0"/>
                <a:ea typeface="Calibri" pitchFamily="34" charset="-122"/>
                <a:cs typeface="Calibri" pitchFamily="34" charset="-120"/>
              </a:rPr>
              <a:t>a. Beban statis yang disediakan tim logistik cukup untuk pengujian tonase hingga titik tumpuan ke-6.</a:t>
            </a:r>
            <a:endParaRPr lang="en-US" sz="1200" dirty="0"/>
          </a:p>
          <a:p>
            <a:pPr indent="0" marL="0">
              <a:spcAft>
                <a:spcPts val="400"/>
              </a:spcAft>
              <a:buNone/>
            </a:pPr>
            <a:r>
              <a:rPr lang="en-US" sz="1200" dirty="0">
                <a:solidFill>
                  <a:srgbClr val="1E293B"/>
                </a:solidFill>
                <a:latin typeface="Calibri" pitchFamily="34" charset="0"/>
                <a:ea typeface="Calibri" pitchFamily="34" charset="-122"/>
                <a:cs typeface="Calibri" pitchFamily="34" charset="-120"/>
              </a:rPr>
              <a:t>b. Diperlukan tambahan beban statis sebesar 30 ton apabila pengujian tonase dilakukan hingga titik tumpuan ke-7.</a:t>
            </a:r>
            <a:endParaRPr lang="en-US" sz="1200" dirty="0"/>
          </a:p>
          <a:p>
            <a:pPr indent="0" marL="0">
              <a:spcAft>
                <a:spcPts val="400"/>
              </a:spcAft>
              <a:buNone/>
            </a:pPr>
            <a:r>
              <a:rPr lang="en-US" sz="1200" dirty="0">
                <a:solidFill>
                  <a:srgbClr val="1E293B"/>
                </a:solidFill>
                <a:latin typeface="Calibri" pitchFamily="34" charset="0"/>
                <a:ea typeface="Calibri" pitchFamily="34" charset="-122"/>
                <a:cs typeface="Calibri" pitchFamily="34" charset="-120"/>
              </a:rPr>
              <a:t>c. Terdapat sisa beban sebesar 15,5 ton setelah proses alokasi pengujian tonase hingga titik tumpuan ke-5 selesai.</a:t>
            </a:r>
            <a:endParaRPr lang="en-US" sz="1200" dirty="0"/>
          </a:p>
          <a:p>
            <a:pPr indent="0" marL="0">
              <a:spcAft>
                <a:spcPts val="400"/>
              </a:spcAft>
              <a:buNone/>
            </a:pPr>
            <a:r>
              <a:rPr lang="en-US" sz="1200" dirty="0">
                <a:solidFill>
                  <a:srgbClr val="1E293B"/>
                </a:solidFill>
                <a:latin typeface="Calibri" pitchFamily="34" charset="0"/>
                <a:ea typeface="Calibri" pitchFamily="34" charset="-122"/>
                <a:cs typeface="Calibri" pitchFamily="34" charset="-120"/>
              </a:rPr>
              <a:t>d. Beton melewati batas beban setelah titik tumpuan ke-5 saat batas elastisitas kumulatif beton pracetak adalah 20 ton.</a:t>
            </a:r>
            <a:endParaRPr lang="en-US"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30</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200" b="1" dirty="0">
                <a:solidFill>
                  <a:srgbClr val="059669"/>
                </a:solidFill>
                <a:latin typeface="Calibri" pitchFamily="34" charset="0"/>
                <a:ea typeface="Calibri" pitchFamily="34" charset="-122"/>
                <a:cs typeface="Calibri" pitchFamily="34" charset="-120"/>
              </a:rPr>
              <a:t>Jawaban: a. Beban statis yang disediakan tim logistik cukup untuk pengujian tonase hingga titik tumpuan ke-6.  |  d. Beton melewati batas beban setelah titik tumpuan ke-5 saat batas elastisitas kumulatif beton pracetak adalah 20 ton.</a:t>
            </a:r>
            <a:endParaRPr lang="en-US" sz="12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rgbClr val="1E293B"/>
                </a:solidFill>
                <a:latin typeface="Calibri" pitchFamily="34" charset="0"/>
                <a:ea typeface="Calibri" pitchFamily="34" charset="-122"/>
                <a:cs typeface="Calibri" pitchFamily="34" charset="-120"/>
              </a:rPr>
              <a:t>Deret geometri a = 500, r = 2: Sₙ = 500(2ⁿ − 1) kg. S₅ = 15.500 kg = 15,5 ton; S₆ = 31.500 kg = 31,5 ton; S₇ = 63.500 kg = 63,5 ton.</a:t>
            </a:r>
            <a:endParaRPr lang="en-US" sz="1300" dirty="0"/>
          </a:p>
          <a:p>
            <a:pPr marL="342900" indent="-342900">
              <a:spcAft>
                <a:spcPts val="500"/>
              </a:spcAft>
              <a:buSzPct val="100000"/>
              <a:buFont typeface="+mj-lt"/>
              <a:buAutoNum type="arabicPeriod" startAt="1"/>
            </a:pPr>
            <a:r>
              <a:rPr lang="en-US" sz="1300" dirty="0">
                <a:solidFill>
                  <a:srgbClr val="1E293B"/>
                </a:solidFill>
                <a:latin typeface="Calibri" pitchFamily="34" charset="0"/>
                <a:ea typeface="Calibri" pitchFamily="34" charset="-122"/>
                <a:cs typeface="Calibri" pitchFamily="34" charset="-120"/>
              </a:rPr>
              <a:t>Pernyataan 1 benar: S₆ = 31,5 ton ≤ 32 ton.</a:t>
            </a:r>
            <a:endParaRPr lang="en-US" sz="1300" dirty="0"/>
          </a:p>
          <a:p>
            <a:pPr marL="342900" indent="-342900">
              <a:spcAft>
                <a:spcPts val="500"/>
              </a:spcAft>
              <a:buSzPct val="100000"/>
              <a:buFont typeface="+mj-lt"/>
              <a:buAutoNum type="arabicPeriod" startAt="1"/>
            </a:pPr>
            <a:r>
              <a:rPr lang="en-US" sz="1300" dirty="0">
                <a:solidFill>
                  <a:srgbClr val="1E293B"/>
                </a:solidFill>
                <a:latin typeface="Calibri" pitchFamily="34" charset="0"/>
                <a:ea typeface="Calibri" pitchFamily="34" charset="-122"/>
                <a:cs typeface="Calibri" pitchFamily="34" charset="-120"/>
              </a:rPr>
              <a:t>Pernyataan 2 salah: butuh 63,5 − 32 = 31,5 ton tambahan (bukan 30).</a:t>
            </a:r>
            <a:endParaRPr lang="en-US" sz="1300" dirty="0"/>
          </a:p>
          <a:p>
            <a:pPr marL="342900" indent="-342900">
              <a:spcAft>
                <a:spcPts val="500"/>
              </a:spcAft>
              <a:buSzPct val="100000"/>
              <a:buFont typeface="+mj-lt"/>
              <a:buAutoNum type="arabicPeriod" startAt="1"/>
            </a:pPr>
            <a:r>
              <a:rPr lang="en-US" sz="1300" dirty="0">
                <a:solidFill>
                  <a:srgbClr val="1E293B"/>
                </a:solidFill>
                <a:latin typeface="Calibri" pitchFamily="34" charset="0"/>
                <a:ea typeface="Calibri" pitchFamily="34" charset="-122"/>
                <a:cs typeface="Calibri" pitchFamily="34" charset="-120"/>
              </a:rPr>
              <a:t>Pernyataan 3 salah: sisa = 32 − 15,5 = 16,5 ton (bukan 15,5).</a:t>
            </a:r>
            <a:endParaRPr lang="en-US" sz="1300" dirty="0"/>
          </a:p>
          <a:p>
            <a:pPr marL="342900" indent="-342900">
              <a:spcAft>
                <a:spcPts val="500"/>
              </a:spcAft>
              <a:buSzPct val="100000"/>
              <a:buFont typeface="+mj-lt"/>
              <a:buAutoNum type="arabicPeriod" startAt="1"/>
            </a:pPr>
            <a:r>
              <a:rPr lang="en-US" sz="1300" dirty="0">
                <a:solidFill>
                  <a:srgbClr val="1E293B"/>
                </a:solidFill>
                <a:latin typeface="Calibri" pitchFamily="34" charset="0"/>
                <a:ea typeface="Calibri" pitchFamily="34" charset="-122"/>
                <a:cs typeface="Calibri" pitchFamily="34" charset="-120"/>
              </a:rPr>
              <a:t>Pernyataan 4 benar: S₅ = 15,5 ton ≤ 20 ton, tetapi S₆ = 31,5 ton &gt; 20 ton → batas terlewati setelah titik ke-5 (saat titik ke-6).</a:t>
            </a:r>
            <a:endParaRPr lang="en-US" sz="13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31  ·  Diagram &amp; Data</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200" dirty="0">
                <a:solidFill>
                  <a:srgbClr val="1E293B"/>
                </a:solidFill>
                <a:latin typeface="Calibri" pitchFamily="34" charset="0"/>
                <a:ea typeface="Calibri" pitchFamily="34" charset="-122"/>
                <a:cs typeface="Calibri" pitchFamily="34" charset="-120"/>
              </a:rPr>
              <a:t>Jumlah kunjungan wisatawan mancanegara (ribu orang): Australia 120, China 85, Malaysia 65, Jepang 40 (dibaca dari diagram batang, perkiraan).</a:t>
            </a:r>
            <a:endParaRPr lang="en-US" sz="1200" dirty="0"/>
          </a:p>
          <a:p>
            <a:pPr indent="0" marL="0">
              <a:spcAft>
                <a:spcPts val="800"/>
              </a:spcAft>
              <a:buNone/>
            </a:pPr>
            <a:r>
              <a:rPr lang="en-US" sz="1200" dirty="0">
                <a:solidFill>
                  <a:srgbClr val="1E293B"/>
                </a:solidFill>
                <a:latin typeface="Calibri" pitchFamily="34" charset="0"/>
                <a:ea typeface="Calibri" pitchFamily="34" charset="-122"/>
                <a:cs typeface="Calibri" pitchFamily="34" charset="-120"/>
              </a:rPr>
              <a:t>Aktivitas favorit: Australia 80% Wisata Budaya &amp; 20% Berselancar dan Pantai; China 40% Belanja &amp; 60% Wisata Kuliner; Malaysia 90% Perawatan Tubuh &amp; 10% Wisata Budaya; Jepang 70% Wisata Kuliner &amp; 30% Belanja.</a:t>
            </a:r>
            <a:endParaRPr lang="en-US" sz="1200" dirty="0"/>
          </a:p>
          <a:p>
            <a:pPr indent="0" marL="0">
              <a:spcAft>
                <a:spcPts val="800"/>
              </a:spcAft>
              <a:buNone/>
            </a:pPr>
            <a:endParaRPr lang="en-US" sz="1200" dirty="0"/>
          </a:p>
          <a:p>
            <a:pPr indent="0" marL="0">
              <a:spcAft>
                <a:spcPts val="800"/>
              </a:spcAft>
              <a:buNone/>
            </a:pPr>
            <a:r>
              <a:rPr lang="en-US" sz="1200" dirty="0">
                <a:solidFill>
                  <a:srgbClr val="1E293B"/>
                </a:solidFill>
                <a:latin typeface="Calibri" pitchFamily="34" charset="0"/>
                <a:ea typeface="Calibri" pitchFamily="34" charset="-122"/>
                <a:cs typeface="Calibri" pitchFamily="34" charset="-120"/>
              </a:rPr>
              <a:t>Bagaimana potensi jumlah wisatawan pada biro perjalanan? Tentukan Benar atau Salah!</a:t>
            </a:r>
            <a:endParaRPr lang="en-US" sz="1200" dirty="0"/>
          </a:p>
          <a:p>
            <a:pPr indent="0" marL="0">
              <a:spcAft>
                <a:spcPts val="400"/>
              </a:spcAft>
              <a:buNone/>
            </a:pPr>
            <a:r>
              <a:rPr lang="en-US" sz="1200" b="1" dirty="0">
                <a:solidFill>
                  <a:srgbClr val="1E293B"/>
                </a:solidFill>
                <a:latin typeface="Calibri" pitchFamily="34" charset="0"/>
                <a:ea typeface="Calibri" pitchFamily="34" charset="-122"/>
                <a:cs typeface="Calibri" pitchFamily="34" charset="-120"/>
              </a:rPr>
              <a:t>Tentukan Benar atau Salah:</a:t>
            </a:r>
            <a:endParaRPr lang="en-US" sz="1200" dirty="0"/>
          </a:p>
          <a:p>
            <a:pPr indent="0" marL="0">
              <a:spcAft>
                <a:spcPts val="400"/>
              </a:spcAft>
              <a:buNone/>
            </a:pPr>
            <a:r>
              <a:rPr lang="en-US" sz="1200" dirty="0">
                <a:solidFill>
                  <a:srgbClr val="1E293B"/>
                </a:solidFill>
                <a:latin typeface="Calibri" pitchFamily="34" charset="0"/>
                <a:ea typeface="Calibri" pitchFamily="34" charset="-122"/>
                <a:cs typeface="Calibri" pitchFamily="34" charset="-120"/>
              </a:rPr>
              <a:t>1. Peningkatan iklan Berselancar untuk wisatawan Australia berpotensi mendatangkan volume wisatawan lebih besar daripada iklan Wisata Kuliner untuk wisatawan Jepang.</a:t>
            </a:r>
            <a:endParaRPr lang="en-US" sz="1200" dirty="0"/>
          </a:p>
          <a:p>
            <a:pPr indent="0" marL="0">
              <a:spcAft>
                <a:spcPts val="400"/>
              </a:spcAft>
              <a:buNone/>
            </a:pPr>
            <a:r>
              <a:rPr lang="en-US" sz="1200" dirty="0">
                <a:solidFill>
                  <a:srgbClr val="1E293B"/>
                </a:solidFill>
                <a:latin typeface="Calibri" pitchFamily="34" charset="0"/>
                <a:ea typeface="Calibri" pitchFamily="34" charset="-122"/>
                <a:cs typeface="Calibri" pitchFamily="34" charset="-120"/>
              </a:rPr>
              <a:t>2. Target pasar wisatawan Perawatan Tubuh asal Malaysia lebih besar dibandingkan wisatawan Kuliner asal China.</a:t>
            </a:r>
            <a:endParaRPr lang="en-US" sz="1200" dirty="0"/>
          </a:p>
          <a:p>
            <a:pPr indent="0" marL="0">
              <a:spcAft>
                <a:spcPts val="400"/>
              </a:spcAft>
              <a:buNone/>
            </a:pPr>
            <a:r>
              <a:rPr lang="en-US" sz="1200" dirty="0">
                <a:solidFill>
                  <a:srgbClr val="1E293B"/>
                </a:solidFill>
                <a:latin typeface="Calibri" pitchFamily="34" charset="0"/>
                <a:ea typeface="Calibri" pitchFamily="34" charset="-122"/>
                <a:cs typeface="Calibri" pitchFamily="34" charset="-120"/>
              </a:rPr>
              <a:t>3. Potensi wisatawan Belanja asal Jepang lebih kecil dibandingkan wisatawan Belanja asal China.</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31</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1=Salah, 2=Benar, 3=Benar</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Pernyataan 1: Berselancar Australia = 20% × 120 = 24 ribu; Kuliner Jepang = 70% × 40 = 28 ribu → 24 &lt; 28 → Salah.</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Pernyataan 2: Perawatan Tubuh Malaysia = 90% × 65 = 58,5 ribu; Kuliner China = 60% × 85 = 51 ribu → 58,5 &gt; 51 →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Pernyataan 3: Belanja Jepang = 30% × 40 = 12 ribu; Belanja China = 40% × 85 = 34 ribu → 12 &lt; 34 → Benar.</a:t>
            </a:r>
            <a:endParaRPr 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32  ·  Modus Data Kelompok</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Data gaji bulanan karyawan (juta rupiah): 5–7: 4 | 8–10: 9 | 11–13: tidak terbaca | 14–16: 24 | 17–19: 18 | 20–22: 3.</a:t>
            </a: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Modus gaji karyawan adalah Rp15.750.000.</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Berapakah nilai data yang tidak terbaca?</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6</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14</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20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21</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28</a:t>
            </a:r>
            <a:endParaRPr lang="en-US" sz="16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32</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a. 6</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Modus 15,75 berada di kelas 14–16 (frekuensi terbesar 24): tb = 13,5; p = 3.</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d₁ = 24 − x; d₂ = 24 − 18 = 6.</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13,5 + ((24 − x)/(30 − x)) × 3 = 15,75 → (24 − x)/(30 − x) = 0,75.</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24 − x = 22,5 − 0,75x → 1,5 = 0,25x → x = 6.</a:t>
            </a:r>
            <a:endParaRPr lang="en-US" sz="16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33  ·  Peluang</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Doorprize 40 kupon: 5 tiket gratis pp Jakarta–Kuala Lumpur, 5 tiket gratis pp Jakarta–Bangkok, 10 voucher hotel bintang lima, 10 voucher hotel bintang empat, 10 voucher kosong. Kupon kosong dimasukkan kembali.</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Anto orang ke-6. Sebelumnya terambil: 1 tiket Jakarta–Kuala Lumpur, 1 tiket Jakarta–Bangkok, 2 voucher hotel bintang empat; satu orang lain gagal (kosong, dikembalikan).</a:t>
            </a:r>
            <a:endParaRPr lang="en-US" sz="1400" dirty="0"/>
          </a:p>
          <a:p>
            <a:pPr indent="0" marL="0">
              <a:spcAft>
                <a:spcPts val="800"/>
              </a:spcAft>
              <a:buNone/>
            </a:pP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Peluang Anto mendapatkan tiket gratis pp Jakarta–Kuala Lumpur?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1/10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1/9</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4/35</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5/36</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1/7</a:t>
            </a:r>
            <a:endParaRPr lang="en-US" sz="1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33</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1/9</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Sisa kupon: tiket KL 4, tiket Bangkok 4, bintang lima 10, bintang empat 8, kosong 10 (dikembalikan).</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Total = 4 + 4 + 10 + 8 + 10 = 36.</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Peluang tiket KL = 4/36 = 1/9.</a:t>
            </a:r>
            <a:endParaRPr lang="en-US" sz="1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34  ·  Kubus (Kedudukan Garis)</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Diketahui kubus ABCDEFGH seperti pada gambar. Bagaimana hubungan antara setiap rusuk atau garis yang menghubungkan dua titik pada kubus tersebut?</a:t>
            </a:r>
            <a:endParaRPr lang="en-US" sz="1600" dirty="0"/>
          </a:p>
          <a:p>
            <a:pPr indent="0" marL="0">
              <a:spcAft>
                <a:spcPts val="400"/>
              </a:spcAft>
              <a:buNone/>
            </a:pPr>
            <a:r>
              <a:rPr lang="en-US" sz="1600" b="1" dirty="0">
                <a:solidFill>
                  <a:srgbClr val="1E293B"/>
                </a:solidFill>
                <a:latin typeface="Calibri" pitchFamily="34" charset="0"/>
                <a:ea typeface="Calibri" pitchFamily="34" charset="-122"/>
                <a:cs typeface="Calibri" pitchFamily="34" charset="-120"/>
              </a:rPr>
              <a:t>Tentukan Benar atau Salah:</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1. AD tegak lurus FG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2. BC sejajar EH</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3. EF memotong CG</a:t>
            </a:r>
            <a:endParaRPr lang="en-US" sz="16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34</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1=Salah, 2=Benar, 3=Salah</a:t>
            </a:r>
            <a:endParaRPr lang="en-US" sz="1500" dirty="0"/>
          </a:p>
        </p:txBody>
      </p:sp>
      <p:sp>
        <p:nvSpPr>
          <p:cNvPr id="5" name="Text 3"/>
          <p:cNvSpPr txBox="1"/>
          <p:nvPr/>
        </p:nvSpPr>
        <p:spPr>
          <a:xfrm>
            <a:off x="548640" y="1463040"/>
            <a:ext cx="804672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Sesuai kunci: AD tidak tegak lurus FG → Salah; BC sejajar EH → Benar; EF tidak memotong CG → Salah.</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Cara cek: tentukan rusuk-rusuk yang searah (sejajar) pada gambar kubus, lalu lihat apakah dua garis berpotongan atau bersilangan.</a:t>
            </a:r>
            <a:endParaRPr lang="en-US" sz="1600" dirty="0"/>
          </a:p>
        </p:txBody>
      </p:sp>
      <p:sp>
        <p:nvSpPr>
          <p:cNvPr id="6" name="Text 4"/>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Gambar kubus tidak ikut dimasukkan; cocokkan dengan gambar pada soal asli.</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35  ·  Operasi Pecahan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1/4 + 7/4 × 8/21 = ....</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a. 8/21</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b. 8/11</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c. 11/12</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d. 16/21</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e. 2 8/21</a:t>
            </a:r>
            <a:endParaRPr lang="en-US" sz="1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35</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11/12</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Kerjakan perkalian dulu: 7/4 × 8/21 = 56/84 = 2/3.</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1/4 + 2/3 = 3/12 + 8/12 = 11/12.</a:t>
            </a:r>
            <a:endParaRPr lang="en-US" sz="1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36  ·  Data Tabel</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Keuntungan toko bunga Amel (Rp): Januari 1.100.000 | Februari 1.450.000 | Maret 1.200.000 | April 1.530.000 | Mei 2.120.000 | Juni 1.509.000 | Juli 2.090.000.</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Keuntungan pada bulan manakah yang mengalami penurunan signifikan?</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Februari</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Maret</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April</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Mei</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Juni</a:t>
            </a:r>
            <a:endParaRPr lang="en-US" sz="1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36</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e. Juni</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Bulan yang turun dari bulan sebelumnya: Maret (−250.000) dan Juni (−611.000).</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Penurunan terbesar terjadi pada Juni (2.120.000 → 1.509.000).</a:t>
            </a:r>
            <a:endParaRPr lang="en-US" sz="1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37  ·  Program Linear</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Mima bermodal Rp8.000.000. Kue bolu: biaya Rp15.000/kotak, laba 40%. Kue brownies: biaya Rp20.000/kotak, laba 35%. Maksimal 500 kotak per hari. Agar untung maksimum, tentukan Benar atau Salah!</a:t>
            </a:r>
            <a:endParaRPr lang="en-US" sz="1400" dirty="0"/>
          </a:p>
          <a:p>
            <a:pPr indent="0" marL="0">
              <a:spcAft>
                <a:spcPts val="400"/>
              </a:spcAft>
              <a:buNone/>
            </a:pPr>
            <a:r>
              <a:rPr lang="en-US" sz="1400" b="1" dirty="0">
                <a:solidFill>
                  <a:srgbClr val="1E293B"/>
                </a:solidFill>
                <a:latin typeface="Calibri" pitchFamily="34" charset="0"/>
                <a:ea typeface="Calibri" pitchFamily="34" charset="-122"/>
                <a:cs typeface="Calibri" pitchFamily="34" charset="-120"/>
              </a:rPr>
              <a:t>Tentukan Benar atau Salah: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1. Mima harus memproduksi 200 kotak kue bolu.</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2. Mima harus memproduksi kue brownies lebih banyak.</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3. Keuntungan maksimum yang diperoleh Mima adalah Rp3.100.000,00.</a:t>
            </a:r>
            <a:endParaRPr lang="en-US" sz="1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37</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1=Salah, 2=Salah, 3=Benar</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Laba bolu = 40% × 15.000 = Rp6.000; laba brownies = 35% × 20.000 = Rp7.000.</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Kendala: x + y ≤ 500 dan 15.000x + 20.000y ≤ 8.000.000. Titik potong: x = 400, y = 100.</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Laba: (400,100) = 2.400.000 + 700.000 = Rp3.100.000; (500,0) = 3.000.000; (0,400) = 2.800.000 → maksimum Rp3.100.000.</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Jadi bolu 400 kotak (bukan 200) dan brownies lebih sedikit (100) → pernyataan 1 &amp; 2 Salah, 3 Benar.</a:t>
            </a:r>
            <a:endParaRPr lang="en-US" sz="1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38  ·  Luas Gabungan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Satu desain jendela berbentuk persegi panjang lebar 4 m, tinggi 2 m, dengan segitiga sama kaki di atasnya (alas 4 m, tinggi 1,5 m). Pengembang membangun 20 rumah, tiap rumah satu jendela.</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Total luas kebutuhan kaca adalah ....</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11 m²</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14 m²</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140 m²</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220 m²</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280 m²</a:t>
            </a:r>
            <a:endParaRPr lang="en-US" sz="16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38</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220 m²</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Persegi panjang = 4 × 2 = 8 m².</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Segitiga = ½ × 4 × 1,5 = 3 m² → satu jendela = 11 m².</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20 rumah × 11 = 220 m².</a:t>
            </a:r>
            <a:endParaRPr lang="en-US" sz="1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39  ·  Trapesium</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Pada trapesium ABCD: AD = BC, AB sejajar DC, AB &gt; DC, ∠BAD = 70°, ∠ABD = 30°. Tentukan Benar atau Salah!</a:t>
            </a:r>
            <a:endParaRPr lang="en-US" sz="1800" dirty="0"/>
          </a:p>
          <a:p>
            <a:pPr indent="0" marL="0">
              <a:spcAft>
                <a:spcPts val="400"/>
              </a:spcAft>
              <a:buNone/>
            </a:pPr>
            <a:r>
              <a:rPr lang="en-US" sz="1800" b="1" dirty="0">
                <a:solidFill>
                  <a:srgbClr val="1E293B"/>
                </a:solidFill>
                <a:latin typeface="Calibri" pitchFamily="34" charset="0"/>
                <a:ea typeface="Calibri" pitchFamily="34" charset="-122"/>
                <a:cs typeface="Calibri" pitchFamily="34" charset="-120"/>
              </a:rPr>
              <a:t>Tentukan Benar atau Salah:</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1. ∠BCD = 110°</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2. ∠CBD = 40°</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3. ∠BDC = 40°</a:t>
            </a:r>
            <a:endParaRPr lang="en-US" sz="1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39</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1=Benar, 2=Benar, 3=Salah</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Trapesium sama kaki: ∠ABC = ∠BAD = 70°.</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∠BCD = 180° − 70° = 110° (sepihak dengan ∠ABC) → Benar.</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∠CBD = ∠ABC − ∠ABD = 70° − 30° = 40° → Benar.</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AB ∥ DC → ∠BDC = ∠ABD = 30° (sudut dalam berseberangan) → ∠BDC = 40° Salah.</a:t>
            </a:r>
            <a:endParaRPr lang="en-US" sz="16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40  ·  Kecukupan Data</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Pada trapesium siku-siku ABCD, AB = 3 dan AD ≤ BC. Apakah keliling trapesium tersebut lebih dari 25?</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(1) Luas trapesium ABCD = 24.</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(2) BC = 10 dan CD = 5.</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Pernyataan (1) SAJA cukup, tetapi pernyataan (2) SAJA tidak cukup.</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Pernyataan (2) SAJA cukup, tetapi pernyataan (1) SAJA tidak cukup.</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DUA pernyataan BERSAMA-SAMA cukup, tetapi SATU pernyataan SAJA tidak cukup.</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Pernyataan (1) SAJA cukup dan pernyataan (2) SAJA cukup.</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Pernyataan (1) dan (2) tidak cukup.</a:t>
            </a:r>
            <a:endParaRPr lang="en-US" sz="1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40</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Pernyataan (2) SAJA cukup, tetapi pernyataan (1) SAJA tidak cukup.</a:t>
            </a:r>
            <a:endParaRPr lang="en-US" sz="1500" dirty="0"/>
          </a:p>
        </p:txBody>
      </p:sp>
      <p:sp>
        <p:nvSpPr>
          <p:cNvPr id="5" name="Text 3"/>
          <p:cNvSpPr txBox="1"/>
          <p:nvPr/>
        </p:nvSpPr>
        <p:spPr>
          <a:xfrm>
            <a:off x="548640" y="1463040"/>
            <a:ext cx="804672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Pernyataan (2): sisi sejajar 3 dan 5 → selisih 2; kaki miring BC = 10 → tinggi = √(10² − 2²) = √96 ≈ 9,8.</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Keliling ≈ 3 + 5 + 10 + 9,8 = 27,8 &gt; 25 → pertanyaan terjawab pasti, jadi (2) saja cukup.</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Pernyataan (1): luas 24 saja tidak menentukan sisi lain secara tunggal → belum cukup.</a:t>
            </a:r>
            <a:endParaRPr lang="en-US" sz="1400" dirty="0"/>
          </a:p>
        </p:txBody>
      </p:sp>
      <p:sp>
        <p:nvSpPr>
          <p:cNvPr id="6" name="Text 4"/>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Penjelasan mengikuti kunci; asumsi AB dan CD sisi sejajar dari gambar soal asli.</a:t>
            </a:r>
            <a:endParaRPr lang="en-US"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41  ·  Trigonometri</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Suatu tangga dengan panjang 6 meter disandarkan pada dinding vertikal. Sudut yang dibentuk tangga dengan lantai adalah 60°.</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Tinggi dinding yang disentuh ujung atas tangga adalah ....</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3 meter</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3√2 meter</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3√3 meter</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4√2 meter</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4√3 meter</a:t>
            </a:r>
            <a:endParaRPr lang="en-US" sz="16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41</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3√3 meter</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Tinggi = panjang tangga × sin 60° = 6 × ½√3 = 3√3 meter.</a:t>
            </a:r>
            <a:endParaRPr lang="en-US" sz="1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42  ·  Rata-rata &amp; Jangkauan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Rata-rata nilai ulangan 17 murid (skala 100) adalah 83. Ada 3 murid mengikuti ujian susulan sehingga rata-rata 20 murid menjadi 82. Pilih semua pernyataan yang benar tentang nilai ketiga murid susulan!</a:t>
            </a:r>
            <a:endParaRPr lang="en-US" sz="1300" dirty="0"/>
          </a:p>
          <a:p>
            <a:pPr indent="0" marL="0">
              <a:spcAft>
                <a:spcPts val="400"/>
              </a:spcAft>
              <a:buNone/>
            </a:pPr>
            <a:r>
              <a:rPr lang="en-US" sz="1300" i="1" dirty="0">
                <a:solidFill>
                  <a:srgbClr val="1E293B"/>
                </a:solidFill>
                <a:latin typeface="Calibri" pitchFamily="34" charset="0"/>
                <a:ea typeface="Calibri" pitchFamily="34" charset="-122"/>
                <a:cs typeface="Calibri" pitchFamily="34" charset="-120"/>
              </a:rPr>
              <a:t>(Pilih semua jawaban yang benar)</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a. Jumlah nilai ketiga murid yang mengikuti ujian susulan adalah 229.</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b. Rata-rata nilai ketiga murid yang mengikuti ujian susulan lebih dari 70.</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c. Nilai terendah dari ketiga murid yang mengikuti ujian susulan tidak kurang dari 29.</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d. Nilai tertinggi dari ketiga murid yang mengikuti ujian susulan lebih dari 76.</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e. Jangkauan data nilai ketiga murid yang mengikuti ujian susulan lebih dari 72.</a:t>
            </a:r>
            <a:endParaRPr lang="en-US" sz="13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42</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200" b="1" dirty="0">
                <a:solidFill>
                  <a:srgbClr val="059669"/>
                </a:solidFill>
                <a:latin typeface="Calibri" pitchFamily="34" charset="0"/>
                <a:ea typeface="Calibri" pitchFamily="34" charset="-122"/>
                <a:cs typeface="Calibri" pitchFamily="34" charset="-120"/>
              </a:rPr>
              <a:t>Jawaban: a. Jumlah nilai ketiga murid yang mengikuti ujian susulan adalah 229.  |  b. Rata-rata nilai ketiga murid yang mengikuti ujian susulan lebih dari 70.  |  c. Nilai terendah dari ketiga murid yang mengikuti ujian susulan tidak kurang dari 29.  |  d. Nilai tertinggi dari ketiga murid yang mengikuti ujian susulan lebih dari 76.</a:t>
            </a:r>
            <a:endParaRPr lang="en-US" sz="12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Jumlah 20 murid = 20 × 82 = 1.640; jumlah 17 murid = 17 × 83 = 1.411 → jumlah 3 murid = 229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Rata-rata 3 murid = 229/3 ≈ 76,3 &gt; 70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Nilai maksimal 100 → dua nilai tertinggi ≤ 200, sehingga nilai terendah ≥ 229 − 200 = 29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Rata-rata 76,3 → nilai tertinggi pasti ≥ 76,3 &gt; 76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Jangkauan terbesar = 100 − 29 = 71 (nilai 100, 100, 29), tidak mungkin &gt; 72 (salah).</a:t>
            </a:r>
            <a:endParaRPr lang="en-US" sz="1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43  ·  Fungsi Kuadrat</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Fungsi f didefinisikan oleh f(x) = 4(x² − 8x + 12). Tentukan Benar atau Salah terkait grafik fungsi f!</a:t>
            </a:r>
            <a:endParaRPr lang="en-US" sz="1600" dirty="0"/>
          </a:p>
          <a:p>
            <a:pPr indent="0" marL="0">
              <a:spcAft>
                <a:spcPts val="400"/>
              </a:spcAft>
              <a:buNone/>
            </a:pPr>
            <a:r>
              <a:rPr lang="en-US" sz="1600" b="1" dirty="0">
                <a:solidFill>
                  <a:srgbClr val="1E293B"/>
                </a:solidFill>
                <a:latin typeface="Calibri" pitchFamily="34" charset="0"/>
                <a:ea typeface="Calibri" pitchFamily="34" charset="-122"/>
                <a:cs typeface="Calibri" pitchFamily="34" charset="-120"/>
              </a:rPr>
              <a:t>Tentukan Benar atau Salah:</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1. Grafik fungsi f terbuka ke atas.</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2. Grafik fungsi f memotong garis y = −18.</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3. Grafik fungsi f tidak melalui kuadran tiga.</a:t>
            </a:r>
            <a:endParaRPr lang="en-US" sz="16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43</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1=Benar, 2=Salah, 3=Benar</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Koefisien x² = 4 &gt; 0 → terbuka ke atas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Titik puncak di x = 4: f(4) = 4(16 − 32 + 12) = −16. Nilai minimum −16 &gt; −18, jadi tidak memotong y = −18 (Salah).</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f(x) = 4(x − 2)(x − 6) memotong sumbu X di 2 dan 6. Untuk x &lt; 0 nilai f positif, sehingga tidak ada titik dengan x &lt; 0 dan y &lt; 0 → tidak melalui kuadran III (Benar).</a:t>
            </a:r>
            <a:endParaRPr lang="en-US" sz="1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44  ·  Fungsi Linear</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Tagihan listrik: f(x) = 1.350x + 25.000 (x = kWh). Tagihan yang diterima Andi bulan ini Rp160.000, dan ia menyadari penggunaan bulan terakhir lebih tinggi dari penggunaan biasa.</a:t>
            </a:r>
            <a:endParaRPr lang="en-US" sz="1400" dirty="0"/>
          </a:p>
          <a:p>
            <a:pPr indent="0" marL="0">
              <a:spcAft>
                <a:spcPts val="800"/>
              </a:spcAft>
              <a:buNone/>
            </a:pP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Biasanya berapa besar penggunaan listrik di apartemen Andi? (Pilih semua yang benar)</a:t>
            </a:r>
            <a:endParaRPr lang="en-US" sz="1400" dirty="0"/>
          </a:p>
          <a:p>
            <a:pPr indent="0" marL="0">
              <a:spcAft>
                <a:spcPts val="400"/>
              </a:spcAft>
              <a:buNone/>
            </a:pPr>
            <a:r>
              <a:rPr lang="en-US" sz="1400" i="1" dirty="0">
                <a:solidFill>
                  <a:srgbClr val="1E293B"/>
                </a:solidFill>
                <a:latin typeface="Calibri" pitchFamily="34" charset="0"/>
                <a:ea typeface="Calibri" pitchFamily="34" charset="-122"/>
                <a:cs typeface="Calibri" pitchFamily="34" charset="-120"/>
              </a:rPr>
              <a:t>(Pilih semua jawaban yang benar)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85 kWh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90 kWh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100 kWh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120 kWh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137 kWh</a:t>
            </a:r>
            <a:endParaRPr lang="en-US" sz="14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44</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a. 85 kWh  |  b. 90 kWh</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160.000 = 1.350x + 25.000 → 1.350x = 135.000 → x = 100 kWh bulan terakhir.</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Penggunaan biasa lebih kecil dari 100 kWh → 85 kWh dan 90 kWh.</a:t>
            </a:r>
            <a:endParaRPr lang="en-US" sz="18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45  ·  Skala &amp; Perbandingan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Desain gedung berukuran 60 cm × 60 cm diproyeksikan ke layar 2,4 m × 1,8 m. Skala pembesaran = 0,6 × jarak (m), jarak proyektor 3 meter.</a:t>
            </a:r>
            <a:endParaRPr lang="en-US" sz="1400" dirty="0"/>
          </a:p>
          <a:p>
            <a:pPr indent="0" marL="0">
              <a:spcAft>
                <a:spcPts val="800"/>
              </a:spcAft>
              <a:buNone/>
            </a:pP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Tentukan Benar atau Salah!</a:t>
            </a:r>
            <a:endParaRPr lang="en-US" sz="1400" dirty="0"/>
          </a:p>
          <a:p>
            <a:pPr indent="0" marL="0">
              <a:spcAft>
                <a:spcPts val="400"/>
              </a:spcAft>
              <a:buNone/>
            </a:pPr>
            <a:r>
              <a:rPr lang="en-US" sz="1400" b="1" dirty="0">
                <a:solidFill>
                  <a:srgbClr val="1E293B"/>
                </a:solidFill>
                <a:latin typeface="Calibri" pitchFamily="34" charset="0"/>
                <a:ea typeface="Calibri" pitchFamily="34" charset="-122"/>
                <a:cs typeface="Calibri" pitchFamily="34" charset="-120"/>
              </a:rPr>
              <a:t>Tentukan Benar atau Salah: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1. Perbandingan ukuran tampilan desain di layar adalah 1 : 1.</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2. Ukuran panjang dan lebar tampilan desain pada layar adalah lebih dari 1 meter.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3. Terdapat bagian gambar asli desain yang terpotong dalam tampilan pada layar.</a:t>
            </a:r>
            <a:endParaRPr lang="en-US" sz="14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45</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1=Benar, 2=Benar, 3=Salah</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Skala = 0,6 × 3 = 1,8 kali → tampilan 60 × 1,8 = 108 cm × 108 cm = 1,08 m × 1,08 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Panjang : lebar = 1 : 1 (Benar); 1,08 m &gt; 1 m (Benar).</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Layar 2,4 m × 1,8 m lebih besar dari 1,08 m × 1,08 m → tidak ada bagian terpotong (Salah).</a:t>
            </a:r>
            <a:endParaRPr lang="en-US" sz="16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46  ·  Kaidah Pencacahan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Kode akses kupon terdiri dari lima karakter berformat AXBYC: A, B, C = huruf dan X, Y = angka. Tidak boleh ada angka dan huruf yang diulang.</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Berapa banyak kode akses berbeda yang dapat dibuat?</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1.263.600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1.352.000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1.404.000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1.423.656</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1.757.600</a:t>
            </a:r>
            <a:endParaRPr lang="en-US" sz="16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46</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1.404.000</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Huruf: 26 × 25 × 24 = 15.600 (tanpa pengulangan).</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Angka: 10 × 9 = 90.</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Total = 15.600 × 90 = 1.404.000.</a:t>
            </a:r>
            <a:endParaRPr lang="en-US" sz="18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640080" y="1188720"/>
            <a:ext cx="7863840" cy="9144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Terima kasih</a:t>
            </a:r>
            <a:endParaRPr lang="en-US" sz="4000" dirty="0"/>
          </a:p>
        </p:txBody>
      </p:sp>
      <p:sp>
        <p:nvSpPr>
          <p:cNvPr id="3" name="Text 1"/>
          <p:cNvSpPr txBox="1"/>
          <p:nvPr/>
        </p:nvSpPr>
        <p:spPr>
          <a:xfrm>
            <a:off x="640080" y="2377440"/>
            <a:ext cx="7863840" cy="640080"/>
          </a:xfrm>
          <a:prstGeom prst="rect">
            <a:avLst/>
          </a:prstGeom>
          <a:noFill/>
          <a:ln/>
        </p:spPr>
        <p:txBody>
          <a:bodyPr wrap="square" rtlCol="0" anchor="ctr"/>
          <a:lstStyle/>
          <a:p>
            <a:pPr algn="ctr" indent="0" marL="0">
              <a:buNone/>
            </a:pPr>
            <a:r>
              <a:rPr lang="en-US" sz="2200" dirty="0">
                <a:solidFill>
                  <a:srgbClr val="C7D2FE"/>
                </a:solidFill>
                <a:latin typeface="Calibri" pitchFamily="34" charset="0"/>
                <a:ea typeface="Calibri" pitchFamily="34" charset="-122"/>
                <a:cs typeface="Calibri" pitchFamily="34" charset="-120"/>
              </a:rPr>
              <a:t>Wassalamu'alaikum Warahmatullahi Wabarakatuh</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116</Slides>
  <Notes>116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116</vt:i4>
      </vt:variant>
    </vt:vector>
  </HeadingPairs>
  <TitlesOfParts>
    <vt:vector size="1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Pemaparan, Tips dan Trik Penyelesaian Soal - Soal TKA</dc:title>
  <dc:subject>PptxGenJS Presentation</dc:subject>
  <dc:creator>PptxGenJS</dc:creator>
  <cp:lastModifiedBy>PptxGenJS</cp:lastModifiedBy>
  <cp:revision>1</cp:revision>
  <dcterms:created xsi:type="dcterms:W3CDTF">2026-10-03T04:19:58Z</dcterms:created>
  <dcterms:modified xsi:type="dcterms:W3CDTF">2026-10-03T04:19:58Z</dcterms:modified>
</cp:coreProperties>
</file>