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640080" y="822960"/>
            <a:ext cx="7863840" cy="548640"/>
          </a:xfrm>
          <a:prstGeom prst="rect">
            <a:avLst/>
          </a:prstGeom>
          <a:noFill/>
          <a:ln/>
        </p:spPr>
        <p:txBody>
          <a:bodyPr wrap="square" rtlCol="0" anchor="ctr"/>
          <a:lstStyle/>
          <a:p>
            <a:pPr algn="ctr" indent="0" marL="0">
              <a:buNone/>
            </a:pPr>
            <a:r>
              <a:rPr lang="en-US" sz="2200" dirty="0">
                <a:solidFill>
                  <a:srgbClr val="C7D2FE"/>
                </a:solidFill>
                <a:latin typeface="Calibri" pitchFamily="34" charset="0"/>
                <a:ea typeface="Calibri" pitchFamily="34" charset="-122"/>
                <a:cs typeface="Calibri" pitchFamily="34" charset="-120"/>
              </a:rPr>
              <a:t>Assalamu'alaikum Warahmatullahi Wabarakatuh</a:t>
            </a:r>
            <a:endParaRPr lang="en-US" sz="2200" dirty="0"/>
          </a:p>
        </p:txBody>
      </p:sp>
      <p:sp>
        <p:nvSpPr>
          <p:cNvPr id="3" name="Text 1"/>
          <p:cNvSpPr txBox="1"/>
          <p:nvPr/>
        </p:nvSpPr>
        <p:spPr>
          <a:xfrm>
            <a:off x="640080" y="1645920"/>
            <a:ext cx="7863840" cy="146304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Pemaparan, Tips dan Trik Penyelesaian Soal - Soal TKA</a:t>
            </a:r>
            <a:endParaRPr lang="en-US" sz="3400" dirty="0"/>
          </a:p>
        </p:txBody>
      </p:sp>
      <p:sp>
        <p:nvSpPr>
          <p:cNvPr id="4" name="Text 2"/>
          <p:cNvSpPr txBox="1"/>
          <p:nvPr/>
        </p:nvSpPr>
        <p:spPr>
          <a:xfrm>
            <a:off x="640080" y="3383280"/>
            <a:ext cx="7863840" cy="457200"/>
          </a:xfrm>
          <a:prstGeom prst="rect">
            <a:avLst/>
          </a:prstGeom>
          <a:noFill/>
          <a:ln/>
        </p:spPr>
        <p:txBody>
          <a:bodyPr wrap="square" rtlCol="0" anchor="ctr"/>
          <a:lstStyle/>
          <a:p>
            <a:pPr algn="ctr" indent="0" marL="0">
              <a:buNone/>
            </a:pPr>
            <a:r>
              <a:rPr lang="en-US" sz="1600" dirty="0">
                <a:solidFill>
                  <a:srgbClr val="A5B4FC"/>
                </a:solidFill>
                <a:latin typeface="Calibri" pitchFamily="34" charset="0"/>
                <a:ea typeface="Calibri" pitchFamily="34" charset="-122"/>
                <a:cs typeface="Calibri" pitchFamily="34" charset="-120"/>
              </a:rPr>
              <a:t>Matematika SMA 2025 · 25 Soal dan Pembahasan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  ·  Himpunan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A = {x | x &lt; 6, x ∈ Bilangan Asli}</a:t>
            </a: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B = {x | x bilangan genap, x ∈ Bilangan Cacah}</a:t>
            </a: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C = {x | x ≤ 10, x ∈ Bilangan Prima}</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Hasil dari (A ∩ B) ∪ C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{2, 3, 5, 7}</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{0, 2, 3, 5, 7}</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{2, 3, 4, 5, 7}</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{0, 2, 3, 4, 5, 7}</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{2, 3, 4, 5, 7, 10}</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{2, 3, 4, 5, 7}</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Irisan (∩) = cari angka yang sama; Gabungan (∪) = satukan semua.</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 = {1, 2, 3, 4, 5}; B = {0, 2, 4, 6, 8, …}; C = {2, 3, 5, 7}.</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 ∩ B = {2, 4}.</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 ∩ B) ∪ C = {2, 4} ∪ {2, 3, 5, 7} = {2, 3, 4, 5, 7}. Jawaban: c.</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  ·  Bilangan Berpangkat</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Bentuk sederhana dari</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(3^(2/3) × 8^(3/2)) / (2^(5/2) × 9^(5/6)) adalah ....</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a. 1/42</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b. 2/3</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c. 4/3</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d. 6</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e. 12</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4/3</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Ubah ke basis prima: 8 = 2³ dan 9 = 3².</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Pembilang: 3^(2/3) × (2³)^(3/2) = 3^(2/3) × 2^(9/2).</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Penyebut: 2^(5/2) × (3²)^(5/6) = 2^(5/2) × 3^(5/3).</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Bagi basis sama, kurangkan pangkat: 2^(9/2 − 5/2) × 3^(2/3 − 5/3) = 2² × 3⁻¹.</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 4 × 1/3 = 4/3. Jawaban: c.</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3  ·  Operasi Biner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Operasi biner ⊙ didefinisikan a ⊙ b = ((a − b)² + 2ab) / (a + b) untuk bilangan real tidak negatif a dan b.</a:t>
            </a: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Jika a ⊙ 2 = 5, tentukan Benar atau Salah!</a:t>
            </a:r>
            <a:endParaRPr lang="en-US" sz="1600" dirty="0"/>
          </a:p>
          <a:p>
            <a:pPr indent="0" marL="0">
              <a:spcAft>
                <a:spcPts val="400"/>
              </a:spcAft>
              <a:buNone/>
            </a:pPr>
            <a:r>
              <a:rPr lang="en-US" sz="1600" b="1" dirty="0">
                <a:solidFill>
                  <a:srgbClr val="1E293B"/>
                </a:solidFill>
                <a:latin typeface="Calibri" pitchFamily="34" charset="0"/>
                <a:ea typeface="Calibri" pitchFamily="34" charset="-122"/>
                <a:cs typeface="Calibri" pitchFamily="34" charset="-120"/>
              </a:rPr>
              <a:t>Tentukan Benar atau Salah:</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1. a merupakan kelipatan dari 3</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2. a merupakan bilangan prima</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3. a ⊙ 0 = 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3</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1=Benar, 2=Salah, 3=Benar</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 ⊙ 2 = ((a−2)² + 4a)/(a+2) = (a² + 4)/(a+2) = 5.</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5(a+2) = a² + 4 → a² − 5a − 6 = 0 → (a − 6)(a + 1) = 0.</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 = 6 (a = −1 ditolak karena harus tidak negatif).</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6 kelipatan 3 → Benar. 6 bukan prima → Salah.</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6 ⊙ 0 = (6² + 0)/6 = 6 → Benar.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4  ·  Fungsi Linear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Model kenaikan suhu akibat pemanasan global: y = 0,02x − 39,9 (x = tahun, y = kenaikan suhu dalam °C).</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Pada tahun berapakah kenaikan suhu diperkirakan mencapai 0,7 °C?</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Tahun 2000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Tahun 2003</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Tahun 2025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Tahun 2030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Tahun 2345</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4</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Tahun 2030</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Substitusi y = 0,7: 0,7 = 0,02x − 39,9.</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Pindahkan: 0,02x = 0,7 + 39,9 = 40,6.</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x = 40,6 / 0,02 = 2030. Jawaban: 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5  ·  Fungsi Komposisi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Les Pintarku memberi potongan biaya untuk 50 pendaftar pertama (y = 0,9x); pendaftar lain bayar harga normal. Diskon rapor: g(y) = 0,7y jika nilai rapor di atas 90; 0,8y jika nilai 85–90.</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Fira (pendaftar ke-50) membayar Rp180.000.</a:t>
            </a:r>
            <a:endParaRPr lang="en-US" sz="1300" dirty="0"/>
          </a:p>
          <a:p>
            <a:pPr indent="0" marL="0">
              <a:spcAft>
                <a:spcPts val="800"/>
              </a:spcAft>
              <a:buNone/>
            </a:pP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Andi (nilai 90, uang Rp285.000), Budi (92, Rp286.000), Cici (89, Rp280.000), Dini (95, Rp287.000) mendaftar setelah Fira.</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Siapa yang pasti dapat mengikuti kursus?</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a. Dini</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b. Dini dan Budi</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c. Dini, Budi dan Andi</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d. Dini, Cici, Budi dan Andi</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e. Cici dan Andi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5</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Dini, Cici, Budi dan Andi</a:t>
            </a:r>
            <a:endParaRPr lang="en-US" sz="1500" dirty="0"/>
          </a:p>
        </p:txBody>
      </p:sp>
      <p:sp>
        <p:nvSpPr>
          <p:cNvPr id="5" name="Text 3"/>
          <p:cNvSpPr txBox="1"/>
          <p:nvPr/>
        </p:nvSpPr>
        <p:spPr>
          <a:xfrm>
            <a:off x="548640" y="1463040"/>
            <a:ext cx="804672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Fira: 0,9x = 180.000 → harga normal x = 200.000.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Empat siswa mendaftar setelah ke-50 → bayar harga normal 200.000 (y = 200.000).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Andi (90): 0,8 × 200.000 = 160.000 ≤ 285.000 ✓. Budi (92): 0,7 × 200.000 = 140.000 ✓.</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Cici (89): 160.000 ≤ 280.000 ✓. Dini (95): 140.000 ✓.</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Semua mampu → Dini, Cici, Budi dan Andi.</a:t>
            </a:r>
            <a:endParaRPr lang="en-US" sz="1400" dirty="0"/>
          </a:p>
        </p:txBody>
      </p:sp>
      <p:sp>
        <p:nvSpPr>
          <p:cNvPr id="6" name="Text 4"/>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Asumsi AI: pendaftar setelah ke-50 membayar harga normal. Cocokkan dengan kunci resmi jika ada.</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6  ·  Barisan Aritmetika</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Baris kursi paling bawah memegang 400 kertas, baris kedua 550 kertas, dan seterusnya bertambah dengan pola yang sama.</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Jika pola berlaku sampai baris ketujuh, berapa penonton yang memegang kertas di baris ke-5?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700 orang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850 orang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1.000 orang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1.150 orang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1.300 orang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6</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1.000 orang</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Selisih tiap baris: 550 − 400 = 150 (beda tetap → barisan aritmetika).</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Baris 1 = 400, baris 2 = 550, baris 3 = 700, baris 4 = 850, baris 5 = 1.000.</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Jawaban: c. 1.000 orang.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7  ·  Barisan Geometri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Kadar asam urat awal (hari ke-1) 13 mg/dL. Obat menurunkan kadar 20% setiap hari (sisa 80%).</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 Nyaman jika kadar di bawah 7 mg/dL.</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 Sembuh klinis jika kadar kurang dari 5 mg/dL.</a:t>
            </a:r>
            <a:endParaRPr lang="en-US" sz="1400" dirty="0"/>
          </a:p>
          <a:p>
            <a:pPr indent="0" marL="0">
              <a:spcAft>
                <a:spcPts val="800"/>
              </a:spcAft>
              <a:buNone/>
            </a:pP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Pada hari keberapa pasien merasa nyaman namun belum dianggap sembuh?</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(Pilih semua jawaban benar)</a:t>
            </a:r>
            <a:endParaRPr lang="en-US" sz="1400" dirty="0"/>
          </a:p>
          <a:p>
            <a:pPr indent="0" marL="0">
              <a:spcAft>
                <a:spcPts val="400"/>
              </a:spcAft>
              <a:buNone/>
            </a:pPr>
            <a:r>
              <a:rPr lang="en-US" sz="1400" i="1" dirty="0">
                <a:solidFill>
                  <a:srgbClr val="1E293B"/>
                </a:solidFill>
                <a:latin typeface="Calibri" pitchFamily="34" charset="0"/>
                <a:ea typeface="Calibri" pitchFamily="34" charset="-122"/>
                <a:cs typeface="Calibri" pitchFamily="34" charset="-120"/>
              </a:rPr>
              <a:t>(Pilih semua jawaban yang benar)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Hari ke-2</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Hari ke-3</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Hari ke-4</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Hari ke-5</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Hari ke-6</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7</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Hari ke-4  |  d. Hari ke-5</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Kadar sisa tiap hari = 80% = 80/100 dari hari sebelumnya.</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H1 = 13; H2 = 0,8×13 = 10,4; H3 = 0,8×10,4 = 8,32.</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H4 = 0,8×8,32 = 6,656 (&lt;7 → nyaman, belum &lt;5).</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H5 = 0,8×6,656 = 5,3248 (masih nyaman, belum &lt;5).</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H6 = 0,8×5,3248 = 4,2598 (&lt;5 → sembuh).</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Nyaman tapi belum sembuh: hari ke-4 dan ke-5.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8  ·  Pertidaksamaan Linear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Daerah yang diarsir (segitiga ABC dengan A(−4,0), B(0,2), C(2,0)) merupakan himpunan penyelesaian dari sistem pertidaksamaan ....</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x − 2y ≥ −4; x + y ≤ 2; x ≥ 0; y ≥ 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x − 2y ≥ −4; x + y ≥ 2; y ≥ 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2x − y ≤ 4; x + y ≤ 2; y ≥ 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x − 2y ≥ −4; x + y ≤ 2; y ≥ 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2x − y ≥ 4; x + y ≤ 2; x ≥ 0; y ≥ 0</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8  ·  Gambar</a:t>
            </a:r>
            <a:endParaRPr lang="en-US" sz="2000" dirty="0"/>
          </a:p>
        </p:txBody>
      </p:sp>
      <p:pic>
        <p:nvPicPr>
          <p:cNvPr id="3" name="Image 0" descr="../assets/soal/p8.jpg">    </p:cNvPr>
          <p:cNvPicPr>
            <a:picLocks noChangeAspect="1"/>
          </p:cNvPicPr>
          <p:nvPr/>
        </p:nvPicPr>
        <p:blipFill>
          <a:blip r:embed="rId1"/>
          <a:stretch>
            <a:fillRect/>
          </a:stretch>
        </p:blipFill>
        <p:spPr>
          <a:xfrm>
            <a:off x="2439685" y="914400"/>
            <a:ext cx="4264629" cy="38404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8</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x − 2y ≥ −4; x + y ≤ 2; y ≥ 0</a:t>
            </a:r>
            <a:endParaRPr lang="en-US" sz="1500" dirty="0"/>
          </a:p>
        </p:txBody>
      </p:sp>
      <p:sp>
        <p:nvSpPr>
          <p:cNvPr id="5" name="Text 3"/>
          <p:cNvSpPr txBox="1"/>
          <p:nvPr/>
        </p:nvSpPr>
        <p:spPr>
          <a:xfrm>
            <a:off x="548640" y="1463040"/>
            <a:ext cx="804672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Garis f lewat A(−4,0) dan B(0,2): x − 2y = −4. Uji O(0,0): 0 ≥ −4 → x − 2y ≥ −4.</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Garis g lewat B(0,2) dan C(2,0): x + y = 2. Uji O(0,0): 0 ≤ 2 → x + y ≤ 2.</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Batas bawah sumbu X → y ≥ 0. Daerah meluas ke x negatif (titik A), jadi TIDAK ada x ≥ 0.</a:t>
            </a:r>
            <a:endParaRPr lang="en-US" sz="1600" dirty="0"/>
          </a:p>
        </p:txBody>
      </p:sp>
      <p:sp>
        <p:nvSpPr>
          <p:cNvPr id="6" name="Text 4"/>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Urutan huruf opsi dari PDF agak berantakan; pilih sistem yang isinya sama dengan jawaban ini.</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9  ·  Sistem Persamaan Linear</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Misal mawar = a, lili = b, anyelir = c.</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Buket A: 2a + 3b + c = Rp85.000</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Buket B: a + 2b + 2c = Rp70.000</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Buket C: 3a + b + c = Rp75.000</a:t>
            </a: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(Komposisi dibaca dari gambar buket.)</a:t>
            </a:r>
            <a:endParaRPr lang="en-US" sz="1400" dirty="0"/>
          </a:p>
          <a:p>
            <a:pPr indent="0" marL="0">
              <a:spcAft>
                <a:spcPts val="800"/>
              </a:spcAft>
              <a:buNone/>
            </a:pPr>
            <a:endParaRPr lang="en-US" sz="1400" dirty="0"/>
          </a:p>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Pembeli membeli buket tipe C dan menambah 2 tangkai lili + 1 tangkai anyelir (harga satuan). Total yang dibayar?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Rp75.000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Rp102.000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Rp110.000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Rp115.000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Rp116.000</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9  ·  Gambar</a:t>
            </a:r>
            <a:endParaRPr lang="en-US" sz="2000" dirty="0"/>
          </a:p>
        </p:txBody>
      </p:sp>
      <p:pic>
        <p:nvPicPr>
          <p:cNvPr id="3" name="Image 0" descr="../assets/soal/p9.jpg">    </p:cNvPr>
          <p:cNvPicPr>
            <a:picLocks noChangeAspect="1"/>
          </p:cNvPicPr>
          <p:nvPr/>
        </p:nvPicPr>
        <p:blipFill>
          <a:blip r:embed="rId1"/>
          <a:stretch>
            <a:fillRect/>
          </a:stretch>
        </p:blipFill>
        <p:spPr>
          <a:xfrm>
            <a:off x="2943590" y="914400"/>
            <a:ext cx="3256820" cy="38404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9</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Rp115.000</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Eliminasi (1) &amp; (2): kalikan (2) dengan 2 lalu kurangkan dengan (1) → b + 3c = 55.000 …(3).</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Eliminasi (2) &amp; (3): kalikan (2) dengan 3 lalu kurangkan dengan (3) → 5b + 5c = 135.000 …(4).</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Eliminasi (3) &amp; (4): 10c = 140.000 → c = 14.000.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Substitusi ke (3): b + 42.000 = 55.000 → b = 13.000.</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Total = buket C + 2b + c = 75.000 + 26.000 + 14.000 = Rp115.000. Jawaban: 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10  ·  Hubungan Sudut</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Pada gambar (segitiga dengan dua garis sejajar dipotong satu garis miring; sudut A, F, E, B, D, C — lihat foto kunci setelah menjawab), pasangan sudut manakah yang membentuk 180°?</a:t>
            </a: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(Pilih semua jawaban benar)</a:t>
            </a:r>
            <a:endParaRPr lang="en-US" sz="1600" dirty="0"/>
          </a:p>
          <a:p>
            <a:pPr indent="0" marL="0">
              <a:spcAft>
                <a:spcPts val="400"/>
              </a:spcAft>
              <a:buNone/>
            </a:pPr>
            <a:r>
              <a:rPr lang="en-US" sz="1600" i="1" dirty="0">
                <a:solidFill>
                  <a:srgbClr val="1E293B"/>
                </a:solidFill>
                <a:latin typeface="Calibri" pitchFamily="34" charset="0"/>
                <a:ea typeface="Calibri" pitchFamily="34" charset="-122"/>
                <a:cs typeface="Calibri" pitchFamily="34" charset="-120"/>
              </a:rPr>
              <a:t>(Pilih semua jawaban yang benar)</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∠A dan ∠B</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∠A dan ∠E</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∠B dan ∠C</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∠B dan ∠D</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∠E dan ∠C</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10  ·  Gambar</a:t>
            </a:r>
            <a:endParaRPr lang="en-US" sz="2000" dirty="0"/>
          </a:p>
        </p:txBody>
      </p:sp>
      <p:pic>
        <p:nvPicPr>
          <p:cNvPr id="3" name="Image 0" descr="../assets/soal/p10.jpg">    </p:cNvPr>
          <p:cNvPicPr>
            <a:picLocks noChangeAspect="1"/>
          </p:cNvPicPr>
          <p:nvPr/>
        </p:nvPicPr>
        <p:blipFill>
          <a:blip r:embed="rId1"/>
          <a:stretch>
            <a:fillRect/>
          </a:stretch>
        </p:blipFill>
        <p:spPr>
          <a:xfrm>
            <a:off x="2025495" y="914400"/>
            <a:ext cx="5093011" cy="38404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10</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∠B dan ∠C  |  d. ∠B dan ∠D  |  e. ∠E dan ∠C</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∠F dan ∠C sehadap → ∠F = ∠C. ∠F dan ∠E berpelurus → ∠F + ∠E = 180°, sehingga ∠E + ∠C = 180° ✓.</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 dan ∠D berpelurus → ∠B + ∠D = 180° ✓.</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∠C dan ∠D berseberangan → ∠C = ∠D, sehingga ∠B + ∠C = 180° ✓.</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Jawaban: ∠B &amp; ∠C, ∠B &amp; ∠D, ∠E &amp; ∠C.</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11  ·  Hubungan Bidang</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Rak buku gantung berada pada dinding CDHG. Papan jadwal tidak boleh diletakkan pada dinding yang sejajar dengan dinding rak buku. Pada dinding manakah papan jadwal boleh diletakkan? (Pilih semua yang benar)</a:t>
            </a:r>
            <a:endParaRPr lang="en-US" sz="1600" dirty="0"/>
          </a:p>
          <a:p>
            <a:pPr indent="0" marL="0">
              <a:spcAft>
                <a:spcPts val="400"/>
              </a:spcAft>
              <a:buNone/>
            </a:pPr>
            <a:r>
              <a:rPr lang="en-US" sz="1600" i="1" dirty="0">
                <a:solidFill>
                  <a:srgbClr val="1E293B"/>
                </a:solidFill>
                <a:latin typeface="Calibri" pitchFamily="34" charset="0"/>
                <a:ea typeface="Calibri" pitchFamily="34" charset="-122"/>
                <a:cs typeface="Calibri" pitchFamily="34" charset="-120"/>
              </a:rPr>
              <a:t>(Pilih semua jawaban yang benar)</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CDHG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BCGF</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ABFE</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BCFA</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ADHE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11  ·  Gambar</a:t>
            </a:r>
            <a:endParaRPr lang="en-US" sz="2000" dirty="0"/>
          </a:p>
        </p:txBody>
      </p:sp>
      <p:pic>
        <p:nvPicPr>
          <p:cNvPr id="3" name="Image 0" descr="../assets/soal/p11.jpg">    </p:cNvPr>
          <p:cNvPicPr>
            <a:picLocks noChangeAspect="1"/>
          </p:cNvPicPr>
          <p:nvPr/>
        </p:nvPicPr>
        <p:blipFill>
          <a:blip r:embed="rId1"/>
          <a:stretch>
            <a:fillRect/>
          </a:stretch>
        </p:blipFill>
        <p:spPr>
          <a:xfrm>
            <a:off x="2927795" y="914400"/>
            <a:ext cx="3288411" cy="38404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11</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a. CDHG  |  b. BCGF  |  e. ADHE</a:t>
            </a:r>
            <a:endParaRPr lang="en-US" sz="1500" dirty="0"/>
          </a:p>
        </p:txBody>
      </p:sp>
      <p:sp>
        <p:nvSpPr>
          <p:cNvPr id="5" name="Text 3"/>
          <p:cNvSpPr txBox="1"/>
          <p:nvPr/>
        </p:nvSpPr>
        <p:spPr>
          <a:xfrm>
            <a:off x="548640" y="1463040"/>
            <a:ext cx="804672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Dinding rak = CDHG (belakang-kanan). Dinding yang sejajar dengannya = dinding di seberang = ABFE → dilarang.</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BCFA bukan dinding (bukan sisi ruangan).</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Boleh: CDHG (dinding rak itu sendiri), BCGF, dan ADHE (tegak lurus dinding rak).</a:t>
            </a:r>
            <a:endParaRPr lang="en-US" sz="1600" dirty="0"/>
          </a:p>
        </p:txBody>
      </p:sp>
      <p:sp>
        <p:nvSpPr>
          <p:cNvPr id="6" name="Text 4"/>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Asumsi AI: rak berada di dinding CDHG sesuai gambar.</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12  ·  Kesebangunan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Trapesium KLMN dan NMPO sebangun. OP = 18 cm, KN = 16 cm, KL = 32 cm (PR tegak lurus KL, Q di perpotongan PR dan NM; lihat foto kunci).</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Berapakah panjang sisi LM?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6√5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8√5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9√5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10√5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14√5 cm</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12  ·  Gambar</a:t>
            </a:r>
            <a:endParaRPr lang="en-US" sz="2000" dirty="0"/>
          </a:p>
        </p:txBody>
      </p:sp>
      <p:pic>
        <p:nvPicPr>
          <p:cNvPr id="3" name="Image 0" descr="../assets/soal/p12.jpg">    </p:cNvPr>
          <p:cNvPicPr>
            <a:picLocks noChangeAspect="1"/>
          </p:cNvPicPr>
          <p:nvPr/>
        </p:nvPicPr>
        <p:blipFill>
          <a:blip r:embed="rId1"/>
          <a:stretch>
            <a:fillRect/>
          </a:stretch>
        </p:blipFill>
        <p:spPr>
          <a:xfrm>
            <a:off x="2914434" y="914400"/>
            <a:ext cx="3315131" cy="38404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12</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8√5 cm</a:t>
            </a:r>
            <a:endParaRPr lang="en-US" sz="1500" dirty="0"/>
          </a:p>
        </p:txBody>
      </p:sp>
      <p:sp>
        <p:nvSpPr>
          <p:cNvPr id="5" name="Text 3"/>
          <p:cNvSpPr txBox="1"/>
          <p:nvPr/>
        </p:nvSpPr>
        <p:spPr>
          <a:xfrm>
            <a:off x="5486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kunci (sesuai foto)</a:t>
            </a:r>
            <a:endParaRPr lang="en-US" sz="1300" dirty="0"/>
          </a:p>
        </p:txBody>
      </p:sp>
      <p:sp>
        <p:nvSpPr>
          <p:cNvPr id="6" name="Text 4"/>
          <p:cNvSpPr txBox="1"/>
          <p:nvPr/>
        </p:nvSpPr>
        <p:spPr>
          <a:xfrm>
            <a:off x="5486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KL/MN = MN/OP → 32/MN = MN/18 → MN² = 32 × 18 = 576 → MN = 24 cm.</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KN/NO = KL/MN → 16/NO = 32/24 → NO = 12 cm = PQ.</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QM = MN − OP = 24 − 18 = 6 → PM = √(6² + 12²) = √180 = 6√5.</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RL = 32 − 18 = 14; PR = 12 + 16 = 28 → PL = √(14² + 28²) = √(196 + 784) = √580 = 14√5 (di foto tertulis √580).</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LM = PL − PM = 14√5 − 6√5 = 8√5 cm.</a:t>
            </a:r>
            <a:endParaRPr lang="en-US" sz="1200" dirty="0"/>
          </a:p>
        </p:txBody>
      </p:sp>
      <p:sp>
        <p:nvSpPr>
          <p:cNvPr id="7" name="Text 5"/>
          <p:cNvSpPr txBox="1"/>
          <p:nvPr/>
        </p:nvSpPr>
        <p:spPr>
          <a:xfrm>
            <a:off x="46634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Claude (dikoreksi/diperjelas)</a:t>
            </a:r>
            <a:endParaRPr lang="en-US" sz="1300" dirty="0"/>
          </a:p>
        </p:txBody>
      </p:sp>
      <p:sp>
        <p:nvSpPr>
          <p:cNvPr id="8" name="Text 6"/>
          <p:cNvSpPr txBox="1"/>
          <p:nvPr/>
        </p:nvSpPr>
        <p:spPr>
          <a:xfrm>
            <a:off x="46634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Sebangun: KL/MN = MN/OP → 32/MN = MN/18 → MN² = 576 → MN = 24 cm.</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KN/NO = KL/MN → 16/NO = 32/24 → NO = 12 cm, jadi PQ = 12 cm.</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QM = MN − OP = 24 − 18 = 6 → PM = √(6² + 12²) = √180 = 6√5.</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RL = KL − KR = 32 − 18 = 14; PR = 12 + 16 = 28 → PL = √(14² + 28²) = √980 = 14√5.</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LM = PL − PM = 14√5 − 6√5 = 8√5 cm. Jawaban: b.</a:t>
            </a:r>
            <a:endParaRPr lang="en-US" sz="1200" dirty="0"/>
          </a:p>
        </p:txBody>
      </p:sp>
      <p:sp>
        <p:nvSpPr>
          <p:cNvPr id="9" name="Text 7"/>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Kunci menulis √580, padahal 196 + 784 = 980, jadi PL = √980 = 14√5. Hasil akhir 8√5 tetap benar.</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13  ·  Teorema Pythagoras</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Pot tanaman diletakkan sepanjang sisi miring kebun. Sisi kebun: 500 cm (kiri), 350 cm (kanan), 360 cm (bawah). Diameter pot: jahe 15 cm, kunyit 26 cm, lengkuas 30 cm.</a:t>
            </a:r>
            <a:endParaRPr lang="en-US" sz="1400" dirty="0"/>
          </a:p>
          <a:p>
            <a:pPr indent="0" marL="0">
              <a:spcAft>
                <a:spcPts val="400"/>
              </a:spcAft>
              <a:buNone/>
            </a:pPr>
            <a:r>
              <a:rPr lang="en-US" sz="1400" b="1" dirty="0">
                <a:solidFill>
                  <a:srgbClr val="1E293B"/>
                </a:solidFill>
                <a:latin typeface="Calibri" pitchFamily="34" charset="0"/>
                <a:ea typeface="Calibri" pitchFamily="34" charset="-122"/>
                <a:cs typeface="Calibri" pitchFamily="34" charset="-120"/>
              </a:rPr>
              <a:t>Tentukan Benar atau Salah: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1. Ada 25 tanaman jahe yang bisa ditanam.</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2. Ada 15 tanaman kunyit yang bisa ditanam.</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3. Ada 10 tanaman lengkuas yang bisa ditanam.</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13  ·  Gambar</a:t>
            </a:r>
            <a:endParaRPr lang="en-US" sz="2000" dirty="0"/>
          </a:p>
        </p:txBody>
      </p:sp>
      <p:pic>
        <p:nvPicPr>
          <p:cNvPr id="3" name="Image 0" descr="../assets/soal/p13.jpg">    </p:cNvPr>
          <p:cNvPicPr>
            <a:picLocks noChangeAspect="1"/>
          </p:cNvPicPr>
          <p:nvPr/>
        </p:nvPicPr>
        <p:blipFill>
          <a:blip r:embed="rId1"/>
          <a:stretch>
            <a:fillRect/>
          </a:stretch>
        </p:blipFill>
        <p:spPr>
          <a:xfrm>
            <a:off x="2982030" y="914400"/>
            <a:ext cx="3179941" cy="38404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13</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1=Salah, 2=Benar, 3=Salah</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Selisih tinggi sisi = 500 − 350 = 150 cm; alas 360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Sisi miring = √(150² + 360²) = √152.100 = 390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Jahe: 390 : 15 = 26 (bukan 25) → Salah. Kunyit: 390 : 26 = 15 → Benar. Lengkuas: 390 : 30 = 13 (bukan 10) → Salah.</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14  ·  Transformasi Geometri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B direfleksikan oleh garis y = 1, kemudian dirotasikan 180° searah jarum jam berpusat di O(0,0). Bayangannya B′ = (−4, 1).</a:t>
            </a:r>
            <a:endParaRPr lang="en-US" sz="1600" dirty="0"/>
          </a:p>
          <a:p>
            <a:pPr indent="0" marL="0">
              <a:spcAft>
                <a:spcPts val="800"/>
              </a:spcAft>
              <a:buNone/>
            </a:pPr>
            <a:endParaRPr lang="en-US" sz="1600" dirty="0"/>
          </a:p>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Titik B yang sesuai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B(4, −1)</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B(4, 3)</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B(−6, −1)</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B(−2, −1)</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B(2, 4)</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14  ·  Gambar (1/3)</a:t>
            </a:r>
            <a:endParaRPr lang="en-US" sz="2000" dirty="0"/>
          </a:p>
        </p:txBody>
      </p:sp>
      <p:pic>
        <p:nvPicPr>
          <p:cNvPr id="3" name="Image 0" descr="../assets/soal/p14.jpg">    </p:cNvPr>
          <p:cNvPicPr>
            <a:picLocks noChangeAspect="1"/>
          </p:cNvPicPr>
          <p:nvPr/>
        </p:nvPicPr>
        <p:blipFill>
          <a:blip r:embed="rId1"/>
          <a:stretch>
            <a:fillRect/>
          </a:stretch>
        </p:blipFill>
        <p:spPr>
          <a:xfrm>
            <a:off x="2130488" y="914400"/>
            <a:ext cx="4883023" cy="38404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14  ·  Gambar (2/3)</a:t>
            </a:r>
            <a:endParaRPr lang="en-US" sz="2000" dirty="0"/>
          </a:p>
        </p:txBody>
      </p:sp>
      <p:pic>
        <p:nvPicPr>
          <p:cNvPr id="3" name="Image 0" descr="../assets/soal/p15.jpg">    </p:cNvPr>
          <p:cNvPicPr>
            <a:picLocks noChangeAspect="1"/>
          </p:cNvPicPr>
          <p:nvPr/>
        </p:nvPicPr>
        <p:blipFill>
          <a:blip r:embed="rId1"/>
          <a:stretch>
            <a:fillRect/>
          </a:stretch>
        </p:blipFill>
        <p:spPr>
          <a:xfrm>
            <a:off x="3744966" y="914400"/>
            <a:ext cx="1654068" cy="38404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14  ·  Gambar (3/3)</a:t>
            </a:r>
            <a:endParaRPr lang="en-US" sz="2000" dirty="0"/>
          </a:p>
        </p:txBody>
      </p:sp>
      <p:pic>
        <p:nvPicPr>
          <p:cNvPr id="3" name="Image 0" descr="../assets/soal/p16.jpg">    </p:cNvPr>
          <p:cNvPicPr>
            <a:picLocks noChangeAspect="1"/>
          </p:cNvPicPr>
          <p:nvPr/>
        </p:nvPicPr>
        <p:blipFill>
          <a:blip r:embed="rId1"/>
          <a:stretch>
            <a:fillRect/>
          </a:stretch>
        </p:blipFill>
        <p:spPr>
          <a:xfrm>
            <a:off x="3291840" y="914400"/>
            <a:ext cx="2560320" cy="384048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14</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B(4, 3)</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Refleksi y=1: (x, y) → (x, 2−y). Rotasi 180°: (x, y) → (−x, −y).</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Komposisi: (x, y) → (−x, −(2−y)) = (−x, y−2).</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Samakan dengan B′(−4, 1): −x = −4 → x = 4; y − 2 = 1 → y = 3.</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B(4, 3). Jawaban: b.</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15  ·  Jarak Dua Titik</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Tali hiasan dipasang dari pojok dinding pintu ke tengah langit-langit dinding papan tulis. Tali kedua yang sama dipasang ke pojok lain dinding pintu. Jika membeli tali 20 meter, berapa sisa tali yang tidak terpakai?</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6 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10 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11 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13 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15 m</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15  ·  Gambar</a:t>
            </a:r>
            <a:endParaRPr lang="en-US" sz="2000" dirty="0"/>
          </a:p>
        </p:txBody>
      </p:sp>
      <p:pic>
        <p:nvPicPr>
          <p:cNvPr id="3" name="Image 0" descr="../assets/soal/p17.jpg">    </p:cNvPr>
          <p:cNvPicPr>
            <a:picLocks noChangeAspect="1"/>
          </p:cNvPicPr>
          <p:nvPr/>
        </p:nvPicPr>
        <p:blipFill>
          <a:blip r:embed="rId1"/>
          <a:stretch>
            <a:fillRect/>
          </a:stretch>
        </p:blipFill>
        <p:spPr>
          <a:xfrm>
            <a:off x="2855515" y="914400"/>
            <a:ext cx="3432969" cy="384048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15</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10 m</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Dari atas: tengah dinding 3 m dari pojok, jarak ke dinding lain 4 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Panjang satu tali = √(3² + 4²) = √25 = 5 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Dua tali = 2 × 5 = 10 m. Sisa = 20 − 10 = 10 m.</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16  ·  Keliling Gabungan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Ornamen jam dinding berbentuk segitiga dan setengah lingkaran (tinggi total 70 cm, lebar 50 cm, diameter lingkaran 20 cm). Kayu tipis ditempel di sekeliling ornamen. Untuk dua ornamen, berapa panjang kayu yang dibutuhkan?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322,8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352,8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362,8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382,8 cm</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445,6 cm</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16  ·  Gambar (1/2)</a:t>
            </a:r>
            <a:endParaRPr lang="en-US" sz="2000" dirty="0"/>
          </a:p>
        </p:txBody>
      </p:sp>
      <p:pic>
        <p:nvPicPr>
          <p:cNvPr id="3" name="Image 0" descr="../assets/soal/p18.jpg">    </p:cNvPr>
          <p:cNvPicPr>
            <a:picLocks noChangeAspect="1"/>
          </p:cNvPicPr>
          <p:nvPr/>
        </p:nvPicPr>
        <p:blipFill>
          <a:blip r:embed="rId1"/>
          <a:stretch>
            <a:fillRect/>
          </a:stretch>
        </p:blipFill>
        <p:spPr>
          <a:xfrm>
            <a:off x="2410742" y="914400"/>
            <a:ext cx="4322516" cy="38404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16  ·  Gambar (2/2)</a:t>
            </a:r>
            <a:endParaRPr lang="en-US" sz="2000" dirty="0"/>
          </a:p>
        </p:txBody>
      </p:sp>
      <p:pic>
        <p:nvPicPr>
          <p:cNvPr id="3" name="Image 0" descr="../assets/soal/p19.jpg">    </p:cNvPr>
          <p:cNvPicPr>
            <a:picLocks noChangeAspect="1"/>
          </p:cNvPicPr>
          <p:nvPr/>
        </p:nvPicPr>
        <p:blipFill>
          <a:blip r:embed="rId1"/>
          <a:stretch>
            <a:fillRect/>
          </a:stretch>
        </p:blipFill>
        <p:spPr>
          <a:xfrm>
            <a:off x="548640" y="914400"/>
            <a:ext cx="8046720" cy="364018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16</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382,8 cm</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Tinggi segitiga = 70 − 10 = 60 cm; setengah alas = 50 : 2 = 25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Sisi miring = √(60² + 25²) = √4.225 = 65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Setengah lingkaran = ½ × 3,14 × 20 = 31,4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Keliling satu = 65 + 65 + 31,4 + (50 − 20) = 191,4 cm.</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Dua ornamen = 191,4 × 2 = 382,8 cm.</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17  ·  Kecukupan Data</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Panjang salah satu diagonal layang-layang adalah 20 cm. Berapakah keliling layang-layang tersebut?</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(1) Luas layang-layang adalah 160 cm².</a:t>
            </a:r>
            <a:endParaRPr lang="en-US" sz="1300" dirty="0"/>
          </a:p>
          <a:p>
            <a:pPr indent="0" marL="0">
              <a:spcAft>
                <a:spcPts val="800"/>
              </a:spcAft>
              <a:buNone/>
            </a:pPr>
            <a:r>
              <a:rPr lang="en-US" sz="1300" dirty="0">
                <a:solidFill>
                  <a:srgbClr val="1E293B"/>
                </a:solidFill>
                <a:latin typeface="Calibri" pitchFamily="34" charset="0"/>
                <a:ea typeface="Calibri" pitchFamily="34" charset="-122"/>
                <a:cs typeface="Calibri" pitchFamily="34" charset="-120"/>
              </a:rPr>
              <a:t>(2) Panjang salah satu sisi layang-layang adalah 10 cm.</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a. Pernyataan (1) SAJA cukup, tetapi pernyataan (2) SAJA tidak cukup.</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b. Pernyataan (2) SAJA cukup, tetapi pernyataan (1) SAJA tidak cukup.</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c. DUA pernyataan BERSAMA-SAMA cukup, tetapi SATU pernyataan SAJA tidak cukup.</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d. Pernyataan (1) SAJA cukup dan pernyataan (2) SAJA cukup.</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e. Pernyataan (1) dan (2) tidak cukup.</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17</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DUA pernyataan BERSAMA-SAMA cukup, tetapi SATU pernyataan SAJA tidak cukup.</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Pernyataan (1): L = ½ × d₁ × d₂ = 160 → ½ × 20 × d₂ = 160 → d₂ = 16 cm. Tapi keliling butuh sisi-sisi, jadi (1) saja tidak cukup.</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Pernyataan (2): hanya satu sisi = 10 cm, butuh diagonal lain → (2) saja tidak cukup.</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Bersama: diagonal 20 &amp; 16 plus satu sisi 10 cukup menentukan semua sisi → keliling dapat dihitung.</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18  ·  Volume Bangun Ruang</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Kardus helm 20 × 20 × 30 cm. Bak truk: tinggi 120 cm, lebar 150 cm, panjang 240 cm. Kardus tidak boleh dibalik. Berapa paling banyak kardus yang dapat dimuat?</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336 kardus</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360 kardus</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384 kardus</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432 kardus</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504 kardus</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18  ·  Gambar</a:t>
            </a:r>
            <a:endParaRPr lang="en-US" sz="2000" dirty="0"/>
          </a:p>
        </p:txBody>
      </p:sp>
      <p:pic>
        <p:nvPicPr>
          <p:cNvPr id="3" name="Image 0" descr="../assets/soal/p21.jpg">    </p:cNvPr>
          <p:cNvPicPr>
            <a:picLocks noChangeAspect="1"/>
          </p:cNvPicPr>
          <p:nvPr/>
        </p:nvPicPr>
        <p:blipFill>
          <a:blip r:embed="rId1"/>
          <a:stretch>
            <a:fillRect/>
          </a:stretch>
        </p:blipFill>
        <p:spPr>
          <a:xfrm>
            <a:off x="2842859" y="914400"/>
            <a:ext cx="3458281" cy="384048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18</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360 kardus</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Susunan tinggi = 120 : 20 = 6 lapis.</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Kardus per alas = (240 : 20) × (150 : 30) = 12 × 5 = 60 kardus.</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Total = 60 × 6 = 360 kardus.</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19  ·  Luas Selimut Tabung</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Hiasan lampu berbentuk tabung berongga (tanpa alas dan tutup), diameter 14 cm dan tinggi 25 cm, bagian luar dilapisi stiker. Satu lembar stiker Rp9.000 menutupi 300 cm². Untuk 8 hiasan, berapa biaya minimal?</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Rp72.000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Rp108.000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Rp252.000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Rp270.000</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Rp288.000</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19  ·  Gambar (1/2)</a:t>
            </a:r>
            <a:endParaRPr lang="en-US" sz="2000" dirty="0"/>
          </a:p>
        </p:txBody>
      </p:sp>
      <p:pic>
        <p:nvPicPr>
          <p:cNvPr id="3" name="Image 0" descr="../assets/soal/p22.jpg">    </p:cNvPr>
          <p:cNvPicPr>
            <a:picLocks noChangeAspect="1"/>
          </p:cNvPicPr>
          <p:nvPr/>
        </p:nvPicPr>
        <p:blipFill>
          <a:blip r:embed="rId1"/>
          <a:stretch>
            <a:fillRect/>
          </a:stretch>
        </p:blipFill>
        <p:spPr>
          <a:xfrm>
            <a:off x="2125605" y="914400"/>
            <a:ext cx="4892790" cy="384048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19  ·  Gambar (2/2)</a:t>
            </a:r>
            <a:endParaRPr lang="en-US" sz="2000" dirty="0"/>
          </a:p>
        </p:txBody>
      </p:sp>
      <p:pic>
        <p:nvPicPr>
          <p:cNvPr id="3" name="Image 0" descr="../assets/soal/p23.jpg">    </p:cNvPr>
          <p:cNvPicPr>
            <a:picLocks noChangeAspect="1"/>
          </p:cNvPicPr>
          <p:nvPr/>
        </p:nvPicPr>
        <p:blipFill>
          <a:blip r:embed="rId1"/>
          <a:stretch>
            <a:fillRect/>
          </a:stretch>
        </p:blipFill>
        <p:spPr>
          <a:xfrm>
            <a:off x="548640" y="914400"/>
            <a:ext cx="8046720" cy="380066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19</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Rp270.000</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Yang ditutup hanya selimut tabung: L = π × d × t = 22/7 × 14 × 25 = 1.100 cm².</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8 hiasan = 8 × 1.100 = 8.800 cm².</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Lembar stiker = 8.800 : 300 ≈ 29,3 → dibulatkan ke atas 30 lembar.</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Biaya = 30 × 9.000 = Rp270.000.</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20  ·  Trigonometri</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Diketahui cos(α) = 3/5. Tentukan Benar atau Salah!</a:t>
            </a:r>
            <a:endParaRPr lang="en-US" sz="1800" dirty="0"/>
          </a:p>
          <a:p>
            <a:pPr indent="0" marL="0">
              <a:spcAft>
                <a:spcPts val="400"/>
              </a:spcAft>
              <a:buNone/>
            </a:pPr>
            <a:r>
              <a:rPr lang="en-US" sz="1800" b="1" dirty="0">
                <a:solidFill>
                  <a:srgbClr val="1E293B"/>
                </a:solidFill>
                <a:latin typeface="Calibri" pitchFamily="34" charset="0"/>
                <a:ea typeface="Calibri" pitchFamily="34" charset="-122"/>
                <a:cs typeface="Calibri" pitchFamily="34" charset="-120"/>
              </a:rPr>
              <a:t>Tentukan Benar atau Salah:</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1. sin(β) = √7/4</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2. cos(β) = √7/5</a:t>
            </a:r>
            <a:endParaRPr lang="en-US" sz="1800" dirty="0"/>
          </a:p>
          <a:p>
            <a:pPr indent="0" marL="0">
              <a:spcAft>
                <a:spcPts val="400"/>
              </a:spcAft>
              <a:buNone/>
            </a:pPr>
            <a:r>
              <a:rPr lang="en-US" sz="1800" dirty="0">
                <a:solidFill>
                  <a:srgbClr val="1E293B"/>
                </a:solidFill>
                <a:latin typeface="Calibri" pitchFamily="34" charset="0"/>
                <a:ea typeface="Calibri" pitchFamily="34" charset="-122"/>
                <a:cs typeface="Calibri" pitchFamily="34" charset="-120"/>
              </a:rPr>
              <a:t>3. tan(β) = 3√7/7</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20  ·  Gambar</a:t>
            </a:r>
            <a:endParaRPr lang="en-US" sz="2000" dirty="0"/>
          </a:p>
        </p:txBody>
      </p:sp>
      <p:pic>
        <p:nvPicPr>
          <p:cNvPr id="3" name="Image 0" descr="../assets/soal/p24.jpg">    </p:cNvPr>
          <p:cNvPicPr>
            <a:picLocks noChangeAspect="1"/>
          </p:cNvPicPr>
          <p:nvPr/>
        </p:nvPicPr>
        <p:blipFill>
          <a:blip r:embed="rId1"/>
          <a:stretch>
            <a:fillRect/>
          </a:stretch>
        </p:blipFill>
        <p:spPr>
          <a:xfrm>
            <a:off x="2517790" y="914400"/>
            <a:ext cx="4108420" cy="384048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20</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1=Salah, 2=Salah, 3=Benar</a:t>
            </a:r>
            <a:endParaRPr lang="en-US" sz="1500" dirty="0"/>
          </a:p>
        </p:txBody>
      </p:sp>
      <p:sp>
        <p:nvSpPr>
          <p:cNvPr id="5" name="Text 3"/>
          <p:cNvSpPr txBox="1"/>
          <p:nvPr/>
        </p:nvSpPr>
        <p:spPr>
          <a:xfrm>
            <a:off x="5486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kunci (sesuai foto)</a:t>
            </a:r>
            <a:endParaRPr lang="en-US" sz="1300" dirty="0"/>
          </a:p>
        </p:txBody>
      </p:sp>
      <p:sp>
        <p:nvSpPr>
          <p:cNvPr id="6" name="Text 4"/>
          <p:cNvSpPr txBox="1"/>
          <p:nvPr/>
        </p:nvSpPr>
        <p:spPr>
          <a:xfrm>
            <a:off x="5486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cos α = 3/5 (samping/miring) → AD = 3, AC = 5.</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BD = √(4² − 3²) = √7 cm.</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sin β = depan/miring = 3/4 → pernyataan 1 Salah.</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cos β = samping/miring = √7/4 (bukan √7/5) → Salah.</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tan β = 3/√7 × √7/√7 = 3√7/7 → Benar.</a:t>
            </a:r>
            <a:endParaRPr lang="en-US" sz="1200" dirty="0"/>
          </a:p>
        </p:txBody>
      </p:sp>
      <p:sp>
        <p:nvSpPr>
          <p:cNvPr id="7" name="Text 5"/>
          <p:cNvSpPr txBox="1"/>
          <p:nvPr/>
        </p:nvSpPr>
        <p:spPr>
          <a:xfrm>
            <a:off x="46634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Claude (dikoreksi/diperjelas)</a:t>
            </a:r>
            <a:endParaRPr lang="en-US" sz="1300" dirty="0"/>
          </a:p>
        </p:txBody>
      </p:sp>
      <p:sp>
        <p:nvSpPr>
          <p:cNvPr id="8" name="Text 6"/>
          <p:cNvSpPr txBox="1"/>
          <p:nvPr/>
        </p:nvSpPr>
        <p:spPr>
          <a:xfrm>
            <a:off x="46634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Pada segitiga ADC: cos α = AD/AC = 3/5, jadi AD = 3, AC = 5, lalu DC = √(5² − 3²) = 4 (sama dengan AB = 4, sesuai tanda garis sama).</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Pada segitiga ABD siku-siku di D: AB = 4, AD = 3 → BD = √7.</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sin β = 3/4 → Salah; cos β = √7/4 → Salah; tan β = 3/√7 = 3√7/7 → Benar.</a:t>
            </a:r>
            <a:endParaRPr lang="en-US" sz="1200" dirty="0"/>
          </a:p>
        </p:txBody>
      </p:sp>
      <p:sp>
        <p:nvSpPr>
          <p:cNvPr id="9" name="Text 7"/>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Kunci tidak menjelaskan asal AD = 3 dan AC = 5; versi Claude menurunkannya dari cos α = 3/5 dan tanda AB = DC = 4.</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21  ·  Diagram Garis</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Data banyak lulusan tahun 2017–2025 tiga sekolah (lihat grafik). Pernyataan mana yang tepat? (Pilih semua yang benar)</a:t>
            </a:r>
            <a:endParaRPr lang="en-US" sz="1400" dirty="0"/>
          </a:p>
          <a:p>
            <a:pPr indent="0" marL="0">
              <a:spcAft>
                <a:spcPts val="400"/>
              </a:spcAft>
              <a:buNone/>
            </a:pPr>
            <a:r>
              <a:rPr lang="en-US" sz="1400" i="1" dirty="0">
                <a:solidFill>
                  <a:srgbClr val="1E293B"/>
                </a:solidFill>
                <a:latin typeface="Calibri" pitchFamily="34" charset="0"/>
                <a:ea typeface="Calibri" pitchFamily="34" charset="-122"/>
                <a:cs typeface="Calibri" pitchFamily="34" charset="-120"/>
              </a:rPr>
              <a:t>(Pilih semua jawaban yang benar)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Banyak siswa SMA 1 Bintang yang lulus selalu bertambah mulai tahun 2020.</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Pada 2017–2020, lulusan ketiga sekolah selalu bertambah.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Lulusan SMK Kejora konsisten naik selama lima tahun terakhir.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Lulusan SMA 2 Bintang tetap sama selama tiga tahun terakhir.</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Lulusan ketiga sekolah di 2023 menurun dibanding tahun sebelumnya.</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21  ·  Gambar</a:t>
            </a:r>
            <a:endParaRPr lang="en-US" sz="2000" dirty="0"/>
          </a:p>
        </p:txBody>
      </p:sp>
      <p:pic>
        <p:nvPicPr>
          <p:cNvPr id="3" name="Image 0" descr="../assets/soal/p25.jpg">    </p:cNvPr>
          <p:cNvPicPr>
            <a:picLocks noChangeAspect="1"/>
          </p:cNvPicPr>
          <p:nvPr/>
        </p:nvPicPr>
        <p:blipFill>
          <a:blip r:embed="rId1"/>
          <a:stretch>
            <a:fillRect/>
          </a:stretch>
        </p:blipFill>
        <p:spPr>
          <a:xfrm>
            <a:off x="2832079" y="914400"/>
            <a:ext cx="3479842" cy="384048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21</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B45309"/>
                </a:solidFill>
                <a:latin typeface="Calibri" pitchFamily="34" charset="0"/>
                <a:ea typeface="Calibri" pitchFamily="34" charset="-122"/>
                <a:cs typeface="Calibri" pitchFamily="34" charset="-120"/>
              </a:rPr>
              <a:t>Buatan AI (kunci foto belum ada)</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200" b="1" dirty="0">
                <a:solidFill>
                  <a:srgbClr val="059669"/>
                </a:solidFill>
                <a:latin typeface="Calibri" pitchFamily="34" charset="0"/>
                <a:ea typeface="Calibri" pitchFamily="34" charset="-122"/>
                <a:cs typeface="Calibri" pitchFamily="34" charset="-120"/>
              </a:rPr>
              <a:t>Jawaban: a. Banyak siswa SMA 1 Bintang yang lulus selalu bertambah mulai tahun 2020.  |  d. Lulusan SMA 2 Bintang tetap sama selama tiga tahun terakhir.</a:t>
            </a:r>
            <a:endParaRPr lang="en-US" sz="1200" dirty="0"/>
          </a:p>
        </p:txBody>
      </p:sp>
      <p:sp>
        <p:nvSpPr>
          <p:cNvPr id="5" name="Text 3"/>
          <p:cNvSpPr txBox="1"/>
          <p:nvPr/>
        </p:nvSpPr>
        <p:spPr>
          <a:xfrm>
            <a:off x="548640" y="1463040"/>
            <a:ext cx="8046720" cy="274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SMA 1 Bintang: 301 (2020) → 308 → 310 → 315 → 350 → 360, selalu naik →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2017–2020: SMA 1 Bintang turun dari 310 ke 301 (2019→2020) → Salah.</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SMK Kejora: 2022 = 325 turun ke 2023 = 320 → tidak konsisten naik → Salah.</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SMA 2 Bintang: 2023, 2024, 2025 sama-sama 300 →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2023: SMA 1 Bintang naik (310 → 315) → Salah.</a:t>
            </a:r>
            <a:endParaRPr lang="en-US" sz="1400" dirty="0"/>
          </a:p>
        </p:txBody>
      </p:sp>
      <p:sp>
        <p:nvSpPr>
          <p:cNvPr id="6" name="Text 4"/>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Nilai dibaca dari grafik (perkiraan).</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22  ·  Aturan Pencacahan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Ada 5 stan pedagang berbeda. Stan pedagang C ingin berada di antara pedagang A dan pedagang D. Banyak kemungkinan susunan stan adalah ....</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6 susunan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12 susunan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120 susunan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240 susunan</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720 susunan</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22</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b. 12 susunan</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Daftar kemungkinan: ACDBE, ACDEB, BEACD, EBACD, DCABE, DCAEB, BEDCA, EBDCA, BDCAE, EDCAB, BACDE, EACDB.</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Ada 12 susunan.</a:t>
            </a:r>
            <a:endParaRPr lang="en-US" sz="1600" dirty="0"/>
          </a:p>
          <a:p>
            <a:pPr marL="342900" indent="-342900">
              <a:spcAft>
                <a:spcPts val="500"/>
              </a:spcAft>
              <a:buSzPct val="100000"/>
              <a:buFont typeface="+mj-lt"/>
              <a:buAutoNum type="arabicPeriod" startAt="1"/>
            </a:pPr>
            <a:r>
              <a:rPr lang="en-US" sz="1600" dirty="0">
                <a:solidFill>
                  <a:srgbClr val="1E293B"/>
                </a:solidFill>
                <a:latin typeface="Calibri" pitchFamily="34" charset="0"/>
                <a:ea typeface="Calibri" pitchFamily="34" charset="-122"/>
                <a:cs typeface="Calibri" pitchFamily="34" charset="-120"/>
              </a:rPr>
              <a:t>Atau: blok (A,C,D) dengan C di tengah = 2 urutan; blok + B + E = 3! → 3! × 2! = 6 × 2 = 12.</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23  ·  Ukuran Pemusatan</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Pengunjung perpustakaan minggu ke-1: Senin 4, Selasa p, Rabu 5, Kamis r, Jumat 6. Rata-rata 6 orang; setiap hari minimal 2 dan tidak lebih dari 10 pengunjung; median 6.</a:t>
            </a:r>
            <a:endParaRPr lang="en-US" sz="1400" dirty="0"/>
          </a:p>
          <a:p>
            <a:pPr indent="0" marL="0">
              <a:spcAft>
                <a:spcPts val="400"/>
              </a:spcAft>
              <a:buNone/>
            </a:pPr>
            <a:r>
              <a:rPr lang="en-US" sz="1400" b="1" dirty="0">
                <a:solidFill>
                  <a:srgbClr val="1E293B"/>
                </a:solidFill>
                <a:latin typeface="Calibri" pitchFamily="34" charset="0"/>
                <a:ea typeface="Calibri" pitchFamily="34" charset="-122"/>
                <a:cs typeface="Calibri" pitchFamily="34" charset="-120"/>
              </a:rPr>
              <a:t>Tentukan Benar atau Salah:</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1. Banyak pengunjung hari Selasa pasti selalu lebih banyak dibandingkan hari lain.</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2. Banyak pengunjung hari Kamis pasti lebih dari 5 orang.</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3. Banyak pengunjung hari Jumat dan Kamis mungkin saja sama.</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23</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1=Salah, 2=Benar, 3=Benar</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Rata-rata: (4 + p + 5 + r + 6)/5 = 6 → 15 + p + r = 30 → p + r = 15.</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Kemungkinan (p, r): (6,9), (9,6), (7,8), (8,7). Pasangan (10,5) dan (5,10) tidak dipakai karena mediannya 5.</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Selasa tidak selalu terbanyak (mis. p = 6, r = 9) → Salah.</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r selalu ≥ 6, jadi lebih dari 5 → Benar.</a:t>
            </a:r>
            <a:endParaRPr lang="en-US" sz="1400" dirty="0"/>
          </a:p>
          <a:p>
            <a:pPr marL="342900" indent="-342900">
              <a:spcAft>
                <a:spcPts val="500"/>
              </a:spcAft>
              <a:buSzPct val="100000"/>
              <a:buFont typeface="+mj-lt"/>
              <a:buAutoNum type="arabicPeriod" startAt="1"/>
            </a:pPr>
            <a:r>
              <a:rPr lang="en-US" sz="1400" dirty="0">
                <a:solidFill>
                  <a:srgbClr val="1E293B"/>
                </a:solidFill>
                <a:latin typeface="Calibri" pitchFamily="34" charset="0"/>
                <a:ea typeface="Calibri" pitchFamily="34" charset="-122"/>
                <a:cs typeface="Calibri" pitchFamily="34" charset="-120"/>
              </a:rPr>
              <a:t>r = 6 (saat p = 9) sama dengan Jumat → Benar.</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24  ·  Peluang</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600" dirty="0">
                <a:solidFill>
                  <a:srgbClr val="1E293B"/>
                </a:solidFill>
                <a:latin typeface="Calibri" pitchFamily="34" charset="0"/>
                <a:ea typeface="Calibri" pitchFamily="34" charset="-122"/>
                <a:cs typeface="Calibri" pitchFamily="34" charset="-120"/>
              </a:rPr>
              <a:t>Kotak undian berisi 60 angpao: 15 kupon Rp25.000, 12 kupon Rp50.000, 10 set sendok-garpu, 8 pemanas air, sisanya kosong. Berapa peluang Rini mengambil angpao kosong?</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a. 1/15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b. 1/5</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c. 1/4</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d. 1/3</a:t>
            </a:r>
            <a:endParaRPr lang="en-US" sz="1600" dirty="0"/>
          </a:p>
          <a:p>
            <a:pPr indent="0" marL="0">
              <a:spcAft>
                <a:spcPts val="400"/>
              </a:spcAft>
              <a:buNone/>
            </a:pPr>
            <a:r>
              <a:rPr lang="en-US" sz="1600" dirty="0">
                <a:solidFill>
                  <a:srgbClr val="1E293B"/>
                </a:solidFill>
                <a:latin typeface="Calibri" pitchFamily="34" charset="0"/>
                <a:ea typeface="Calibri" pitchFamily="34" charset="-122"/>
                <a:cs typeface="Calibri" pitchFamily="34" charset="-120"/>
              </a:rPr>
              <a:t>e. 5/11</a:t>
            </a:r>
            <a:endParaRPr lang="en-US" sz="1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24</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c. 1/4</a:t>
            </a:r>
            <a:endParaRPr lang="en-US" sz="1500" dirty="0"/>
          </a:p>
        </p:txBody>
      </p:sp>
      <p:sp>
        <p:nvSpPr>
          <p:cNvPr id="5" name="Text 3"/>
          <p:cNvSpPr txBox="1"/>
          <p:nvPr/>
        </p:nvSpPr>
        <p:spPr>
          <a:xfrm>
            <a:off x="548640" y="1463040"/>
            <a:ext cx="8046720" cy="32918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Angpao kosong = 60 − 15 − 12 − 10 − 8 = 15.</a:t>
            </a:r>
            <a:endParaRPr lang="en-US" sz="1800" dirty="0"/>
          </a:p>
          <a:p>
            <a:pPr marL="342900" indent="-342900">
              <a:spcAft>
                <a:spcPts val="500"/>
              </a:spcAft>
              <a:buSzPct val="100000"/>
              <a:buFont typeface="+mj-lt"/>
              <a:buAutoNum type="arabicPeriod" startAt="1"/>
            </a:pPr>
            <a:r>
              <a:rPr lang="en-US" sz="1800" dirty="0">
                <a:solidFill>
                  <a:srgbClr val="1E293B"/>
                </a:solidFill>
                <a:latin typeface="Calibri" pitchFamily="34" charset="0"/>
                <a:ea typeface="Calibri" pitchFamily="34" charset="-122"/>
                <a:cs typeface="Calibri" pitchFamily="34" charset="-120"/>
              </a:rPr>
              <a:t>Peluang = 15/60 = 1/4.</a:t>
            </a:r>
            <a:endParaRPr 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25  ·  Peluang Majemuk</a:t>
            </a:r>
            <a:endParaRPr lang="en-US" sz="2000" dirty="0"/>
          </a:p>
        </p:txBody>
      </p:sp>
      <p:sp>
        <p:nvSpPr>
          <p:cNvPr id="3" name="Text 1"/>
          <p:cNvSpPr txBox="1"/>
          <p:nvPr/>
        </p:nvSpPr>
        <p:spPr>
          <a:xfrm>
            <a:off x="548640" y="914400"/>
            <a:ext cx="8046720" cy="3749040"/>
          </a:xfrm>
          <a:prstGeom prst="rect">
            <a:avLst/>
          </a:prstGeom>
          <a:noFill/>
          <a:ln/>
        </p:spPr>
        <p:txBody>
          <a:bodyPr wrap="square" lIns="0" tIns="0" rIns="0" bIns="0" rtlCol="0" anchor="t"/>
          <a:lstStyle/>
          <a:p>
            <a:pPr indent="0" marL="0">
              <a:spcAft>
                <a:spcPts val="800"/>
              </a:spcAft>
              <a:buNone/>
            </a:pPr>
            <a:r>
              <a:rPr lang="en-US" sz="1400" dirty="0">
                <a:solidFill>
                  <a:srgbClr val="1E293B"/>
                </a:solidFill>
                <a:latin typeface="Calibri" pitchFamily="34" charset="0"/>
                <a:ea typeface="Calibri" pitchFamily="34" charset="-122"/>
                <a:cs typeface="Calibri" pitchFamily="34" charset="-120"/>
              </a:rPr>
              <a:t>Kotak undian: 6 kertas Minuman Gratis, 4 kertas Makanan Gratis, 5 kertas kosong. Hanya kertas kosong yang dikembalikan. Ani orang kelima yang mengambil. Kertas apa saja yang mungkin sudah terambil sebelumnya sehingga peluang Ani dapat hadiah (minuman/makanan) = 2/3?</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a. 1 minuman gratis, 1 makanan gratis, dan 2 kertas kosong.</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b. 2 makanan gratis dan 2 minuman gratis.</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c. 2 minuman gratis dan 2 kertas kosong.</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d. 4 kertas kosong.</a:t>
            </a:r>
            <a:endParaRPr lang="en-US" sz="1400" dirty="0"/>
          </a:p>
          <a:p>
            <a:pPr indent="0" marL="0">
              <a:spcAft>
                <a:spcPts val="400"/>
              </a:spcAft>
              <a:buNone/>
            </a:pPr>
            <a:r>
              <a:rPr lang="en-US" sz="1400" dirty="0">
                <a:solidFill>
                  <a:srgbClr val="1E293B"/>
                </a:solidFill>
                <a:latin typeface="Calibri" pitchFamily="34" charset="0"/>
                <a:ea typeface="Calibri" pitchFamily="34" charset="-122"/>
                <a:cs typeface="Calibri" pitchFamily="34" charset="-120"/>
              </a:rPr>
              <a:t>e. 4 minuman gratis.</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Soal 25  ·  Gambar</a:t>
            </a:r>
            <a:endParaRPr lang="en-US" sz="2000" dirty="0"/>
          </a:p>
        </p:txBody>
      </p:sp>
      <p:pic>
        <p:nvPicPr>
          <p:cNvPr id="3" name="Image 0" descr="../assets/soal/p29.jpg">    </p:cNvPr>
          <p:cNvPicPr>
            <a:picLocks noChangeAspect="1"/>
          </p:cNvPicPr>
          <p:nvPr/>
        </p:nvPicPr>
        <p:blipFill>
          <a:blip r:embed="rId1"/>
          <a:stretch>
            <a:fillRect/>
          </a:stretch>
        </p:blipFill>
        <p:spPr>
          <a:xfrm>
            <a:off x="2630735" y="914400"/>
            <a:ext cx="3882529" cy="384048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274320"/>
            <a:ext cx="54864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Pembahasan Soal 25</a:t>
            </a:r>
            <a:endParaRPr lang="en-US" sz="2000" dirty="0"/>
          </a:p>
        </p:txBody>
      </p:sp>
      <p:sp>
        <p:nvSpPr>
          <p:cNvPr id="3" name="Text 1"/>
          <p:cNvSpPr txBox="1"/>
          <p:nvPr/>
        </p:nvSpPr>
        <p:spPr>
          <a:xfrm>
            <a:off x="5852160" y="274320"/>
            <a:ext cx="2743200" cy="36576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Sesuai kunci foto</a:t>
            </a:r>
            <a:endParaRPr lang="en-US" sz="1200" dirty="0"/>
          </a:p>
        </p:txBody>
      </p:sp>
      <p:sp>
        <p:nvSpPr>
          <p:cNvPr id="4" name="Text 2"/>
          <p:cNvSpPr txBox="1"/>
          <p:nvPr/>
        </p:nvSpPr>
        <p:spPr>
          <a:xfrm>
            <a:off x="548640" y="868680"/>
            <a:ext cx="8046720" cy="502920"/>
          </a:xfrm>
          <a:prstGeom prst="rect">
            <a:avLst/>
          </a:prstGeom>
          <a:noFill/>
          <a:ln/>
        </p:spPr>
        <p:txBody>
          <a:bodyPr wrap="square" lIns="0" tIns="0" rIns="0" bIns="0" rtlCol="0" anchor="t"/>
          <a:lstStyle/>
          <a:p>
            <a:pPr indent="0" marL="0">
              <a:buNone/>
            </a:pPr>
            <a:r>
              <a:rPr lang="en-US" sz="1500" b="1" dirty="0">
                <a:solidFill>
                  <a:srgbClr val="059669"/>
                </a:solidFill>
                <a:latin typeface="Calibri" pitchFamily="34" charset="0"/>
                <a:ea typeface="Calibri" pitchFamily="34" charset="-122"/>
                <a:cs typeface="Calibri" pitchFamily="34" charset="-120"/>
              </a:rPr>
              <a:t>Jawaban: d. 4 kertas kosong.</a:t>
            </a:r>
            <a:endParaRPr lang="en-US" sz="1500" dirty="0"/>
          </a:p>
        </p:txBody>
      </p:sp>
      <p:sp>
        <p:nvSpPr>
          <p:cNvPr id="5" name="Text 3"/>
          <p:cNvSpPr txBox="1"/>
          <p:nvPr/>
        </p:nvSpPr>
        <p:spPr>
          <a:xfrm>
            <a:off x="5486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kunci (sesuai foto)</a:t>
            </a:r>
            <a:endParaRPr lang="en-US" sz="1300" dirty="0"/>
          </a:p>
        </p:txBody>
      </p:sp>
      <p:sp>
        <p:nvSpPr>
          <p:cNvPr id="6" name="Text 4"/>
          <p:cNvSpPr txBox="1"/>
          <p:nvPr/>
        </p:nvSpPr>
        <p:spPr>
          <a:xfrm>
            <a:off x="5486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Kertas kosong dikembalikan, jadi jumlah kosong tetap 5.</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Cek a: (5+3)/(5+3+5) = 8/13 ≠ 2/3. Cek b: (4+2)/(4+2+5) = 6/11 ≠ 2/3. Cek c: (4+4)/(4+4+5) = 8/13 ≠ 2/3.</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Cek d: 4 kosong → semua kembali: (6+4)/(6+4+5) = 10/15 = 2/3 ✓.</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Kotak kelima di kunci berlabel "Cek jawaban d" (kembar), padahal hasilnya 6/11 ≠ 2/3.</a:t>
            </a:r>
            <a:endParaRPr lang="en-US" sz="1200" dirty="0"/>
          </a:p>
        </p:txBody>
      </p:sp>
      <p:sp>
        <p:nvSpPr>
          <p:cNvPr id="7" name="Text 5"/>
          <p:cNvSpPr txBox="1"/>
          <p:nvPr/>
        </p:nvSpPr>
        <p:spPr>
          <a:xfrm>
            <a:off x="4663440" y="1417320"/>
            <a:ext cx="393192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Versi Claude (dikoreksi/diperjelas)</a:t>
            </a:r>
            <a:endParaRPr lang="en-US" sz="1300" dirty="0"/>
          </a:p>
        </p:txBody>
      </p:sp>
      <p:sp>
        <p:nvSpPr>
          <p:cNvPr id="8" name="Text 6"/>
          <p:cNvSpPr txBox="1"/>
          <p:nvPr/>
        </p:nvSpPr>
        <p:spPr>
          <a:xfrm>
            <a:off x="4663440" y="1737360"/>
            <a:ext cx="39319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Yang terambil hanya kertas kosong akan dikembalikan → total kertas tetap 15 → peluang hadiah = 10/15 = 2/3 ✓ (opsi d).</a:t>
            </a:r>
            <a:endParaRPr lang="en-US" sz="1200" dirty="0"/>
          </a:p>
          <a:p>
            <a:pPr marL="342900" indent="-342900">
              <a:spcAft>
                <a:spcPts val="500"/>
              </a:spcAft>
              <a:buSzPct val="100000"/>
              <a:buFont typeface="+mj-lt"/>
              <a:buAutoNum type="arabicPeriod" startAt="1"/>
            </a:pPr>
            <a:r>
              <a:rPr lang="en-US" sz="1200" dirty="0">
                <a:solidFill>
                  <a:srgbClr val="1E293B"/>
                </a:solidFill>
                <a:latin typeface="Calibri" pitchFamily="34" charset="0"/>
                <a:ea typeface="Calibri" pitchFamily="34" charset="-122"/>
                <a:cs typeface="Calibri" pitchFamily="34" charset="-120"/>
              </a:rPr>
              <a:t>Opsi e (4 minuman): minuman 6 − 4 = 2 → (2 + 4)/(2 + 4 + 5) = 6/11 ≠ 2/3 ✗.</a:t>
            </a:r>
            <a:endParaRPr lang="en-US" sz="1200" dirty="0"/>
          </a:p>
        </p:txBody>
      </p:sp>
      <p:sp>
        <p:nvSpPr>
          <p:cNvPr id="9" name="Text 7"/>
          <p:cNvSpPr txBox="1"/>
          <p:nvPr/>
        </p:nvSpPr>
        <p:spPr>
          <a:xfrm>
            <a:off x="548640" y="4297680"/>
            <a:ext cx="8046720" cy="548640"/>
          </a:xfrm>
          <a:prstGeom prst="rect">
            <a:avLst/>
          </a:prstGeom>
          <a:noFill/>
          <a:ln/>
        </p:spPr>
        <p:txBody>
          <a:bodyPr wrap="square" lIns="0" tIns="0" rIns="0" bIns="0" rtlCol="0" anchor="t"/>
          <a:lstStyle/>
          <a:p>
            <a:pPr indent="0" marL="0">
              <a:buNone/>
            </a:pPr>
            <a:r>
              <a:rPr lang="en-US" sz="1100" i="1" dirty="0">
                <a:solidFill>
                  <a:srgbClr val="B45309"/>
                </a:solidFill>
                <a:latin typeface="Calibri" pitchFamily="34" charset="0"/>
                <a:ea typeface="Calibri" pitchFamily="34" charset="-122"/>
                <a:cs typeface="Calibri" pitchFamily="34" charset="-120"/>
              </a:rPr>
              <a:t>Kotak terakhir di foto kunci salah berlabel "Cek jawaban d"; seharusnya "Cek jawaban e".</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640080" y="1188720"/>
            <a:ext cx="7863840" cy="9144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Terima kasih</a:t>
            </a:r>
            <a:endParaRPr lang="en-US" sz="4000" dirty="0"/>
          </a:p>
        </p:txBody>
      </p:sp>
      <p:sp>
        <p:nvSpPr>
          <p:cNvPr id="3" name="Text 1"/>
          <p:cNvSpPr txBox="1"/>
          <p:nvPr/>
        </p:nvSpPr>
        <p:spPr>
          <a:xfrm>
            <a:off x="640080" y="2377440"/>
            <a:ext cx="7863840" cy="640080"/>
          </a:xfrm>
          <a:prstGeom prst="rect">
            <a:avLst/>
          </a:prstGeom>
          <a:noFill/>
          <a:ln/>
        </p:spPr>
        <p:txBody>
          <a:bodyPr wrap="square" rtlCol="0" anchor="ctr"/>
          <a:lstStyle/>
          <a:p>
            <a:pPr algn="ctr" indent="0" marL="0">
              <a:buNone/>
            </a:pPr>
            <a:r>
              <a:rPr lang="en-US" sz="2200" dirty="0">
                <a:solidFill>
                  <a:srgbClr val="C7D2FE"/>
                </a:solidFill>
                <a:latin typeface="Calibri" pitchFamily="34" charset="0"/>
                <a:ea typeface="Calibri" pitchFamily="34" charset="-122"/>
                <a:cs typeface="Calibri" pitchFamily="34" charset="-120"/>
              </a:rPr>
              <a:t>Wassalamu'alaikum Warahmatullahi Wabarakatuh</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Pemaparan, Tips dan Trik Penyelesaian Soal - Soal TKA</dc:title>
  <dc:subject>PptxGenJS Presentation</dc:subject>
  <dc:creator>PptxGenJS</dc:creator>
  <cp:lastModifiedBy>PptxGenJS</cp:lastModifiedBy>
  <cp:revision>1</cp:revision>
  <dcterms:created xsi:type="dcterms:W3CDTF">2026-09-29T09:11:49Z</dcterms:created>
  <dcterms:modified xsi:type="dcterms:W3CDTF">2026-09-29T09:11:49Z</dcterms:modified>
</cp:coreProperties>
</file>